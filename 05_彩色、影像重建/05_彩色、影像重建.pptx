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384" r:id="rId3"/>
    <p:sldId id="268" r:id="rId4"/>
    <p:sldId id="269" r:id="rId5"/>
    <p:sldId id="257" r:id="rId6"/>
    <p:sldId id="291" r:id="rId7"/>
    <p:sldId id="385" r:id="rId8"/>
    <p:sldId id="388" r:id="rId9"/>
    <p:sldId id="386" r:id="rId10"/>
    <p:sldId id="393" r:id="rId11"/>
    <p:sldId id="301" r:id="rId12"/>
    <p:sldId id="389" r:id="rId13"/>
    <p:sldId id="390" r:id="rId14"/>
    <p:sldId id="391" r:id="rId15"/>
    <p:sldId id="392" r:id="rId16"/>
    <p:sldId id="322" r:id="rId17"/>
    <p:sldId id="323" r:id="rId18"/>
    <p:sldId id="324" r:id="rId19"/>
    <p:sldId id="287" r:id="rId20"/>
    <p:sldId id="325" r:id="rId21"/>
    <p:sldId id="259" r:id="rId22"/>
    <p:sldId id="260" r:id="rId23"/>
    <p:sldId id="326" r:id="rId24"/>
    <p:sldId id="327" r:id="rId25"/>
    <p:sldId id="328" r:id="rId26"/>
    <p:sldId id="264" r:id="rId27"/>
    <p:sldId id="329" r:id="rId28"/>
    <p:sldId id="330" r:id="rId29"/>
    <p:sldId id="332" r:id="rId30"/>
    <p:sldId id="333" r:id="rId31"/>
    <p:sldId id="334" r:id="rId32"/>
    <p:sldId id="335" r:id="rId33"/>
    <p:sldId id="273" r:id="rId34"/>
    <p:sldId id="356" r:id="rId35"/>
    <p:sldId id="337" r:id="rId36"/>
    <p:sldId id="338" r:id="rId37"/>
    <p:sldId id="339" r:id="rId38"/>
    <p:sldId id="340" r:id="rId39"/>
    <p:sldId id="341" r:id="rId40"/>
    <p:sldId id="343" r:id="rId41"/>
    <p:sldId id="342" r:id="rId42"/>
    <p:sldId id="346" r:id="rId43"/>
    <p:sldId id="345" r:id="rId44"/>
    <p:sldId id="347" r:id="rId45"/>
    <p:sldId id="348" r:id="rId46"/>
    <p:sldId id="350" r:id="rId47"/>
    <p:sldId id="353" r:id="rId48"/>
    <p:sldId id="352" r:id="rId49"/>
    <p:sldId id="354" r:id="rId50"/>
    <p:sldId id="355" r:id="rId51"/>
    <p:sldId id="314" r:id="rId5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F7E1"/>
    <a:srgbClr val="FDE3E4"/>
    <a:srgbClr val="ED3338"/>
    <a:srgbClr val="FFDDFF"/>
    <a:srgbClr val="F9EBF7"/>
    <a:srgbClr val="C7FFF8"/>
    <a:srgbClr val="00A85A"/>
    <a:srgbClr val="DDF4FF"/>
    <a:srgbClr val="EC2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C43F2-CDBB-4062-ACC4-E79B5169A523}" v="24" dt="2025-12-03T05:03:36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custSel addSld modSld">
      <pc:chgData name="蕭兆翔" userId="c09afb0b-60c9-45d8-81f2-4d7aa859f4bf" providerId="ADAL" clId="{6F9FAB1B-BF87-4C86-8CBB-A04DB701A215}" dt="2025-12-10T04:47:58.935" v="362" actId="207"/>
      <pc:docMkLst>
        <pc:docMk/>
      </pc:docMkLst>
      <pc:sldChg chg="modSp mod">
        <pc:chgData name="蕭兆翔" userId="c09afb0b-60c9-45d8-81f2-4d7aa859f4bf" providerId="ADAL" clId="{6F9FAB1B-BF87-4C86-8CBB-A04DB701A215}" dt="2025-12-02T04:37:06.769" v="136" actId="20577"/>
        <pc:sldMkLst>
          <pc:docMk/>
          <pc:sldMk cId="1343009528" sldId="256"/>
        </pc:sldMkLst>
        <pc:spChg chg="mod">
          <ac:chgData name="蕭兆翔" userId="c09afb0b-60c9-45d8-81f2-4d7aa859f4bf" providerId="ADAL" clId="{6F9FAB1B-BF87-4C86-8CBB-A04DB701A215}" dt="2025-12-02T04:37:06.769" v="136" actId="20577"/>
          <ac:spMkLst>
            <pc:docMk/>
            <pc:sldMk cId="1343009528" sldId="256"/>
            <ac:spMk id="5" creationId="{F5AE22FC-AF5D-80D6-CC9F-1199F201F39A}"/>
          </ac:spMkLst>
        </pc:spChg>
        <pc:spChg chg="mod">
          <ac:chgData name="蕭兆翔" userId="c09afb0b-60c9-45d8-81f2-4d7aa859f4bf" providerId="ADAL" clId="{6F9FAB1B-BF87-4C86-8CBB-A04DB701A215}" dt="2025-12-02T04:37:00.765" v="120" actId="20577"/>
          <ac:spMkLst>
            <pc:docMk/>
            <pc:sldMk cId="1343009528" sldId="256"/>
            <ac:spMk id="9" creationId="{B49B9DE3-2C0C-4512-514F-D92557F4E5E7}"/>
          </ac:spMkLst>
        </pc:spChg>
      </pc:sldChg>
      <pc:sldChg chg="modSp mod">
        <pc:chgData name="蕭兆翔" userId="c09afb0b-60c9-45d8-81f2-4d7aa859f4bf" providerId="ADAL" clId="{6F9FAB1B-BF87-4C86-8CBB-A04DB701A215}" dt="2025-12-10T04:47:58.935" v="362" actId="207"/>
        <pc:sldMkLst>
          <pc:docMk/>
          <pc:sldMk cId="1685594156" sldId="259"/>
        </pc:sldMkLst>
        <pc:spChg chg="mod">
          <ac:chgData name="蕭兆翔" userId="c09afb0b-60c9-45d8-81f2-4d7aa859f4bf" providerId="ADAL" clId="{6F9FAB1B-BF87-4C86-8CBB-A04DB701A215}" dt="2025-12-10T04:47:58.935" v="362" actId="207"/>
          <ac:spMkLst>
            <pc:docMk/>
            <pc:sldMk cId="1685594156" sldId="259"/>
            <ac:spMk id="4" creationId="{22807389-1BF1-EF1E-7EFE-66F81B96B185}"/>
          </ac:spMkLst>
        </pc:spChg>
      </pc:sldChg>
      <pc:sldChg chg="addSp delSp modSp mod">
        <pc:chgData name="蕭兆翔" userId="c09afb0b-60c9-45d8-81f2-4d7aa859f4bf" providerId="ADAL" clId="{6F9FAB1B-BF87-4C86-8CBB-A04DB701A215}" dt="2025-12-02T05:00:21.368" v="303" actId="14100"/>
        <pc:sldMkLst>
          <pc:docMk/>
          <pc:sldMk cId="1858062111" sldId="301"/>
        </pc:sldMkLst>
        <pc:spChg chg="add mod">
          <ac:chgData name="蕭兆翔" userId="c09afb0b-60c9-45d8-81f2-4d7aa859f4bf" providerId="ADAL" clId="{6F9FAB1B-BF87-4C86-8CBB-A04DB701A215}" dt="2025-12-02T04:59:59.716" v="277" actId="1076"/>
          <ac:spMkLst>
            <pc:docMk/>
            <pc:sldMk cId="1858062111" sldId="301"/>
            <ac:spMk id="2" creationId="{E24531D8-CDCE-4C05-E61F-DDFE8C944F50}"/>
          </ac:spMkLst>
        </pc:spChg>
        <pc:spChg chg="mod">
          <ac:chgData name="蕭兆翔" userId="c09afb0b-60c9-45d8-81f2-4d7aa859f4bf" providerId="ADAL" clId="{6F9FAB1B-BF87-4C86-8CBB-A04DB701A215}" dt="2025-12-02T05:00:21.368" v="303" actId="14100"/>
          <ac:spMkLst>
            <pc:docMk/>
            <pc:sldMk cId="1858062111" sldId="301"/>
            <ac:spMk id="11" creationId="{C35652A8-12BC-C89C-13AC-C27D9C6D9170}"/>
          </ac:spMkLst>
        </pc:spChg>
      </pc:sldChg>
      <pc:sldChg chg="modSp mod">
        <pc:chgData name="蕭兆翔" userId="c09afb0b-60c9-45d8-81f2-4d7aa859f4bf" providerId="ADAL" clId="{6F9FAB1B-BF87-4C86-8CBB-A04DB701A215}" dt="2025-12-02T04:46:37.505" v="158" actId="12789"/>
        <pc:sldMkLst>
          <pc:docMk/>
          <pc:sldMk cId="1781944770" sldId="314"/>
        </pc:sldMkLst>
        <pc:spChg chg="mod">
          <ac:chgData name="蕭兆翔" userId="c09afb0b-60c9-45d8-81f2-4d7aa859f4bf" providerId="ADAL" clId="{6F9FAB1B-BF87-4C86-8CBB-A04DB701A215}" dt="2025-12-02T04:46:37.505" v="158" actId="12789"/>
          <ac:spMkLst>
            <pc:docMk/>
            <pc:sldMk cId="1781944770" sldId="314"/>
            <ac:spMk id="5" creationId="{9F572E20-9C6E-6C3E-651E-D793B6160F36}"/>
          </ac:spMkLst>
        </pc:spChg>
        <pc:spChg chg="mod">
          <ac:chgData name="蕭兆翔" userId="c09afb0b-60c9-45d8-81f2-4d7aa859f4bf" providerId="ADAL" clId="{6F9FAB1B-BF87-4C86-8CBB-A04DB701A215}" dt="2025-12-02T04:46:37.505" v="158" actId="12789"/>
          <ac:spMkLst>
            <pc:docMk/>
            <pc:sldMk cId="1781944770" sldId="314"/>
            <ac:spMk id="6" creationId="{8E194793-5476-901F-ED4C-DC40C9BFF87C}"/>
          </ac:spMkLst>
        </pc:spChg>
        <pc:spChg chg="mod">
          <ac:chgData name="蕭兆翔" userId="c09afb0b-60c9-45d8-81f2-4d7aa859f4bf" providerId="ADAL" clId="{6F9FAB1B-BF87-4C86-8CBB-A04DB701A215}" dt="2025-12-02T04:46:37.505" v="158" actId="12789"/>
          <ac:spMkLst>
            <pc:docMk/>
            <pc:sldMk cId="1781944770" sldId="314"/>
            <ac:spMk id="8" creationId="{26EE6429-A60A-6C02-A013-B845CD2CD788}"/>
          </ac:spMkLst>
        </pc:spChg>
        <pc:spChg chg="mod">
          <ac:chgData name="蕭兆翔" userId="c09afb0b-60c9-45d8-81f2-4d7aa859f4bf" providerId="ADAL" clId="{6F9FAB1B-BF87-4C86-8CBB-A04DB701A215}" dt="2025-12-02T04:45:54.575" v="149"/>
          <ac:spMkLst>
            <pc:docMk/>
            <pc:sldMk cId="1781944770" sldId="314"/>
            <ac:spMk id="9" creationId="{DFBE8479-2154-2D75-4F57-AB7ACEC35B50}"/>
          </ac:spMkLst>
        </pc:spChg>
        <pc:spChg chg="mod">
          <ac:chgData name="蕭兆翔" userId="c09afb0b-60c9-45d8-81f2-4d7aa859f4bf" providerId="ADAL" clId="{6F9FAB1B-BF87-4C86-8CBB-A04DB701A215}" dt="2025-12-02T04:46:12.985" v="153" actId="1076"/>
          <ac:spMkLst>
            <pc:docMk/>
            <pc:sldMk cId="1781944770" sldId="314"/>
            <ac:spMk id="10" creationId="{EAA1D073-21B1-038F-94FE-4672E18EC97C}"/>
          </ac:spMkLst>
        </pc:spChg>
        <pc:picChg chg="mod">
          <ac:chgData name="蕭兆翔" userId="c09afb0b-60c9-45d8-81f2-4d7aa859f4bf" providerId="ADAL" clId="{6F9FAB1B-BF87-4C86-8CBB-A04DB701A215}" dt="2025-12-02T04:46:29.736" v="156" actId="408"/>
          <ac:picMkLst>
            <pc:docMk/>
            <pc:sldMk cId="1781944770" sldId="314"/>
            <ac:picMk id="2" creationId="{00000000-0000-0000-0000-000000000000}"/>
          </ac:picMkLst>
        </pc:picChg>
        <pc:picChg chg="mod">
          <ac:chgData name="蕭兆翔" userId="c09afb0b-60c9-45d8-81f2-4d7aa859f4bf" providerId="ADAL" clId="{6F9FAB1B-BF87-4C86-8CBB-A04DB701A215}" dt="2025-12-02T04:46:29.736" v="156" actId="408"/>
          <ac:picMkLst>
            <pc:docMk/>
            <pc:sldMk cId="1781944770" sldId="314"/>
            <ac:picMk id="4" creationId="{CA8D1644-4DA1-7E77-DFA2-2D30323039B3}"/>
          </ac:picMkLst>
        </pc:picChg>
        <pc:picChg chg="mod">
          <ac:chgData name="蕭兆翔" userId="c09afb0b-60c9-45d8-81f2-4d7aa859f4bf" providerId="ADAL" clId="{6F9FAB1B-BF87-4C86-8CBB-A04DB701A215}" dt="2025-12-02T04:46:29.736" v="156" actId="408"/>
          <ac:picMkLst>
            <pc:docMk/>
            <pc:sldMk cId="1781944770" sldId="314"/>
            <ac:picMk id="7" creationId="{97BFD386-28A2-5288-96AF-697AFDDFFC91}"/>
          </ac:picMkLst>
        </pc:picChg>
      </pc:sldChg>
      <pc:sldChg chg="modSp mod">
        <pc:chgData name="蕭兆翔" userId="c09afb0b-60c9-45d8-81f2-4d7aa859f4bf" providerId="ADAL" clId="{6F9FAB1B-BF87-4C86-8CBB-A04DB701A215}" dt="2025-12-02T04:45:37.786" v="142" actId="20577"/>
        <pc:sldMkLst>
          <pc:docMk/>
          <pc:sldMk cId="829063449" sldId="350"/>
        </pc:sldMkLst>
        <pc:spChg chg="mod">
          <ac:chgData name="蕭兆翔" userId="c09afb0b-60c9-45d8-81f2-4d7aa859f4bf" providerId="ADAL" clId="{6F9FAB1B-BF87-4C86-8CBB-A04DB701A215}" dt="2025-12-02T04:45:37.786" v="142" actId="20577"/>
          <ac:spMkLst>
            <pc:docMk/>
            <pc:sldMk cId="829063449" sldId="350"/>
            <ac:spMk id="5" creationId="{E0B27A68-8040-2482-54D3-D85F273AEC10}"/>
          </ac:spMkLst>
        </pc:spChg>
      </pc:sldChg>
      <pc:sldChg chg="modSp">
        <pc:chgData name="蕭兆翔" userId="c09afb0b-60c9-45d8-81f2-4d7aa859f4bf" providerId="ADAL" clId="{6F9FAB1B-BF87-4C86-8CBB-A04DB701A215}" dt="2025-12-02T04:45:42.912" v="144"/>
        <pc:sldMkLst>
          <pc:docMk/>
          <pc:sldMk cId="172403905" sldId="352"/>
        </pc:sldMkLst>
        <pc:spChg chg="mod">
          <ac:chgData name="蕭兆翔" userId="c09afb0b-60c9-45d8-81f2-4d7aa859f4bf" providerId="ADAL" clId="{6F9FAB1B-BF87-4C86-8CBB-A04DB701A215}" dt="2025-12-02T04:45:42.912" v="144"/>
          <ac:spMkLst>
            <pc:docMk/>
            <pc:sldMk cId="172403905" sldId="352"/>
            <ac:spMk id="5" creationId="{B59A5CA5-EF34-B379-7E9C-72303750483D}"/>
          </ac:spMkLst>
        </pc:spChg>
      </pc:sldChg>
      <pc:sldChg chg="modSp">
        <pc:chgData name="蕭兆翔" userId="c09afb0b-60c9-45d8-81f2-4d7aa859f4bf" providerId="ADAL" clId="{6F9FAB1B-BF87-4C86-8CBB-A04DB701A215}" dt="2025-12-02T04:45:41.355" v="143"/>
        <pc:sldMkLst>
          <pc:docMk/>
          <pc:sldMk cId="2730371793" sldId="353"/>
        </pc:sldMkLst>
        <pc:spChg chg="mod">
          <ac:chgData name="蕭兆翔" userId="c09afb0b-60c9-45d8-81f2-4d7aa859f4bf" providerId="ADAL" clId="{6F9FAB1B-BF87-4C86-8CBB-A04DB701A215}" dt="2025-12-02T04:45:41.355" v="143"/>
          <ac:spMkLst>
            <pc:docMk/>
            <pc:sldMk cId="2730371793" sldId="353"/>
            <ac:spMk id="5" creationId="{792455AA-7280-B60B-C084-5FDA57810B2B}"/>
          </ac:spMkLst>
        </pc:spChg>
      </pc:sldChg>
      <pc:sldChg chg="modSp">
        <pc:chgData name="蕭兆翔" userId="c09afb0b-60c9-45d8-81f2-4d7aa859f4bf" providerId="ADAL" clId="{6F9FAB1B-BF87-4C86-8CBB-A04DB701A215}" dt="2025-12-02T04:45:45.164" v="145"/>
        <pc:sldMkLst>
          <pc:docMk/>
          <pc:sldMk cId="933998459" sldId="354"/>
        </pc:sldMkLst>
        <pc:spChg chg="mod">
          <ac:chgData name="蕭兆翔" userId="c09afb0b-60c9-45d8-81f2-4d7aa859f4bf" providerId="ADAL" clId="{6F9FAB1B-BF87-4C86-8CBB-A04DB701A215}" dt="2025-12-02T04:45:45.164" v="145"/>
          <ac:spMkLst>
            <pc:docMk/>
            <pc:sldMk cId="933998459" sldId="354"/>
            <ac:spMk id="5" creationId="{817EF4DB-1114-3A78-2BBC-4A4D7D288F85}"/>
          </ac:spMkLst>
        </pc:spChg>
      </pc:sldChg>
      <pc:sldChg chg="modSp mod">
        <pc:chgData name="蕭兆翔" userId="c09afb0b-60c9-45d8-81f2-4d7aa859f4bf" providerId="ADAL" clId="{6F9FAB1B-BF87-4C86-8CBB-A04DB701A215}" dt="2025-12-02T04:45:49.774" v="148" actId="20577"/>
        <pc:sldMkLst>
          <pc:docMk/>
          <pc:sldMk cId="3553910099" sldId="355"/>
        </pc:sldMkLst>
        <pc:spChg chg="mod">
          <ac:chgData name="蕭兆翔" userId="c09afb0b-60c9-45d8-81f2-4d7aa859f4bf" providerId="ADAL" clId="{6F9FAB1B-BF87-4C86-8CBB-A04DB701A215}" dt="2025-12-02T04:45:49.774" v="148" actId="20577"/>
          <ac:spMkLst>
            <pc:docMk/>
            <pc:sldMk cId="3553910099" sldId="355"/>
            <ac:spMk id="3" creationId="{589F2B96-C422-91D6-1C7C-DBD229EB7A00}"/>
          </ac:spMkLst>
        </pc:spChg>
      </pc:sldChg>
      <pc:sldChg chg="addSp delSp modSp mod">
        <pc:chgData name="蕭兆翔" userId="c09afb0b-60c9-45d8-81f2-4d7aa859f4bf" providerId="ADAL" clId="{6F9FAB1B-BF87-4C86-8CBB-A04DB701A215}" dt="2025-12-03T05:03:33.335" v="338" actId="1076"/>
        <pc:sldMkLst>
          <pc:docMk/>
          <pc:sldMk cId="3557900746" sldId="390"/>
        </pc:sldMkLst>
        <pc:spChg chg="add del mod">
          <ac:chgData name="蕭兆翔" userId="c09afb0b-60c9-45d8-81f2-4d7aa859f4bf" providerId="ADAL" clId="{6F9FAB1B-BF87-4C86-8CBB-A04DB701A215}" dt="2025-12-03T05:03:33.335" v="338" actId="1076"/>
          <ac:spMkLst>
            <pc:docMk/>
            <pc:sldMk cId="3557900746" sldId="390"/>
            <ac:spMk id="6" creationId="{3DAAAC3F-F3D3-DF73-B0B7-DFCD0ED4FCA4}"/>
          </ac:spMkLst>
        </pc:spChg>
      </pc:sldChg>
      <pc:sldChg chg="addSp modSp mod">
        <pc:chgData name="蕭兆翔" userId="c09afb0b-60c9-45d8-81f2-4d7aa859f4bf" providerId="ADAL" clId="{6F9FAB1B-BF87-4C86-8CBB-A04DB701A215}" dt="2025-12-03T05:03:42.194" v="360" actId="20577"/>
        <pc:sldMkLst>
          <pc:docMk/>
          <pc:sldMk cId="2605921587" sldId="391"/>
        </pc:sldMkLst>
        <pc:spChg chg="mod">
          <ac:chgData name="蕭兆翔" userId="c09afb0b-60c9-45d8-81f2-4d7aa859f4bf" providerId="ADAL" clId="{6F9FAB1B-BF87-4C86-8CBB-A04DB701A215}" dt="2025-12-03T05:03:42.194" v="360" actId="20577"/>
          <ac:spMkLst>
            <pc:docMk/>
            <pc:sldMk cId="2605921587" sldId="391"/>
            <ac:spMk id="4" creationId="{4E292224-1ED4-8847-BDC6-F011C7DDF37A}"/>
          </ac:spMkLst>
        </pc:spChg>
      </pc:sldChg>
      <pc:sldChg chg="addSp delSp modSp new mod">
        <pc:chgData name="蕭兆翔" userId="c09afb0b-60c9-45d8-81f2-4d7aa859f4bf" providerId="ADAL" clId="{6F9FAB1B-BF87-4C86-8CBB-A04DB701A215}" dt="2025-12-02T04:59:24.045" v="245" actId="1076"/>
        <pc:sldMkLst>
          <pc:docMk/>
          <pc:sldMk cId="803859305" sldId="393"/>
        </pc:sldMkLst>
        <pc:spChg chg="add mod">
          <ac:chgData name="蕭兆翔" userId="c09afb0b-60c9-45d8-81f2-4d7aa859f4bf" providerId="ADAL" clId="{6F9FAB1B-BF87-4C86-8CBB-A04DB701A215}" dt="2025-12-02T04:59:24.045" v="245" actId="1076"/>
          <ac:spMkLst>
            <pc:docMk/>
            <pc:sldMk cId="803859305" sldId="393"/>
            <ac:spMk id="6" creationId="{60DAED07-D6CD-D046-A53B-EF2DB6FFA234}"/>
          </ac:spMkLst>
        </pc:spChg>
        <pc:spChg chg="add mod">
          <ac:chgData name="蕭兆翔" userId="c09afb0b-60c9-45d8-81f2-4d7aa859f4bf" providerId="ADAL" clId="{6F9FAB1B-BF87-4C86-8CBB-A04DB701A215}" dt="2025-12-02T04:58:02.636" v="211" actId="20577"/>
          <ac:spMkLst>
            <pc:docMk/>
            <pc:sldMk cId="803859305" sldId="393"/>
            <ac:spMk id="7" creationId="{C5B3E80D-7497-AB8D-D4F6-14103A5223A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36B33-4DE9-4022-BEE1-6192BFC46742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B8B61-B51D-4C94-9A35-773C3DB3F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33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6E2B-AEC3-49F1-9CBF-597262DD39BA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F7E1-4D48-4FCA-9ED9-3B4D6941816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F891-FE42-4651-AE0B-0F9802DA0A7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33D4-4DCB-4455-AFAC-AA857A991815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6F8A-3F96-450A-86FC-EAADBAF01D5F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550A-0026-411C-AEA5-C83C81FACBEE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D3818-274F-4CE2-A016-A7B75289F58B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2956-285E-4EF3-A112-09CCAEB61FB2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499E-DEEB-4EC2-8E24-C22D7F2C3E98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CD33-D21D-4B83-96B0-E2B7C81413D9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8CE8-D71D-4030-ABCE-5233E61B00B8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3D7C9-F977-4654-ADC8-4E2424B0277D}" type="datetime1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48.png"/><Relationship Id="rId5" Type="http://schemas.openxmlformats.org/officeDocument/2006/relationships/image" Target="../media/image44.png"/><Relationship Id="rId10" Type="http://schemas.openxmlformats.org/officeDocument/2006/relationships/image" Target="../media/image51.png"/><Relationship Id="rId4" Type="http://schemas.openxmlformats.org/officeDocument/2006/relationships/image" Target="../media/image43.png"/><Relationship Id="rId9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jpeg"/><Relationship Id="rId4" Type="http://schemas.openxmlformats.org/officeDocument/2006/relationships/image" Target="../media/image99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95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01124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5_</a:t>
            </a: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影像重建、色彩</a:t>
            </a:r>
            <a:endParaRPr kumimoji="0" lang="en-US" altLang="zh-TW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DC2919-5408-D26A-E6D5-05C63DC6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35B9678-1048-B43E-7FF6-69AD5F50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08064B8-E3EA-A913-BFE4-B87EFB463F67}"/>
              </a:ext>
            </a:extLst>
          </p:cNvPr>
          <p:cNvSpPr txBox="1"/>
          <p:nvPr/>
        </p:nvSpPr>
        <p:spPr>
          <a:xfrm>
            <a:off x="637020" y="1235951"/>
            <a:ext cx="8735580" cy="329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en-US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退化模型分析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en-US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模糊核（運動模糊）。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en-US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基本逆運算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en-US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逆濾波（</a:t>
            </a:r>
            <a:r>
              <a:rPr lang="en-US" altLang="zh-TW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Inverse Filtering</a:t>
            </a:r>
            <a:r>
              <a:rPr lang="zh-TW" altLang="en-US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en-US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維納濾波（</a:t>
            </a:r>
            <a:r>
              <a:rPr lang="en-US" altLang="zh-TW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Wiener Filtering</a:t>
            </a:r>
            <a:r>
              <a:rPr lang="zh-TW" altLang="en-US" sz="32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38B0BC1-ABCC-201F-958A-5670B5034D2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影像重建大綱</a:t>
            </a:r>
          </a:p>
        </p:txBody>
      </p:sp>
    </p:spTree>
    <p:extLst>
      <p:ext uri="{BB962C8B-B14F-4D97-AF65-F5344CB8AC3E}">
        <p14:creationId xmlns:p14="http://schemas.microsoft.com/office/powerpoint/2010/main" val="272302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71717" y="2101715"/>
            <a:ext cx="5556158" cy="350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6CDD499-E769-99E6-2418-DA107F1A0B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75237" y="2091579"/>
            <a:ext cx="5284270" cy="357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092356C-10AD-3F80-54F7-D665476D3FED}"/>
              </a:ext>
            </a:extLst>
          </p:cNvPr>
          <p:cNvSpPr txBox="1"/>
          <p:nvPr/>
        </p:nvSpPr>
        <p:spPr>
          <a:xfrm>
            <a:off x="1367953" y="151600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高斯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38A0366-662A-FE0F-8DBC-D14D29FB6403}"/>
              </a:ext>
            </a:extLst>
          </p:cNvPr>
          <p:cNvSpPr txBox="1"/>
          <p:nvPr/>
        </p:nvSpPr>
        <p:spPr>
          <a:xfrm>
            <a:off x="3089271" y="151600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雷利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78A2297-8413-ED9B-A7D7-D58F093A1AED}"/>
              </a:ext>
            </a:extLst>
          </p:cNvPr>
          <p:cNvSpPr txBox="1"/>
          <p:nvPr/>
        </p:nvSpPr>
        <p:spPr>
          <a:xfrm>
            <a:off x="4643803" y="1516003"/>
            <a:ext cx="1300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Erlanga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735CEE-8C70-AEFB-9EF8-C250BED17028}"/>
              </a:ext>
            </a:extLst>
          </p:cNvPr>
          <p:cNvSpPr txBox="1"/>
          <p:nvPr/>
        </p:nvSpPr>
        <p:spPr>
          <a:xfrm>
            <a:off x="6647410" y="151600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14449DE-E53D-CAA0-0F65-C0B0B2D773D1}"/>
              </a:ext>
            </a:extLst>
          </p:cNvPr>
          <p:cNvSpPr txBox="1"/>
          <p:nvPr/>
        </p:nvSpPr>
        <p:spPr>
          <a:xfrm>
            <a:off x="8368728" y="151600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均勻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AEAA50A-787D-14BE-A3D6-CF788CFA9E62}"/>
              </a:ext>
            </a:extLst>
          </p:cNvPr>
          <p:cNvSpPr txBox="1"/>
          <p:nvPr/>
        </p:nvSpPr>
        <p:spPr>
          <a:xfrm>
            <a:off x="10099671" y="151600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椒鹽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76B6AF-7304-7B82-A2EE-94A622C8C411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加入不同雜訊的直方圖</a:t>
            </a:r>
          </a:p>
        </p:txBody>
      </p:sp>
    </p:spTree>
    <p:extLst>
      <p:ext uri="{BB962C8B-B14F-4D97-AF65-F5344CB8AC3E}">
        <p14:creationId xmlns:p14="http://schemas.microsoft.com/office/powerpoint/2010/main" val="237245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3736" y="1815773"/>
            <a:ext cx="11375978" cy="4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6504409-D354-446D-66F0-DA5F1065CC4E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受週期性波的污染影像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F5FE7F0-0463-62C4-2986-ED7B3351EA35}"/>
              </a:ext>
            </a:extLst>
          </p:cNvPr>
          <p:cNvSpPr txBox="1"/>
          <p:nvPr/>
        </p:nvSpPr>
        <p:spPr>
          <a:xfrm>
            <a:off x="1810327" y="1459346"/>
            <a:ext cx="2937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原始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NASA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拍攝到的畫面</a:t>
            </a:r>
          </a:p>
        </p:txBody>
      </p:sp>
    </p:spTree>
    <p:extLst>
      <p:ext uri="{BB962C8B-B14F-4D97-AF65-F5344CB8AC3E}">
        <p14:creationId xmlns:p14="http://schemas.microsoft.com/office/powerpoint/2010/main" val="152714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05527" y="1438603"/>
            <a:ext cx="9370344" cy="2717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4" y="4701378"/>
            <a:ext cx="8746069" cy="156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C644909-AEFA-CF90-8943-0E351CE655C9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影像退化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復原程序的模型</a:t>
            </a:r>
          </a:p>
        </p:txBody>
      </p:sp>
    </p:spTree>
    <p:extLst>
      <p:ext uri="{BB962C8B-B14F-4D97-AF65-F5344CB8AC3E}">
        <p14:creationId xmlns:p14="http://schemas.microsoft.com/office/powerpoint/2010/main" val="173044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2E3205E-5201-5D72-76CC-9EA16DFB7CC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退化模型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EADD330-EB6D-9097-1812-974CC23D8EAE}"/>
                  </a:ext>
                </a:extLst>
              </p:cNvPr>
              <p:cNvSpPr txBox="1"/>
              <p:nvPr/>
            </p:nvSpPr>
            <p:spPr>
              <a:xfrm>
                <a:off x="517236" y="2225093"/>
                <a:ext cx="5033819" cy="619657"/>
              </a:xfrm>
              <a:prstGeom prst="rect">
                <a:avLst/>
              </a:prstGeom>
              <a:solidFill>
                <a:srgbClr val="F9EBF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kern="100" smtClean="0"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2400" kern="100">
                          <a:effectLst/>
                          <a:latin typeface="Cambria Math" panose="02040503050406030204" pitchFamily="18" charset="0"/>
                        </a:rPr>
                        <m:t>η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EADD330-EB6D-9097-1812-974CC23D8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36" y="2225093"/>
                <a:ext cx="5033819" cy="619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97B7A8A-52CE-99BA-3742-7923FC21ECE5}"/>
                  </a:ext>
                </a:extLst>
              </p:cNvPr>
              <p:cNvSpPr txBox="1"/>
              <p:nvPr/>
            </p:nvSpPr>
            <p:spPr>
              <a:xfrm>
                <a:off x="535708" y="3255880"/>
                <a:ext cx="5037948" cy="2243115"/>
              </a:xfrm>
              <a:prstGeom prst="rect">
                <a:avLst/>
              </a:prstGeom>
              <a:solidFill>
                <a:srgbClr val="E7F7E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kern="100" smtClean="0">
                        <a:effectLst/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觀測到的退化影像。</a:t>
                </a:r>
                <a:endParaRPr lang="en-US" altLang="zh-TW" sz="2400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退化函數（如模糊核）。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kern="100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原始影像。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kern="100">
                        <a:latin typeface="Cambria Math" panose="02040503050406030204" pitchFamily="18" charset="0"/>
                      </a:rPr>
                      <m:t>η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雜訊。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97B7A8A-52CE-99BA-3742-7923FC21E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08" y="3255880"/>
                <a:ext cx="5037948" cy="2243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1569035-FBE0-E952-36C9-718D0D3D0856}"/>
                  </a:ext>
                </a:extLst>
              </p:cNvPr>
              <p:cNvSpPr txBox="1"/>
              <p:nvPr/>
            </p:nvSpPr>
            <p:spPr>
              <a:xfrm>
                <a:off x="6294581" y="2211239"/>
                <a:ext cx="5033819" cy="619657"/>
              </a:xfrm>
              <a:prstGeom prst="rect">
                <a:avLst/>
              </a:prstGeom>
              <a:solidFill>
                <a:srgbClr val="F9EBF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400" kern="1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1569035-FBE0-E952-36C9-718D0D3D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581" y="2211239"/>
                <a:ext cx="5033819" cy="6196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55A4341-A219-351C-BE36-C9334A65B752}"/>
                  </a:ext>
                </a:extLst>
              </p:cNvPr>
              <p:cNvSpPr txBox="1"/>
              <p:nvPr/>
            </p:nvSpPr>
            <p:spPr>
              <a:xfrm>
                <a:off x="6313053" y="3242026"/>
                <a:ext cx="5037948" cy="2243115"/>
              </a:xfrm>
              <a:prstGeom prst="rect">
                <a:avLst/>
              </a:prstGeom>
              <a:solidFill>
                <a:srgbClr val="E7F7E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kern="10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退化影像的頻譜。</a:t>
                </a:r>
                <a:endParaRPr lang="en-US" altLang="zh-TW" sz="2400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退化函數的頻譜。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kern="1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原始影像的頻譜。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kern="10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雜訊的頻譜。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55A4341-A219-351C-BE36-C9334A65B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053" y="3242026"/>
                <a:ext cx="5037948" cy="2243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29FC945F-7AD5-8734-DA1C-50D9EA889537}"/>
              </a:ext>
            </a:extLst>
          </p:cNvPr>
          <p:cNvSpPr txBox="1"/>
          <p:nvPr/>
        </p:nvSpPr>
        <p:spPr>
          <a:xfrm>
            <a:off x="2715491" y="176414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卷積</a:t>
            </a:r>
          </a:p>
        </p:txBody>
      </p:sp>
    </p:spTree>
    <p:extLst>
      <p:ext uri="{BB962C8B-B14F-4D97-AF65-F5344CB8AC3E}">
        <p14:creationId xmlns:p14="http://schemas.microsoft.com/office/powerpoint/2010/main" val="381583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E2B6-A515-EA4C-4E41-3A438178E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0726476-4677-0ACC-DFF3-6A20596F7216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運動模糊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558220E-7D28-4CF5-6B7F-1628D0ECE192}"/>
                  </a:ext>
                </a:extLst>
              </p:cNvPr>
              <p:cNvSpPr txBox="1"/>
              <p:nvPr/>
            </p:nvSpPr>
            <p:spPr>
              <a:xfrm>
                <a:off x="221673" y="2178912"/>
                <a:ext cx="5033819" cy="619657"/>
              </a:xfrm>
              <a:prstGeom prst="rect">
                <a:avLst/>
              </a:prstGeom>
              <a:solidFill>
                <a:srgbClr val="F9EBF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kern="100" smtClean="0"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2400" kern="100">
                          <a:effectLst/>
                          <a:latin typeface="Cambria Math" panose="02040503050406030204" pitchFamily="18" charset="0"/>
                        </a:rPr>
                        <m:t>η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558220E-7D28-4CF5-6B7F-1628D0ECE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73" y="2178912"/>
                <a:ext cx="5033819" cy="619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3CE3679-8D02-E72F-7E44-58C3C958F916}"/>
                  </a:ext>
                </a:extLst>
              </p:cNvPr>
              <p:cNvSpPr txBox="1"/>
              <p:nvPr/>
            </p:nvSpPr>
            <p:spPr>
              <a:xfrm>
                <a:off x="240145" y="3209699"/>
                <a:ext cx="5037948" cy="2243115"/>
              </a:xfrm>
              <a:prstGeom prst="rect">
                <a:avLst/>
              </a:prstGeom>
              <a:solidFill>
                <a:srgbClr val="E7F7E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kern="100" smtClean="0">
                        <a:effectLst/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觀測到的退化影像。</a:t>
                </a:r>
                <a:endParaRPr lang="en-US" altLang="zh-TW" sz="2400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退化函數（如模糊核）。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kern="100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原始影像。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kern="100">
                        <a:latin typeface="Cambria Math" panose="02040503050406030204" pitchFamily="18" charset="0"/>
                      </a:rPr>
                      <m:t>η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雜訊。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3CE3679-8D02-E72F-7E44-58C3C958F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45" y="3209699"/>
                <a:ext cx="5037948" cy="2243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41FAD7-9579-9DA1-4202-72652E20BB62}"/>
              </a:ext>
            </a:extLst>
          </p:cNvPr>
          <p:cNvSpPr txBox="1"/>
          <p:nvPr/>
        </p:nvSpPr>
        <p:spPr>
          <a:xfrm>
            <a:off x="2419928" y="17179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卷積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E5406586-C2CC-243D-2809-E06A6317BCE2}"/>
              </a:ext>
            </a:extLst>
          </p:cNvPr>
          <p:cNvGrpSpPr/>
          <p:nvPr/>
        </p:nvGrpSpPr>
        <p:grpSpPr>
          <a:xfrm>
            <a:off x="9356434" y="1477818"/>
            <a:ext cx="2435582" cy="2336799"/>
            <a:chOff x="6153570" y="2196732"/>
            <a:chExt cx="2897967" cy="2685631"/>
          </a:xfrm>
        </p:grpSpPr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DC632458-0E2D-8832-34C9-2C873F298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69" b="2066"/>
            <a:stretch/>
          </p:blipFill>
          <p:spPr>
            <a:xfrm>
              <a:off x="6153570" y="2196732"/>
              <a:ext cx="2897967" cy="2685631"/>
            </a:xfrm>
            <a:prstGeom prst="rect">
              <a:avLst/>
            </a:prstGeom>
          </p:spPr>
        </p:pic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A3B3A63-D6DD-B274-B0E0-B2DA3900C767}"/>
                </a:ext>
              </a:extLst>
            </p:cNvPr>
            <p:cNvSpPr txBox="1"/>
            <p:nvPr/>
          </p:nvSpPr>
          <p:spPr>
            <a:xfrm>
              <a:off x="6777231" y="4279207"/>
              <a:ext cx="2079842" cy="329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</a:pPr>
              <a:r>
                <a:rPr lang="en-US" altLang="zh-TW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angle = </a:t>
              </a:r>
              <a:r>
                <a:rPr lang="en-US" altLang="zh-TW" dirty="0">
                  <a:solidFill>
                    <a:schemeClr val="bg1"/>
                  </a:solidFill>
                  <a:latin typeface="Consolas" panose="020B0609020204030204" pitchFamily="49" charset="0"/>
                </a:rPr>
                <a:t>9</a:t>
              </a:r>
              <a:r>
                <a:rPr lang="en-US" altLang="zh-TW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0</a:t>
              </a:r>
            </a:p>
          </p:txBody>
        </p:sp>
      </p:grpSp>
      <p:pic>
        <p:nvPicPr>
          <p:cNvPr id="7" name="圖片 6">
            <a:extLst>
              <a:ext uri="{FF2B5EF4-FFF2-40B4-BE49-F238E27FC236}">
                <a16:creationId xmlns:a16="http://schemas.microsoft.com/office/drawing/2014/main" id="{227F1914-EABD-2EA7-5E14-FA9A57563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5181" y="1477818"/>
            <a:ext cx="3209453" cy="23955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7473CE4-4FCA-AE44-7E92-600A85A4D913}"/>
                  </a:ext>
                </a:extLst>
              </p:cNvPr>
              <p:cNvSpPr txBox="1"/>
              <p:nvPr/>
            </p:nvSpPr>
            <p:spPr>
              <a:xfrm>
                <a:off x="7139709" y="1103807"/>
                <a:ext cx="8486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7473CE4-4FCA-AE44-7E92-600A85A4D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709" y="1103807"/>
                <a:ext cx="848697" cy="369332"/>
              </a:xfrm>
              <a:prstGeom prst="rect">
                <a:avLst/>
              </a:prstGeom>
              <a:blipFill>
                <a:blip r:embed="rId6"/>
                <a:stretch>
                  <a:fillRect l="-2158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76E669A-3B5E-6EC4-0C42-7456D6C7F93D}"/>
                  </a:ext>
                </a:extLst>
              </p:cNvPr>
              <p:cNvSpPr txBox="1"/>
              <p:nvPr/>
            </p:nvSpPr>
            <p:spPr>
              <a:xfrm>
                <a:off x="10155380" y="1062244"/>
                <a:ext cx="8486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kern="100" smtClean="0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zh-TW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76E669A-3B5E-6EC4-0C42-7456D6C7F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380" y="1062244"/>
                <a:ext cx="848697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FC0F5BE9-B8EC-B137-4B58-FE3FA0556B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6162" y="4329033"/>
            <a:ext cx="3250731" cy="24319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FDC63D0-F21F-78AF-C57F-4DC2713DD2C4}"/>
                  </a:ext>
                </a:extLst>
              </p:cNvPr>
              <p:cNvSpPr txBox="1"/>
              <p:nvPr/>
            </p:nvSpPr>
            <p:spPr>
              <a:xfrm>
                <a:off x="8853054" y="3971698"/>
                <a:ext cx="8486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TW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FDC63D0-F21F-78AF-C57F-4DC2713D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054" y="3971698"/>
                <a:ext cx="848697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5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6FEC-5A47-B2B3-90E6-711EEE67A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0644A7-EB0D-6919-CCF6-6AA79223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A8A675-FD88-2EF9-BC99-B05EE4F52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85540"/>
            <a:ext cx="11333018" cy="381155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8AE30B3-4D19-1776-3988-4476A1F0D22B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逆濾波 例子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813041D-A99E-D2AB-2A00-56722026B473}"/>
                  </a:ext>
                </a:extLst>
              </p:cNvPr>
              <p:cNvSpPr txBox="1"/>
              <p:nvPr/>
            </p:nvSpPr>
            <p:spPr>
              <a:xfrm>
                <a:off x="8885381" y="1281118"/>
                <a:ext cx="2382982" cy="858184"/>
              </a:xfrm>
              <a:prstGeom prst="rect">
                <a:avLst/>
              </a:prstGeom>
              <a:solidFill>
                <a:srgbClr val="F9EBF7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zh-TW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zh-TW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r>
                            <a:rPr lang="en-US" altLang="zh-TW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zh-TW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813041D-A99E-D2AB-2A00-56722026B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381" y="1281118"/>
                <a:ext cx="2382982" cy="8581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4215F91-BFAA-7E85-3AC2-C1972D20CF75}"/>
                  </a:ext>
                </a:extLst>
              </p:cNvPr>
              <p:cNvSpPr txBox="1"/>
              <p:nvPr/>
            </p:nvSpPr>
            <p:spPr>
              <a:xfrm>
                <a:off x="1089890" y="1340797"/>
                <a:ext cx="2872509" cy="8744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800" i="1" kern="10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1800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退化影像的頻譜。</a:t>
                </a:r>
                <a:endParaRPr lang="en-US" altLang="zh-TW" sz="1800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800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1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退化函數的頻譜。</a:t>
                </a:r>
                <a:endParaRPr lang="en-US" altLang="zh-TW" sz="1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4215F91-BFAA-7E85-3AC2-C1972D20C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90" y="1340797"/>
                <a:ext cx="2872509" cy="874407"/>
              </a:xfrm>
              <a:prstGeom prst="rect">
                <a:avLst/>
              </a:prstGeom>
              <a:blipFill>
                <a:blip r:embed="rId4"/>
                <a:stretch>
                  <a:fillRect b="-11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0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35D6-25E5-7C30-BB4C-D15F16DA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204B969-F775-3605-2848-F620722B82CB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逆濾波例子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582D0D4-7F16-67E4-6854-1ADD258035A6}"/>
                  </a:ext>
                </a:extLst>
              </p:cNvPr>
              <p:cNvSpPr txBox="1"/>
              <p:nvPr/>
            </p:nvSpPr>
            <p:spPr>
              <a:xfrm>
                <a:off x="1838037" y="1196170"/>
                <a:ext cx="8486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582D0D4-7F16-67E4-6854-1ADD25803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37" y="1196170"/>
                <a:ext cx="848697" cy="369332"/>
              </a:xfrm>
              <a:prstGeom prst="rect">
                <a:avLst/>
              </a:prstGeom>
              <a:blipFill>
                <a:blip r:embed="rId2"/>
                <a:stretch>
                  <a:fillRect l="-2158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9D463FA-5603-A9BF-C107-B926503B32F1}"/>
                  </a:ext>
                </a:extLst>
              </p:cNvPr>
              <p:cNvSpPr txBox="1"/>
              <p:nvPr/>
            </p:nvSpPr>
            <p:spPr>
              <a:xfrm>
                <a:off x="5638800" y="1173081"/>
                <a:ext cx="8486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TW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9D463FA-5603-A9BF-C107-B926503B3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1173081"/>
                <a:ext cx="848697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A01846DD-E1D9-3271-AD40-940572089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982" y="1723447"/>
            <a:ext cx="11488980" cy="31348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A25C15B-A564-F333-A166-52A2B4BACB5F}"/>
                  </a:ext>
                </a:extLst>
              </p:cNvPr>
              <p:cNvSpPr txBox="1"/>
              <p:nvPr/>
            </p:nvSpPr>
            <p:spPr>
              <a:xfrm>
                <a:off x="9508837" y="1302388"/>
                <a:ext cx="848697" cy="391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kern="1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zh-TW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 kern="10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A25C15B-A564-F333-A166-52A2B4BAC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837" y="1302388"/>
                <a:ext cx="848697" cy="391326"/>
              </a:xfrm>
              <a:prstGeom prst="rect">
                <a:avLst/>
              </a:prstGeom>
              <a:blipFill>
                <a:blip r:embed="rId5"/>
                <a:stretch>
                  <a:fillRect l="-2158" t="-7813" b="-109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63FB95-2B53-64D3-A147-FD2FBD43AC1A}"/>
              </a:ext>
            </a:extLst>
          </p:cNvPr>
          <p:cNvSpPr txBox="1"/>
          <p:nvPr/>
        </p:nvSpPr>
        <p:spPr>
          <a:xfrm>
            <a:off x="11028218" y="474749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炸了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356EA56-4157-EFFF-007A-E487D12F7CAA}"/>
                  </a:ext>
                </a:extLst>
              </p:cNvPr>
              <p:cNvSpPr txBox="1"/>
              <p:nvPr/>
            </p:nvSpPr>
            <p:spPr>
              <a:xfrm>
                <a:off x="8931563" y="523737"/>
                <a:ext cx="1801092" cy="710772"/>
              </a:xfrm>
              <a:prstGeom prst="rect">
                <a:avLst/>
              </a:prstGeom>
              <a:solidFill>
                <a:srgbClr val="F9EBF7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4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zh-TW" altLang="zh-TW" sz="1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1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1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1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zh-TW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r>
                            <a:rPr lang="en-US" altLang="zh-TW" sz="1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zh-TW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356EA56-4157-EFFF-007A-E487D12F7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563" y="523737"/>
                <a:ext cx="1801092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427F5E6E-8F35-0917-1C22-2D6B245DD531}"/>
              </a:ext>
            </a:extLst>
          </p:cNvPr>
          <p:cNvSpPr txBox="1"/>
          <p:nvPr/>
        </p:nvSpPr>
        <p:spPr>
          <a:xfrm>
            <a:off x="443345" y="5023925"/>
            <a:ext cx="8146474" cy="1538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H(</a:t>
            </a:r>
            <a:r>
              <a:rPr lang="en-US" altLang="zh-TW" sz="2400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u,v</a:t>
            </a:r>
            <a:r>
              <a:rPr lang="en-US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是模糊核的頻譜，某些頻率成分可能</a:t>
            </a:r>
            <a:r>
              <a:rPr lang="zh-TW" altLang="zh-TW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接近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</a:t>
            </a:r>
            <a:r>
              <a:rPr lang="zh-TW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TW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 </a:t>
            </a:r>
            <a:r>
              <a:rPr lang="en-US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H(</a:t>
            </a:r>
            <a:r>
              <a:rPr lang="en-US" altLang="zh-TW" sz="2400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u,v</a:t>
            </a:r>
            <a:r>
              <a:rPr lang="en-US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)→0</a:t>
            </a:r>
            <a:r>
              <a:rPr lang="zh-TW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</a:t>
            </a:r>
            <a:r>
              <a:rPr lang="zh-TW" altLang="zh-TW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分母極小</a:t>
            </a:r>
            <a:r>
              <a:rPr lang="zh-TW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，導致還原結果發散，</a:t>
            </a:r>
            <a:endParaRPr lang="en-US" altLang="zh-TW" sz="24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</a:t>
            </a:r>
            <a:r>
              <a:rPr lang="zh-TW" altLang="zh-TW" sz="24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出現很大的數值波動，結果變得非常不穩定。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25EE472B-4263-B6BD-F633-ADE44B269237}"/>
              </a:ext>
            </a:extLst>
          </p:cNvPr>
          <p:cNvGrpSpPr/>
          <p:nvPr/>
        </p:nvGrpSpPr>
        <p:grpSpPr>
          <a:xfrm>
            <a:off x="8183416" y="4969163"/>
            <a:ext cx="1893455" cy="1634837"/>
            <a:chOff x="6153569" y="2196732"/>
            <a:chExt cx="2897967" cy="2685631"/>
          </a:xfrm>
        </p:grpSpPr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AC1C96D7-04D0-C933-FD93-062BC95A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69" b="2066"/>
            <a:stretch/>
          </p:blipFill>
          <p:spPr>
            <a:xfrm>
              <a:off x="6153569" y="2196732"/>
              <a:ext cx="2897967" cy="2685631"/>
            </a:xfrm>
            <a:prstGeom prst="rect">
              <a:avLst/>
            </a:prstGeom>
          </p:spPr>
        </p:pic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CE329D2D-2A8E-1F92-7283-DDFF86AD0D29}"/>
                </a:ext>
              </a:extLst>
            </p:cNvPr>
            <p:cNvSpPr txBox="1"/>
            <p:nvPr/>
          </p:nvSpPr>
          <p:spPr>
            <a:xfrm>
              <a:off x="6313554" y="4265262"/>
              <a:ext cx="2467506" cy="448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425"/>
                </a:lnSpc>
              </a:pPr>
              <a:r>
                <a:rPr lang="en-US" altLang="zh-TW" sz="1400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angle = </a:t>
              </a:r>
              <a:r>
                <a:rPr lang="en-US" altLang="zh-TW" sz="1400" dirty="0">
                  <a:solidFill>
                    <a:schemeClr val="bg1"/>
                  </a:solidFill>
                  <a:latin typeface="Consolas" panose="020B0609020204030204" pitchFamily="49" charset="0"/>
                </a:rPr>
                <a:t>9</a:t>
              </a:r>
              <a:r>
                <a:rPr lang="en-US" altLang="zh-TW" sz="1400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304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48D70E4-98A3-513C-BAA9-9E0D56C6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0DAED07-D6CD-D046-A53B-EF2DB6FFA234}"/>
              </a:ext>
            </a:extLst>
          </p:cNvPr>
          <p:cNvSpPr txBox="1"/>
          <p:nvPr/>
        </p:nvSpPr>
        <p:spPr>
          <a:xfrm>
            <a:off x="618837" y="1399416"/>
            <a:ext cx="1095432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逆濾波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天真「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硬除以 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想把模糊直接「反演」回來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不考慮雜訊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維納濾波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聰明「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有雜訊時的最佳解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不是把模糊完全反過來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 模糊 和 雜訊 之間找最小化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MSE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的最優折衷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5B3E80D-7497-AB8D-D4F6-14103A5223A2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逆濾波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vs.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維納濾波</a:t>
            </a:r>
          </a:p>
        </p:txBody>
      </p:sp>
    </p:spTree>
    <p:extLst>
      <p:ext uri="{BB962C8B-B14F-4D97-AF65-F5344CB8AC3E}">
        <p14:creationId xmlns:p14="http://schemas.microsoft.com/office/powerpoint/2010/main" val="803859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A151F2C-6DE1-1255-3F34-8A244BC3EB6F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溫納</a:t>
            </a:r>
            <a:r>
              <a:rPr lang="en-US" altLang="zh-TW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(Wiener)(</a:t>
            </a:r>
            <a:r>
              <a:rPr lang="zh-TW" altLang="en-US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最小化均方誤差</a:t>
            </a:r>
            <a:r>
              <a:rPr lang="en-US" altLang="zh-TW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r>
              <a:rPr lang="zh-TW" altLang="en-US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濾波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28A7AFF-1A00-CA2E-8524-009974EE4B89}"/>
                  </a:ext>
                </a:extLst>
              </p:cNvPr>
              <p:cNvSpPr txBox="1"/>
              <p:nvPr/>
            </p:nvSpPr>
            <p:spPr>
              <a:xfrm>
                <a:off x="2630055" y="2946798"/>
                <a:ext cx="4075546" cy="9318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zh-TW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altLang="zh-TW" sz="2000" kern="10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effectLst/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28A7AFF-1A00-CA2E-8524-009974EE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055" y="2946798"/>
                <a:ext cx="4075546" cy="9318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34DE14-C6E5-E504-067E-9F92AC1CCE69}"/>
                  </a:ext>
                </a:extLst>
              </p:cNvPr>
              <p:cNvSpPr txBox="1"/>
              <p:nvPr/>
            </p:nvSpPr>
            <p:spPr>
              <a:xfrm>
                <a:off x="2660072" y="1484318"/>
                <a:ext cx="2253673" cy="931858"/>
              </a:xfrm>
              <a:prstGeom prst="rect">
                <a:avLst/>
              </a:prstGeom>
              <a:solidFill>
                <a:srgbClr val="F9EBF7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zh-TW" altLang="zh-TW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0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zh-TW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zh-TW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34DE14-C6E5-E504-067E-9F92AC1CC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2" y="1484318"/>
                <a:ext cx="2253673" cy="9318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20EBA345-A68A-D4D2-3A4F-F0C0E3F3B72C}"/>
              </a:ext>
            </a:extLst>
          </p:cNvPr>
          <p:cNvSpPr txBox="1"/>
          <p:nvPr/>
        </p:nvSpPr>
        <p:spPr>
          <a:xfrm>
            <a:off x="581892" y="3149600"/>
            <a:ext cx="19784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wiener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公式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5B87E5-3DD8-9099-60D4-203D959B1C2F}"/>
              </a:ext>
            </a:extLst>
          </p:cNvPr>
          <p:cNvSpPr txBox="1"/>
          <p:nvPr/>
        </p:nvSpPr>
        <p:spPr>
          <a:xfrm>
            <a:off x="5140036" y="1279236"/>
            <a:ext cx="29386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問題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，會發散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有雜訊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35652A8-12BC-C89C-13AC-C27D9C6D9170}"/>
              </a:ext>
            </a:extLst>
          </p:cNvPr>
          <p:cNvSpPr txBox="1"/>
          <p:nvPr/>
        </p:nvSpPr>
        <p:spPr>
          <a:xfrm>
            <a:off x="554181" y="4521262"/>
            <a:ext cx="53293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推導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最小化均方</a:t>
            </a:r>
            <a:r>
              <a:rPr lang="zh-TW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誤差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）來還原影像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A870B5E-6162-892F-D172-AE9D6DEAD4D3}"/>
              </a:ext>
            </a:extLst>
          </p:cNvPr>
          <p:cNvSpPr txBox="1"/>
          <p:nvPr/>
        </p:nvSpPr>
        <p:spPr>
          <a:xfrm>
            <a:off x="595747" y="1704109"/>
            <a:ext cx="2079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逆濾波公式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3B8C9F6-602E-451E-2A6B-F1C92317CD3C}"/>
                  </a:ext>
                </a:extLst>
              </p:cNvPr>
              <p:cNvSpPr txBox="1"/>
              <p:nvPr/>
            </p:nvSpPr>
            <p:spPr>
              <a:xfrm>
                <a:off x="517236" y="5269406"/>
                <a:ext cx="6530109" cy="523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i="1" kern="10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800" i="1" kern="1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zh-TW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 kern="10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d>
                                    <m:dPr>
                                      <m:ctrlPr>
                                        <a:rPr lang="zh-TW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US" altLang="zh-TW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zh-TW" altLang="zh-TW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3B8C9F6-602E-451E-2A6B-F1C92317C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36" y="5269406"/>
                <a:ext cx="653010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A2C36988-A419-D2DA-181D-A9FA550FB56D}"/>
              </a:ext>
            </a:extLst>
          </p:cNvPr>
          <p:cNvSpPr txBox="1"/>
          <p:nvPr/>
        </p:nvSpPr>
        <p:spPr>
          <a:xfrm>
            <a:off x="7296729" y="5283200"/>
            <a:ext cx="4553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找到一個濾波器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作用在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與原始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越接近越好</a:t>
            </a: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11C6B1AB-6567-7169-A274-204308B61986}"/>
              </a:ext>
            </a:extLst>
          </p:cNvPr>
          <p:cNvCxnSpPr/>
          <p:nvPr/>
        </p:nvCxnSpPr>
        <p:spPr>
          <a:xfrm flipH="1">
            <a:off x="1256145" y="4867564"/>
            <a:ext cx="849746" cy="4895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24531D8-CDCE-4C05-E61F-DDFE8C944F50}"/>
              </a:ext>
            </a:extLst>
          </p:cNvPr>
          <p:cNvSpPr txBox="1"/>
          <p:nvPr/>
        </p:nvSpPr>
        <p:spPr>
          <a:xfrm>
            <a:off x="6779490" y="3241963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怎麼蹦出來的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8062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B861-BD72-D361-9D9B-979172E6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0C20007-55E7-5EAE-4C46-5BF351B2CA83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溫納</a:t>
            </a:r>
            <a:r>
              <a:rPr lang="en-US" altLang="zh-TW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(Wiener)(</a:t>
            </a:r>
            <a:r>
              <a:rPr lang="zh-TW" altLang="en-US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最小化均方誤差</a:t>
            </a:r>
            <a:r>
              <a:rPr lang="en-US" altLang="zh-TW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r>
              <a:rPr lang="zh-TW" altLang="en-US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濾波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E70A15F-4103-9468-497A-0B9B1717B4F0}"/>
                  </a:ext>
                </a:extLst>
              </p:cNvPr>
              <p:cNvSpPr txBox="1"/>
              <p:nvPr/>
            </p:nvSpPr>
            <p:spPr>
              <a:xfrm>
                <a:off x="517236" y="1362425"/>
                <a:ext cx="6530109" cy="523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i="1" kern="10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800" i="1" kern="1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zh-TW" altLang="zh-TW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 kern="10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d>
                                    <m:dPr>
                                      <m:ctrlPr>
                                        <a:rPr lang="zh-TW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US" altLang="zh-TW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zh-TW" altLang="zh-TW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8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E70A15F-4103-9468-497A-0B9B1717B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36" y="1362425"/>
                <a:ext cx="653010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E83316DE-6712-1172-6554-4B0E56F63EF6}"/>
              </a:ext>
            </a:extLst>
          </p:cNvPr>
          <p:cNvSpPr txBox="1"/>
          <p:nvPr/>
        </p:nvSpPr>
        <p:spPr>
          <a:xfrm>
            <a:off x="7176656" y="1330036"/>
            <a:ext cx="4553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找到一個濾波器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，還原影像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F4C512F-0AC5-D432-E3F1-A91BB021264C}"/>
                  </a:ext>
                </a:extLst>
              </p:cNvPr>
              <p:cNvSpPr txBox="1"/>
              <p:nvPr/>
            </p:nvSpPr>
            <p:spPr>
              <a:xfrm>
                <a:off x="5163126" y="2308655"/>
                <a:ext cx="5865092" cy="62581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kern="10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800" kern="1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TW" altLang="zh-TW" sz="1800" kern="1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F4C512F-0AC5-D432-E3F1-A91BB0212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126" y="2308655"/>
                <a:ext cx="5865092" cy="6258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86DEC05-488A-DD19-06FE-77D90EA00738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6040582" y="1856509"/>
            <a:ext cx="2055090" cy="452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3FE3362-4DEB-6136-21F0-17D08417B9C0}"/>
              </a:ext>
            </a:extLst>
          </p:cNvPr>
          <p:cNvSpPr txBox="1"/>
          <p:nvPr/>
        </p:nvSpPr>
        <p:spPr>
          <a:xfrm>
            <a:off x="7961746" y="18934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代入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C9971D2-24BD-C058-244A-344AF38F1389}"/>
                  </a:ext>
                </a:extLst>
              </p:cNvPr>
              <p:cNvSpPr txBox="1"/>
              <p:nvPr/>
            </p:nvSpPr>
            <p:spPr>
              <a:xfrm>
                <a:off x="568036" y="3371335"/>
                <a:ext cx="5370946" cy="523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i="1" kern="10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800" i="1" kern="1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 kern="10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altLang="zh-TW" sz="2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US" altLang="zh-TW" sz="2800" kern="1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C9971D2-24BD-C058-244A-344AF38F1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36" y="3371335"/>
                <a:ext cx="537094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11DF37D-816A-0F3D-0E44-3B6A1863292C}"/>
                  </a:ext>
                </a:extLst>
              </p:cNvPr>
              <p:cNvSpPr txBox="1"/>
              <p:nvPr/>
            </p:nvSpPr>
            <p:spPr>
              <a:xfrm>
                <a:off x="535709" y="2881746"/>
                <a:ext cx="2580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為了方便觀看省略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11DF37D-816A-0F3D-0E44-3B6A18632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09" y="2881746"/>
                <a:ext cx="2580130" cy="369332"/>
              </a:xfrm>
              <a:prstGeom prst="rect">
                <a:avLst/>
              </a:prstGeom>
              <a:blipFill>
                <a:blip r:embed="rId5"/>
                <a:stretch>
                  <a:fillRect l="-2128" t="-8333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A46C176-433E-AD52-21BB-05BFD965DBFE}"/>
                  </a:ext>
                </a:extLst>
              </p:cNvPr>
              <p:cNvSpPr txBox="1"/>
              <p:nvPr/>
            </p:nvSpPr>
            <p:spPr>
              <a:xfrm>
                <a:off x="572654" y="4345771"/>
                <a:ext cx="5370946" cy="523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i="1" kern="10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800" i="1" kern="1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 kern="100" smtClean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𝐻𝐹</m:t>
                                  </m:r>
                                  <m:r>
                                    <a:rPr lang="en-US" altLang="zh-TW" sz="2800" b="0" i="1" kern="10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A46C176-433E-AD52-21BB-05BFD965D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54" y="4345771"/>
                <a:ext cx="53709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363807E-FB18-2F78-77A3-9EE7DEA96EF7}"/>
                  </a:ext>
                </a:extLst>
              </p:cNvPr>
              <p:cNvSpPr txBox="1"/>
              <p:nvPr/>
            </p:nvSpPr>
            <p:spPr>
              <a:xfrm>
                <a:off x="6241472" y="4512024"/>
                <a:ext cx="4592782" cy="369332"/>
              </a:xfrm>
              <a:prstGeom prst="rect">
                <a:avLst/>
              </a:prstGeom>
              <a:solidFill>
                <a:srgbClr val="FDE3E4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TW" altLang="zh-TW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sz="18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8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TW" sz="18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8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  <m:sup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zh-TW" alt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TW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363807E-FB18-2F78-77A3-9EE7DEA96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72" y="4512024"/>
                <a:ext cx="4592782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1C55858-44D0-8CD8-EDE0-3D0392584362}"/>
                  </a:ext>
                </a:extLst>
              </p:cNvPr>
              <p:cNvSpPr txBox="1"/>
              <p:nvPr/>
            </p:nvSpPr>
            <p:spPr>
              <a:xfrm>
                <a:off x="586508" y="5338681"/>
                <a:ext cx="8151092" cy="523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i="1" kern="10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800" i="1" kern="1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𝐻𝐹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zh-TW" altLang="en-US" sz="2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𝐻𝐹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2800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1C55858-44D0-8CD8-EDE0-3D0392584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8" y="5338681"/>
                <a:ext cx="815109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BB655E84-09BC-8AA0-4ECB-EDCAA71412C0}"/>
              </a:ext>
            </a:extLst>
          </p:cNvPr>
          <p:cNvSpPr txBox="1"/>
          <p:nvPr/>
        </p:nvSpPr>
        <p:spPr>
          <a:xfrm>
            <a:off x="4211782" y="604058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下一頁展開此式</a:t>
            </a:r>
          </a:p>
        </p:txBody>
      </p:sp>
    </p:spTree>
    <p:extLst>
      <p:ext uri="{BB962C8B-B14F-4D97-AF65-F5344CB8AC3E}">
        <p14:creationId xmlns:p14="http://schemas.microsoft.com/office/powerpoint/2010/main" val="1555902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AF3C8AB-62FF-0642-8230-0011421A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13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9AF901C-BB92-DC36-2973-43D6C8FA5D28}"/>
                  </a:ext>
                </a:extLst>
              </p:cNvPr>
              <p:cNvSpPr txBox="1"/>
              <p:nvPr/>
            </p:nvSpPr>
            <p:spPr>
              <a:xfrm>
                <a:off x="240631" y="1084362"/>
                <a:ext cx="8151092" cy="15033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8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8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zh-TW" sz="28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zh-TW" altLang="zh-TW" sz="280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zh-TW" sz="2800" i="1" kern="1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TW" altLang="en-US" sz="2800" i="1" dirty="0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𝑊𝐻𝐹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800" dirty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TW" alt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8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TW" sz="2800" i="1" kern="10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TW" sz="2800" b="0" i="1" kern="100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𝑊𝐻𝐹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zh-TW" altLang="en-US" sz="2800" i="1" dirty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altLang="zh-TW" sz="2800" dirty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TW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TW" altLang="zh-TW" sz="2800" i="1" kern="1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zh-TW" sz="2800" i="1" kern="1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b="0" i="1" kern="100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𝑊𝐻𝐹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800" i="1" kern="1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800" b="0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en-US" altLang="zh-TW" sz="2800" b="0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𝑊𝐻𝐹</m:t>
                              </m:r>
                              <m:r>
                                <a:rPr lang="en-US" altLang="zh-TW" sz="2800" b="0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TW" alt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𝑊𝑁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8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zh-TW" alt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𝑊𝑁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altLang="zh-TW" sz="28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TW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TW" alt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𝑊𝑁</m:t>
                                  </m:r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𝑊𝐻𝐹</m:t>
                                  </m:r>
                                  <m:r>
                                    <a:rPr lang="en-US" altLang="zh-TW" sz="28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8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TW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TW" altLang="zh-TW" sz="2800" i="1" kern="1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zh-TW" sz="2800" i="1" kern="1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 kern="100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altLang="zh-TW" sz="2800" b="0" i="1" kern="100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800" i="1" kern="1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9AF901C-BB92-DC36-2973-43D6C8FA5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1084362"/>
                <a:ext cx="8151092" cy="1503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30AD2F4-1015-1737-1141-A702CFB66EED}"/>
                  </a:ext>
                </a:extLst>
              </p:cNvPr>
              <p:cNvSpPr txBox="1"/>
              <p:nvPr/>
            </p:nvSpPr>
            <p:spPr>
              <a:xfrm>
                <a:off x="210733" y="386045"/>
                <a:ext cx="8151092" cy="52322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i="1" kern="100" smtClean="0"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800" i="1" kern="1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𝐻𝐹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zh-TW" altLang="en-US" sz="2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𝐻𝐹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2800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30AD2F4-1015-1737-1141-A702CFB66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33" y="386045"/>
                <a:ext cx="815109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EC93C02-7544-5933-8B9F-1E21C6555073}"/>
                  </a:ext>
                </a:extLst>
              </p:cNvPr>
              <p:cNvSpPr txBox="1"/>
              <p:nvPr/>
            </p:nvSpPr>
            <p:spPr>
              <a:xfrm>
                <a:off x="561474" y="2775285"/>
                <a:ext cx="7343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信號</a:t>
                </a:r>
                <a:r>
                  <a:rPr lang="en-US" altLang="zh-TW" sz="32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與雜訊</a:t>
                </a:r>
                <a:r>
                  <a:rPr lang="en-US" altLang="zh-TW" sz="32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是獨立的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en-US" altLang="zh-TW" sz="32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320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TW" altLang="zh-TW" sz="32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TW" sz="32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zh-TW" alt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TW" sz="32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TW" sz="32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sz="32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TW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zh-TW" altLang="en-US" sz="3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EC93C02-7544-5933-8B9F-1E21C6555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74" y="2775285"/>
                <a:ext cx="7343934" cy="584775"/>
              </a:xfrm>
              <a:prstGeom prst="rect">
                <a:avLst/>
              </a:prstGeom>
              <a:blipFill>
                <a:blip r:embed="rId4"/>
                <a:stretch>
                  <a:fillRect l="-2075" t="-14583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967F06C-7287-845E-51F2-0E3C4BEE3DF3}"/>
                  </a:ext>
                </a:extLst>
              </p:cNvPr>
              <p:cNvSpPr txBox="1"/>
              <p:nvPr/>
            </p:nvSpPr>
            <p:spPr>
              <a:xfrm>
                <a:off x="8486273" y="360947"/>
                <a:ext cx="3569375" cy="2657715"/>
              </a:xfrm>
              <a:prstGeom prst="rect">
                <a:avLst/>
              </a:prstGeom>
              <a:solidFill>
                <a:srgbClr val="E7F7E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32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32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32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32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TW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zh-TW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zh-TW" sz="3200" i="1" kern="1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3200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zh-TW" altLang="zh-TW" sz="3200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信號功率譜密度</m:t>
                      </m:r>
                      <m:r>
                        <m:rPr>
                          <m:nor/>
                        </m:rPr>
                        <a:rPr lang="en-US" altLang="zh-TW" sz="3200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3200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3200" i="1" kern="100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32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32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32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32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TW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3200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η</m:t>
                          </m:r>
                        </m:sub>
                      </m:sSub>
                      <m:d>
                        <m:dPr>
                          <m:ctrlPr>
                            <a:rPr lang="zh-TW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zh-TW" sz="3200" i="1" kern="1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3200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zh-TW" altLang="zh-TW" sz="3200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噪聲功率譜密度</m:t>
                      </m:r>
                      <m:r>
                        <m:rPr>
                          <m:nor/>
                        </m:rPr>
                        <a:rPr lang="en-US" altLang="zh-TW" sz="3200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sz="3200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967F06C-7287-845E-51F2-0E3C4BEE3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273" y="360947"/>
                <a:ext cx="3569375" cy="26577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A473485-4A91-D6D3-4C80-505D94765182}"/>
                  </a:ext>
                </a:extLst>
              </p:cNvPr>
              <p:cNvSpPr txBox="1"/>
              <p:nvPr/>
            </p:nvSpPr>
            <p:spPr>
              <a:xfrm>
                <a:off x="444319" y="3680023"/>
                <a:ext cx="5559318" cy="1140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3200" dirty="0">
                    <a:solidFill>
                      <a:schemeClr val="accent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綠色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3200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𝑊𝐻𝐹</m:t>
                        </m:r>
                        <m: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3200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sz="3200" i="1" kern="10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𝑊𝐻𝐹</m:t>
                        </m:r>
                      </m:e>
                    </m:d>
                    <m:sSup>
                      <m:sSupPr>
                        <m:ctrlPr>
                          <a:rPr lang="zh-TW" altLang="en-US" sz="3200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200" i="1" kern="1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TW" sz="3200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TW" sz="3200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r>
                  <a:rPr lang="zh-TW" altLang="en-US" sz="3200" kern="100" dirty="0">
                    <a:solidFill>
                      <a:schemeClr val="tx1"/>
                    </a:solidFill>
                  </a:rPr>
                  <a:t>         </a:t>
                </a:r>
                <a:r>
                  <a:rPr lang="en-US" altLang="zh-TW" sz="3200" kern="1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TW" sz="32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3200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TW" sz="3200" kern="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Re</m:t>
                    </m:r>
                    <m:d>
                      <m:dPr>
                        <m:begChr m:val="["/>
                        <m:endChr m:val="]"/>
                        <m:ctrlPr>
                          <a:rPr lang="zh-TW" altLang="zh-TW" sz="32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sSup>
                          <m:sSupPr>
                            <m:ctrlPr>
                              <a:rPr lang="zh-TW" altLang="zh-TW" sz="3200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TW" sz="32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TW" sz="32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TW" altLang="zh-TW" sz="32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TW" altLang="zh-TW" sz="32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TW" altLang="zh-TW" sz="32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32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TW" sz="32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zh-TW" altLang="en-US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A473485-4A91-D6D3-4C80-505D94765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19" y="3680023"/>
                <a:ext cx="5559318" cy="1140633"/>
              </a:xfrm>
              <a:prstGeom prst="rect">
                <a:avLst/>
              </a:prstGeom>
              <a:blipFill>
                <a:blip r:embed="rId6"/>
                <a:stretch>
                  <a:fillRect l="-2851" t="-7487" b="-15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1137138-C037-AF8D-69EA-F7724E866F7E}"/>
                  </a:ext>
                </a:extLst>
              </p:cNvPr>
              <p:cNvSpPr txBox="1"/>
              <p:nvPr/>
            </p:nvSpPr>
            <p:spPr>
              <a:xfrm>
                <a:off x="8054109" y="3689988"/>
                <a:ext cx="3777674" cy="9541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複共厄對稱</a:t>
                </a:r>
                <a:endParaRPr lang="en-US" altLang="zh-TW" sz="28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p>
                        <m:r>
                          <a:rPr lang="en-US" altLang="zh-TW" sz="2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TW" alt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TW" alt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sz="2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1137138-C037-AF8D-69EA-F7724E86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109" y="3689988"/>
                <a:ext cx="3777674" cy="954107"/>
              </a:xfrm>
              <a:prstGeom prst="rect">
                <a:avLst/>
              </a:prstGeom>
              <a:blipFill>
                <a:blip r:embed="rId7"/>
                <a:stretch>
                  <a:fillRect t="-56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B0E4728-3836-3789-EEA6-F9FC9E3DB3DB}"/>
                  </a:ext>
                </a:extLst>
              </p:cNvPr>
              <p:cNvSpPr txBox="1"/>
              <p:nvPr/>
            </p:nvSpPr>
            <p:spPr>
              <a:xfrm>
                <a:off x="495118" y="5042388"/>
                <a:ext cx="8408737" cy="1156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32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藍色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3200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TW" altLang="zh-TW" sz="3200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𝑊𝐻𝐹</m:t>
                            </m:r>
                          </m:e>
                        </m:d>
                      </m:e>
                      <m:sup>
                        <m:r>
                          <a:rPr lang="en-US" altLang="zh-TW" sz="3200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TW" altLang="zh-TW" sz="3200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200" i="1" kern="1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TW" altLang="zh-TW" sz="3200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𝑊𝑁</m:t>
                            </m:r>
                          </m:e>
                        </m:d>
                      </m:e>
                      <m:sup>
                        <m:r>
                          <a:rPr lang="en-US" altLang="zh-TW" sz="3200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sz="3200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r>
                  <a:rPr lang="zh-TW" altLang="en-US" sz="3200" kern="100" dirty="0">
                    <a:solidFill>
                      <a:schemeClr val="tx1"/>
                    </a:solidFill>
                  </a:rPr>
                  <a:t>         </a:t>
                </a:r>
                <a:r>
                  <a:rPr lang="en-US" altLang="zh-TW" sz="3200" kern="1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3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TW" altLang="zh-TW" sz="3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 kern="10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  <m:sup>
                        <m:r>
                          <a:rPr lang="en-US" altLang="zh-TW" sz="3200" i="1" kern="1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TW" altLang="zh-TW" sz="3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TW" altLang="zh-TW" sz="3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TW" altLang="zh-TW" sz="3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3200" i="1" kern="1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3200" i="1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3200" i="1" kern="10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TW" altLang="zh-TW" sz="3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TW" altLang="zh-TW" sz="3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TW" altLang="zh-TW" sz="32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3200" i="1" kern="10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TW" sz="3200" i="1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zh-TW" sz="3200" i="1" kern="1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3200" i="1" kern="10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TW" altLang="zh-TW" sz="3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TW" altLang="zh-TW" sz="3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TW" altLang="zh-TW" sz="32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3200" b="0" i="1" kern="10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TW" sz="3200" i="1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zh-TW" altLang="en-US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B0E4728-3836-3789-EEA6-F9FC9E3DB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18" y="5042388"/>
                <a:ext cx="8408737" cy="1156342"/>
              </a:xfrm>
              <a:prstGeom prst="rect">
                <a:avLst/>
              </a:prstGeom>
              <a:blipFill>
                <a:blip r:embed="rId8"/>
                <a:stretch>
                  <a:fillRect l="-1812" t="-7368" b="-136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614EE07-5DDC-BA49-E197-5EB283C0FB48}"/>
              </a:ext>
            </a:extLst>
          </p:cNvPr>
          <p:cNvCxnSpPr/>
          <p:nvPr/>
        </p:nvCxnSpPr>
        <p:spPr>
          <a:xfrm flipV="1">
            <a:off x="2336800" y="2050472"/>
            <a:ext cx="1366982" cy="554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E4E9BF8-A2D1-20B4-6639-B10246A8085A}"/>
              </a:ext>
            </a:extLst>
          </p:cNvPr>
          <p:cNvCxnSpPr/>
          <p:nvPr/>
        </p:nvCxnSpPr>
        <p:spPr>
          <a:xfrm flipV="1">
            <a:off x="5518727" y="1122217"/>
            <a:ext cx="1366982" cy="554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27636F2-AA13-9C2E-282E-46DF86FC3FE6}"/>
              </a:ext>
            </a:extLst>
          </p:cNvPr>
          <p:cNvCxnSpPr/>
          <p:nvPr/>
        </p:nvCxnSpPr>
        <p:spPr>
          <a:xfrm flipV="1">
            <a:off x="6068290" y="1542471"/>
            <a:ext cx="1366982" cy="554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6567D2E-BF54-55D8-E455-B92E476DC50A}"/>
              </a:ext>
            </a:extLst>
          </p:cNvPr>
          <p:cNvCxnSpPr/>
          <p:nvPr/>
        </p:nvCxnSpPr>
        <p:spPr>
          <a:xfrm flipV="1">
            <a:off x="4484253" y="2064325"/>
            <a:ext cx="1366982" cy="554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DAAAC3F-F3D3-DF73-B0B7-DFCD0ED4FCA4}"/>
              </a:ext>
            </a:extLst>
          </p:cNvPr>
          <p:cNvSpPr txBox="1"/>
          <p:nvPr/>
        </p:nvSpPr>
        <p:spPr>
          <a:xfrm>
            <a:off x="5818909" y="4424219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 =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實數部分</a:t>
            </a:r>
          </a:p>
        </p:txBody>
      </p:sp>
    </p:spTree>
    <p:extLst>
      <p:ext uri="{BB962C8B-B14F-4D97-AF65-F5344CB8AC3E}">
        <p14:creationId xmlns:p14="http://schemas.microsoft.com/office/powerpoint/2010/main" val="3557900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4D33-B138-0C10-8174-D2A49DE1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403A520-5B5D-7B20-59FA-F40F36CF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E8CF8C3-7175-F791-5336-423E05AD8211}"/>
                  </a:ext>
                </a:extLst>
              </p:cNvPr>
              <p:cNvSpPr txBox="1"/>
              <p:nvPr/>
            </p:nvSpPr>
            <p:spPr>
              <a:xfrm>
                <a:off x="345406" y="217587"/>
                <a:ext cx="10870714" cy="64235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MS</m:t>
                      </m:r>
                      <m:r>
                        <m:rPr>
                          <m:sty m:val="p"/>
                        </m:rPr>
                        <a:rPr lang="en-US" altLang="zh-TW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TW" sz="2400" b="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altLang="zh-TW" sz="2400" kern="10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Re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p>
                                <m:sSupPr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zh-TW" altLang="zh-TW" sz="24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 kern="10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2400" i="1" kern="1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zh-TW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 kern="10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zh-TW" altLang="zh-TW" sz="24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 kern="10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2400" i="1" kern="1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zh-TW" altLang="zh-TW" sz="24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 kern="10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2400" i="1" kern="1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E8CF8C3-7175-F791-5336-423E05AD8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06" y="217587"/>
                <a:ext cx="10870714" cy="6423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01BEA08-A15F-E7BD-9A05-88C6A36A7FEB}"/>
                  </a:ext>
                </a:extLst>
              </p:cNvPr>
              <p:cNvSpPr txBox="1"/>
              <p:nvPr/>
            </p:nvSpPr>
            <p:spPr>
              <a:xfrm>
                <a:off x="317502" y="1113984"/>
                <a:ext cx="7518398" cy="520976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MSE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TW" sz="2400" kern="10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𝑊</m:t>
                          </m:r>
                          <m:sSup>
                            <m:sSup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400" kern="10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01BEA08-A15F-E7BD-9A05-88C6A36A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2" y="1113984"/>
                <a:ext cx="7518398" cy="5209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FEDEFB4F-A5BF-A3E6-2C18-44AA8D9A8EBC}"/>
              </a:ext>
            </a:extLst>
          </p:cNvPr>
          <p:cNvCxnSpPr>
            <a:cxnSpLocks/>
          </p:cNvCxnSpPr>
          <p:nvPr/>
        </p:nvCxnSpPr>
        <p:spPr>
          <a:xfrm flipH="1">
            <a:off x="1666875" y="712643"/>
            <a:ext cx="294409" cy="4875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3ACCEEB-5709-636E-4938-AB0296A8FA2E}"/>
              </a:ext>
            </a:extLst>
          </p:cNvPr>
          <p:cNvCxnSpPr>
            <a:cxnSpLocks/>
          </p:cNvCxnSpPr>
          <p:nvPr/>
        </p:nvCxnSpPr>
        <p:spPr>
          <a:xfrm flipH="1">
            <a:off x="6667500" y="744970"/>
            <a:ext cx="2142547" cy="645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5EEAC880-1FE1-9827-623A-8948A7DA5A3C}"/>
              </a:ext>
            </a:extLst>
          </p:cNvPr>
          <p:cNvCxnSpPr>
            <a:cxnSpLocks/>
          </p:cNvCxnSpPr>
          <p:nvPr/>
        </p:nvCxnSpPr>
        <p:spPr>
          <a:xfrm flipH="1">
            <a:off x="3171825" y="754206"/>
            <a:ext cx="521277" cy="3697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2E9B883-A093-0678-BBCD-0F3260848C3C}"/>
              </a:ext>
            </a:extLst>
          </p:cNvPr>
          <p:cNvCxnSpPr>
            <a:cxnSpLocks/>
          </p:cNvCxnSpPr>
          <p:nvPr/>
        </p:nvCxnSpPr>
        <p:spPr>
          <a:xfrm flipH="1">
            <a:off x="4638675" y="721879"/>
            <a:ext cx="1017154" cy="4211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1000AE88-B1BC-A766-DAD8-68D68A99B4DC}"/>
              </a:ext>
            </a:extLst>
          </p:cNvPr>
          <p:cNvCxnSpPr>
            <a:cxnSpLocks/>
          </p:cNvCxnSpPr>
          <p:nvPr/>
        </p:nvCxnSpPr>
        <p:spPr>
          <a:xfrm flipH="1">
            <a:off x="5886450" y="731116"/>
            <a:ext cx="1524289" cy="507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DE51A3F-E0C3-3BC9-13D8-A815027D9BF4}"/>
                  </a:ext>
                </a:extLst>
              </p:cNvPr>
              <p:cNvSpPr txBox="1"/>
              <p:nvPr/>
            </p:nvSpPr>
            <p:spPr>
              <a:xfrm>
                <a:off x="327313" y="1843520"/>
                <a:ext cx="6619313" cy="7076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8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MSE</m:t>
                        </m:r>
                      </m:num>
                      <m:den>
                        <m:r>
                          <a:rPr lang="zh-TW" alt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800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800" b="0" i="1" kern="100" smtClean="0">
                            <a:latin typeface="Cambria Math" panose="02040503050406030204" pitchFamily="18" charset="0"/>
                          </a:rPr>
                          <m:t>𝑅𝑒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sSup>
                              <m:sSupPr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800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r>
                  <a:rPr lang="en-US" altLang="zh-TW" sz="2800" dirty="0">
                    <a:solidFill>
                      <a:schemeClr val="tx1"/>
                    </a:solidFill>
                  </a:rPr>
                  <a:t>+</a:t>
                </a:r>
                <a:r>
                  <a:rPr lang="zh-TW" alt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TW" altLang="zh-TW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i="1" kern="10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800" kern="100"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2800" i="1"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DE51A3F-E0C3-3BC9-13D8-A815027D9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13" y="1843520"/>
                <a:ext cx="6619313" cy="707630"/>
              </a:xfrm>
              <a:prstGeom prst="rect">
                <a:avLst/>
              </a:prstGeom>
              <a:blipFill>
                <a:blip r:embed="rId4"/>
                <a:stretch>
                  <a:fillRect l="-92" b="-18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E2B4E784-6CA7-AB4D-C3CA-81D96CC4742C}"/>
                  </a:ext>
                </a:extLst>
              </p:cNvPr>
              <p:cNvSpPr txBox="1"/>
              <p:nvPr/>
            </p:nvSpPr>
            <p:spPr>
              <a:xfrm>
                <a:off x="308263" y="2767445"/>
                <a:ext cx="5180521" cy="7022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MSE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den>
                      </m:f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>
                        <m:sSub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TW" sz="2400" b="0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sSup>
                        <m:sSup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TW" sz="2400" i="1" kern="1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kern="100">
                              <a:latin typeface="Cambria Math" panose="02040503050406030204" pitchFamily="18" charset="0"/>
                            </a:rPr>
                            <m:t>η</m:t>
                          </m:r>
                        </m:sub>
                      </m:sSub>
                      <m:r>
                        <a:rPr lang="en-US" altLang="zh-TW" sz="2400" b="0" i="1" kern="10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E2B4E784-6CA7-AB4D-C3CA-81D96CC47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63" y="2767445"/>
                <a:ext cx="5180521" cy="7022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161A3CAB-1002-3EC1-64EB-2E364146CF48}"/>
              </a:ext>
            </a:extLst>
          </p:cNvPr>
          <p:cNvSpPr txBox="1"/>
          <p:nvPr/>
        </p:nvSpPr>
        <p:spPr>
          <a:xfrm>
            <a:off x="6629400" y="3829050"/>
            <a:ext cx="4031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求微分並且令其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1E1D05A-1103-0385-851C-41E9585784F5}"/>
                  </a:ext>
                </a:extLst>
              </p:cNvPr>
              <p:cNvSpPr txBox="1"/>
              <p:nvPr/>
            </p:nvSpPr>
            <p:spPr>
              <a:xfrm>
                <a:off x="276225" y="3772159"/>
                <a:ext cx="6096000" cy="5702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>
                        <m:sSub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TW" sz="2800" b="0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sSup>
                        <m:sSup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TW" altLang="zh-TW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  <m:sup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800" kern="100">
                              <a:latin typeface="Cambria Math" panose="02040503050406030204" pitchFamily="18" charset="0"/>
                            </a:rPr>
                            <m:t>η</m:t>
                          </m:r>
                        </m:sub>
                      </m:sSub>
                      <m:r>
                        <a:rPr lang="en-US" altLang="zh-TW" sz="2800" b="0" i="1" kern="10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1E1D05A-1103-0385-851C-41E958578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3772159"/>
                <a:ext cx="6096000" cy="570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9AE99ACD-9EE9-B8D5-50DF-4FBB5A64A12E}"/>
                  </a:ext>
                </a:extLst>
              </p:cNvPr>
              <p:cNvSpPr txBox="1"/>
              <p:nvPr/>
            </p:nvSpPr>
            <p:spPr>
              <a:xfrm>
                <a:off x="393988" y="4653395"/>
                <a:ext cx="4116832" cy="477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sSup>
                        <m:sSup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TW" altLang="zh-TW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 kern="10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  <m:sup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800" kern="100">
                              <a:latin typeface="Cambria Math" panose="02040503050406030204" pitchFamily="18" charset="0"/>
                            </a:rPr>
                            <m:t>η</m:t>
                          </m:r>
                        </m:sub>
                      </m:sSub>
                      <m:r>
                        <a:rPr lang="en-US" altLang="zh-TW" sz="2800" i="1" kern="1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>
                        <m:sSubPr>
                          <m:ctrlPr>
                            <a:rPr lang="zh-TW" altLang="zh-TW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i="1" kern="1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9AE99ACD-9EE9-B8D5-50DF-4FBB5A64A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88" y="4653395"/>
                <a:ext cx="4116832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6270C08-F279-E4D2-CDE5-8846DE7C34B9}"/>
                  </a:ext>
                </a:extLst>
              </p:cNvPr>
              <p:cNvSpPr txBox="1"/>
              <p:nvPr/>
            </p:nvSpPr>
            <p:spPr>
              <a:xfrm>
                <a:off x="355888" y="5491595"/>
                <a:ext cx="5986382" cy="7709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>
                          <m:sSub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en-US" altLang="zh-TW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800" kern="100">
                                <a:latin typeface="Cambria Math" panose="02040503050406030204" pitchFamily="18" charset="0"/>
                              </a:rPr>
                              <m:t>η</m:t>
                            </m:r>
                          </m:sub>
                        </m:sSub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>
                          <m:sSub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800" kern="100">
                                <a:latin typeface="Cambria Math" panose="02040503050406030204" pitchFamily="18" charset="0"/>
                              </a:rPr>
                              <m:t>η</m:t>
                            </m:r>
                          </m:sub>
                        </m:sSub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TW" sz="2800" i="1" kern="1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TW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TW" altLang="zh-TW" sz="28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 kern="1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800" i="1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TW" sz="2800" i="1" kern="1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6270C08-F279-E4D2-CDE5-8846DE7C3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88" y="5491595"/>
                <a:ext cx="5986382" cy="7709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CC2429E-172C-5C7E-5F47-897D3C468AC9}"/>
                  </a:ext>
                </a:extLst>
              </p:cNvPr>
              <p:cNvSpPr txBox="1"/>
              <p:nvPr/>
            </p:nvSpPr>
            <p:spPr>
              <a:xfrm>
                <a:off x="7535430" y="5414639"/>
                <a:ext cx="4075546" cy="9318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zh-TW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altLang="zh-TW" sz="2000" kern="10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effectLst/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CC2429E-172C-5C7E-5F47-897D3C468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30" y="5414639"/>
                <a:ext cx="4075546" cy="93185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41F80AE-5716-580C-1AC7-864CEFA69260}"/>
                  </a:ext>
                </a:extLst>
              </p:cNvPr>
              <p:cNvSpPr txBox="1"/>
              <p:nvPr/>
            </p:nvSpPr>
            <p:spPr>
              <a:xfrm>
                <a:off x="7506855" y="4719314"/>
                <a:ext cx="4075546" cy="5584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i="1" kern="10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kern="100" smtClean="0">
                          <a:effectLst/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zh-TW" altLang="zh-TW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000" kern="10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effectLst/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41F80AE-5716-580C-1AC7-864CEFA69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855" y="4719314"/>
                <a:ext cx="4075546" cy="5584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手繪多邊形: 圖案 49">
            <a:extLst>
              <a:ext uri="{FF2B5EF4-FFF2-40B4-BE49-F238E27FC236}">
                <a16:creationId xmlns:a16="http://schemas.microsoft.com/office/drawing/2014/main" id="{83124743-D073-12F8-3936-165C633A4105}"/>
              </a:ext>
            </a:extLst>
          </p:cNvPr>
          <p:cNvSpPr/>
          <p:nvPr/>
        </p:nvSpPr>
        <p:spPr>
          <a:xfrm>
            <a:off x="9715500" y="1943100"/>
            <a:ext cx="2085975" cy="1686156"/>
          </a:xfrm>
          <a:custGeom>
            <a:avLst/>
            <a:gdLst>
              <a:gd name="connsiteX0" fmla="*/ 0 w 2085975"/>
              <a:gd name="connsiteY0" fmla="*/ 0 h 1686156"/>
              <a:gd name="connsiteX1" fmla="*/ 1095375 w 2085975"/>
              <a:gd name="connsiteY1" fmla="*/ 1685925 h 1686156"/>
              <a:gd name="connsiteX2" fmla="*/ 2085975 w 2085975"/>
              <a:gd name="connsiteY2" fmla="*/ 95250 h 168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5975" h="1686156">
                <a:moveTo>
                  <a:pt x="0" y="0"/>
                </a:moveTo>
                <a:cubicBezTo>
                  <a:pt x="373856" y="835025"/>
                  <a:pt x="747713" y="1670050"/>
                  <a:pt x="1095375" y="1685925"/>
                </a:cubicBezTo>
                <a:cubicBezTo>
                  <a:pt x="1443037" y="1701800"/>
                  <a:pt x="1764506" y="898525"/>
                  <a:pt x="2085975" y="952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F468D0A-9F41-D1B5-428D-F35E6C8B1634}"/>
              </a:ext>
            </a:extLst>
          </p:cNvPr>
          <p:cNvSpPr txBox="1"/>
          <p:nvPr/>
        </p:nvSpPr>
        <p:spPr>
          <a:xfrm>
            <a:off x="9791700" y="1543050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是一個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凸函數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F7FA7F6-689A-DC99-42CA-C510A9F14512}"/>
              </a:ext>
            </a:extLst>
          </p:cNvPr>
          <p:cNvSpPr txBox="1"/>
          <p:nvPr/>
        </p:nvSpPr>
        <p:spPr>
          <a:xfrm>
            <a:off x="7014531" y="2638425"/>
            <a:ext cx="2789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如果對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微分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=0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代表有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最小值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8475BE0-7363-67B0-3E73-F68EC48C5B16}"/>
                  </a:ext>
                </a:extLst>
              </p:cNvPr>
              <p:cNvSpPr txBox="1"/>
              <p:nvPr/>
            </p:nvSpPr>
            <p:spPr>
              <a:xfrm>
                <a:off x="5846618" y="4628402"/>
                <a:ext cx="1034473" cy="71711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1" kern="10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kern="1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kern="10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zh-TW" sz="1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 kern="1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1800" i="1" kern="10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8475BE0-7363-67B0-3E73-F68EC48C5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618" y="4628402"/>
                <a:ext cx="1034473" cy="7171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4E292224-1ED4-8847-BDC6-F011C7DDF37A}"/>
              </a:ext>
            </a:extLst>
          </p:cNvPr>
          <p:cNvSpPr txBox="1"/>
          <p:nvPr/>
        </p:nvSpPr>
        <p:spPr>
          <a:xfrm>
            <a:off x="7499927" y="1902691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</a:t>
            </a:r>
            <a:r>
              <a:rPr lang="zh-TW" altLang="en-US" dirty="0"/>
              <a:t> </a:t>
            </a:r>
            <a:r>
              <a:rPr lang="en-US" altLang="zh-TW"/>
              <a:t>=</a:t>
            </a:r>
            <a:r>
              <a:rPr lang="zh-TW" altLang="en-US"/>
              <a:t> 代號而已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5921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1EBC67A-BE6C-E896-18B4-B6DCE1E15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F14F2B-9AB4-C445-4249-FF4AF2004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08" y="2870250"/>
            <a:ext cx="3689009" cy="296129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19E8225-80AC-FAF9-AFCB-916B74288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243" y="2870250"/>
            <a:ext cx="3689009" cy="296129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1B3CA0D-C2B5-D440-6D6F-6F4EC66A7A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879" y="2870250"/>
            <a:ext cx="3689009" cy="296129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4EE3EE7-56F2-3B37-D4AB-E0EBA38CC7BD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Wiener</a:t>
            </a:r>
            <a:r>
              <a:rPr lang="zh-TW" altLang="en-US" sz="4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濾波 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D3F919-F844-A4B0-EB01-86D28C30EAA4}"/>
                  </a:ext>
                </a:extLst>
              </p:cNvPr>
              <p:cNvSpPr txBox="1"/>
              <p:nvPr/>
            </p:nvSpPr>
            <p:spPr>
              <a:xfrm>
                <a:off x="677430" y="1480814"/>
                <a:ext cx="4075546" cy="9318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 kern="1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zh-TW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altLang="zh-TW" sz="2000" kern="10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effectLst/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D3F919-F844-A4B0-EB01-86D28C30E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30" y="1480814"/>
                <a:ext cx="4075546" cy="931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472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3C84407-02AF-5B3E-EEE9-BBE8D297B95C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色彩基礎大綱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0FBD479-B5AC-85AF-38BD-B89722B926D1}"/>
              </a:ext>
            </a:extLst>
          </p:cNvPr>
          <p:cNvSpPr txBox="1"/>
          <p:nvPr/>
        </p:nvSpPr>
        <p:spPr>
          <a:xfrm>
            <a:off x="505325" y="1065875"/>
            <a:ext cx="6553201" cy="43938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影像的色彩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</a:t>
            </a:r>
            <a:r>
              <a:rPr lang="zh-TW" altLang="en-US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en-US" altLang="zh-TW" sz="4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色彩影像處理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彩色影像</a:t>
            </a:r>
            <a:r>
              <a:rPr lang="zh-TW" altLang="en-US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8AE853-77C1-32A2-7725-46EC13D5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006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D9EC-02A6-688C-3B34-8DCA1E68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4A099D2-CE9D-86C7-546B-BBCFFBBE5638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色彩基礎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79BD785-C7D9-3535-5FF3-9ED5D391D535}"/>
              </a:ext>
            </a:extLst>
          </p:cNvPr>
          <p:cNvSpPr txBox="1"/>
          <p:nvPr/>
        </p:nvSpPr>
        <p:spPr>
          <a:xfrm>
            <a:off x="505324" y="1090482"/>
            <a:ext cx="10323097" cy="32859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色彩是一種</a:t>
            </a:r>
            <a:r>
              <a:rPr lang="zh-TW" altLang="en-US" sz="4800" dirty="0">
                <a:solidFill>
                  <a:schemeClr val="accent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有效的描述子</a:t>
            </a:r>
            <a:endParaRPr lang="en-US" altLang="zh-TW" sz="4800" dirty="0">
              <a:solidFill>
                <a:schemeClr val="accent6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人類能辨識的</a:t>
            </a:r>
            <a:r>
              <a:rPr lang="zh-TW" altLang="en-US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灰階值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只有</a:t>
            </a:r>
            <a:r>
              <a:rPr lang="zh-TW" altLang="en-US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二十幾種</a:t>
            </a:r>
            <a:endParaRPr lang="en-US" altLang="zh-TW" sz="4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人類能辨識的</a:t>
            </a:r>
            <a:r>
              <a:rPr lang="zh-TW" altLang="en-US" sz="4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</a:t>
            </a:r>
            <a:r>
              <a:rPr lang="zh-TW" altLang="en-US" sz="4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幾千種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2E8CED-3AD6-E90F-F00E-8158BE89D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8496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23F6-3C8C-FC5B-5E03-D949A5CF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A2B1A0B-FE78-C786-4617-C38EDDA990E6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色彩基礎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03FCDF5-186C-CBB6-A8C6-A93E3017D006}"/>
              </a:ext>
            </a:extLst>
          </p:cNvPr>
          <p:cNvSpPr txBox="1"/>
          <p:nvPr/>
        </p:nvSpPr>
        <p:spPr>
          <a:xfrm>
            <a:off x="489281" y="1150189"/>
            <a:ext cx="10323097" cy="48990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彩色影像兩大領域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全色彩</a:t>
            </a:r>
            <a:r>
              <a:rPr lang="en-US" altLang="zh-TW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(full-color)</a:t>
            </a:r>
          </a:p>
          <a:p>
            <a:pPr marL="1600200" lvl="2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影像由全彩色影像感應器獲取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4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虛擬色彩</a:t>
            </a:r>
            <a:r>
              <a:rPr lang="en-US" altLang="zh-TW" sz="4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(pseudo-color)</a:t>
            </a:r>
          </a:p>
          <a:p>
            <a:pPr marL="1600200" lvl="2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對一種特定的單色強度或強度範圍賦予一種顏色</a:t>
            </a:r>
          </a:p>
        </p:txBody>
      </p:sp>
      <p:pic>
        <p:nvPicPr>
          <p:cNvPr id="1026" name="Picture 2" descr="Pseudo Color Image | Free Software Lab">
            <a:extLst>
              <a:ext uri="{FF2B5EF4-FFF2-40B4-BE49-F238E27FC236}">
                <a16:creationId xmlns:a16="http://schemas.microsoft.com/office/drawing/2014/main" id="{EA4295A6-7280-90CD-91C7-F1C25EF3B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81936" y="3433011"/>
            <a:ext cx="1892969" cy="18451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萊娜圖- 維基百科，自由的百科全書">
            <a:extLst>
              <a:ext uri="{FF2B5EF4-FFF2-40B4-BE49-F238E27FC236}">
                <a16:creationId xmlns:a16="http://schemas.microsoft.com/office/drawing/2014/main" id="{2B1B3281-E5AD-AE84-082C-8F3AC6AF9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134" y="1619250"/>
            <a:ext cx="1889961" cy="188996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4DA2B4-45A1-F4FA-3F35-9A79820F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345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94"/>
          <a:stretch/>
        </p:blipFill>
        <p:spPr bwMode="auto">
          <a:xfrm>
            <a:off x="3898232" y="1522981"/>
            <a:ext cx="8100256" cy="268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0733" y="4491393"/>
            <a:ext cx="8241267" cy="2366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568D1B2-7FAB-0685-9D09-3CA034AA007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色彩基礎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84A2AF5-5A2F-00E4-A779-E1D9E7D78A37}"/>
              </a:ext>
            </a:extLst>
          </p:cNvPr>
          <p:cNvSpPr txBox="1"/>
          <p:nvPr/>
        </p:nvSpPr>
        <p:spPr>
          <a:xfrm>
            <a:off x="200523" y="1611169"/>
            <a:ext cx="3441035" cy="7440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因折射率不同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8288239-DBE5-DE8C-6443-A8F86C917C49}"/>
              </a:ext>
            </a:extLst>
          </p:cNvPr>
          <p:cNvSpPr txBox="1"/>
          <p:nvPr/>
        </p:nvSpPr>
        <p:spPr>
          <a:xfrm>
            <a:off x="834186" y="2546558"/>
            <a:ext cx="2598822" cy="151209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紅</a:t>
            </a:r>
            <a:r>
              <a:rPr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3200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橙</a:t>
            </a:r>
            <a:r>
              <a:rPr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3200" dirty="0">
                <a:solidFill>
                  <a:srgbClr val="F9FF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黃</a:t>
            </a:r>
            <a:endParaRPr lang="en-US" altLang="zh-TW" sz="3200" dirty="0">
              <a:solidFill>
                <a:srgbClr val="F9FF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綠</a:t>
            </a:r>
            <a:r>
              <a:rPr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藍</a:t>
            </a:r>
            <a:r>
              <a:rPr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3200" dirty="0">
                <a:solidFill>
                  <a:srgbClr val="3A3F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9A6609-B189-2269-9B22-AFE6E4A0C1EB}"/>
              </a:ext>
            </a:extLst>
          </p:cNvPr>
          <p:cNvSpPr txBox="1"/>
          <p:nvPr/>
        </p:nvSpPr>
        <p:spPr>
          <a:xfrm>
            <a:off x="192502" y="5228662"/>
            <a:ext cx="3689687" cy="7440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波長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400~700nm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73AE5689-6927-7DD7-FD71-B4A54C9A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488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069A-4059-E64F-2D1E-7C4ACDB1E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52FFE2F-3A02-CC35-A446-6D8898C5C487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色彩三種基本量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99E8824-119B-DD16-4114-592A60981B58}"/>
              </a:ext>
            </a:extLst>
          </p:cNvPr>
          <p:cNvSpPr txBox="1"/>
          <p:nvPr/>
        </p:nvSpPr>
        <p:spPr>
          <a:xfrm>
            <a:off x="320838" y="1266305"/>
            <a:ext cx="8839204" cy="221983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輻射度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光源輻射出來的總能量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瓦特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照度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觀察者從光源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感受到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的能量大小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流明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不可量測的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主觀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描述子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E2D3FEB-069B-C31B-BC17-49048B61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4DB2784-ECB0-A6F5-3D82-EA6B70CF8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3410" y="3684549"/>
            <a:ext cx="6793544" cy="28445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3590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61992" y="1789222"/>
            <a:ext cx="7105420" cy="4370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EE37BF-82BB-558F-7446-81D5FA08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9760005-24E8-C70A-6E15-72F72DF6D3E1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人眼錐狀體三個感應類別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807389-1BF1-EF1E-7EFE-66F81B96B185}"/>
              </a:ext>
            </a:extLst>
          </p:cNvPr>
          <p:cNvSpPr txBox="1"/>
          <p:nvPr/>
        </p:nvSpPr>
        <p:spPr>
          <a:xfrm>
            <a:off x="320838" y="1602825"/>
            <a:ext cx="4539920" cy="29585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65%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感應紅光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33%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感應綠光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32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%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感應藍光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紅藍綠定義為三原色</a:t>
            </a:r>
          </a:p>
        </p:txBody>
      </p:sp>
    </p:spTree>
    <p:extLst>
      <p:ext uri="{BB962C8B-B14F-4D97-AF65-F5344CB8AC3E}">
        <p14:creationId xmlns:p14="http://schemas.microsoft.com/office/powerpoint/2010/main" val="1685594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37095" y="1388023"/>
            <a:ext cx="3343052" cy="5076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2922E5-8A3C-CE84-B670-B6F15BF0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4FECC95-9032-84D7-E20D-8BF7D4BC5E2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光的次色彩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CDBD1F-369B-7800-CD98-F98081E1502D}"/>
              </a:ext>
            </a:extLst>
          </p:cNvPr>
          <p:cNvSpPr txBox="1"/>
          <p:nvPr/>
        </p:nvSpPr>
        <p:spPr>
          <a:xfrm>
            <a:off x="465217" y="1458083"/>
            <a:ext cx="6657478" cy="36971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三原色相加可產生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光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的次色彩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ED333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紅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3200" dirty="0">
                <a:solidFill>
                  <a:srgbClr val="01B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藍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200" dirty="0">
                <a:solidFill>
                  <a:srgbClr val="EC279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紫</a:t>
            </a:r>
            <a:endParaRPr lang="en-US" altLang="zh-TW" sz="3200" dirty="0">
              <a:solidFill>
                <a:srgbClr val="EC279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01B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藍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3200" dirty="0">
                <a:solidFill>
                  <a:srgbClr val="00A85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綠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200" dirty="0">
                <a:solidFill>
                  <a:srgbClr val="4FBB8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</a:t>
            </a:r>
            <a:endParaRPr lang="en-US" altLang="zh-TW" sz="3200" dirty="0">
              <a:solidFill>
                <a:srgbClr val="4FBB8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00A85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綠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3200" dirty="0">
                <a:solidFill>
                  <a:srgbClr val="ED333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紅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200" dirty="0">
                <a:solidFill>
                  <a:srgbClr val="FFF2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黃</a:t>
            </a:r>
            <a:endParaRPr lang="en-US" altLang="zh-TW" sz="3200" dirty="0">
              <a:solidFill>
                <a:srgbClr val="FFF21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ED333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紅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3200" dirty="0">
                <a:solidFill>
                  <a:srgbClr val="01B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藍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3200" dirty="0">
                <a:solidFill>
                  <a:srgbClr val="00A85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綠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白色</a:t>
            </a:r>
          </a:p>
        </p:txBody>
      </p:sp>
    </p:spTree>
    <p:extLst>
      <p:ext uri="{BB962C8B-B14F-4D97-AF65-F5344CB8AC3E}">
        <p14:creationId xmlns:p14="http://schemas.microsoft.com/office/powerpoint/2010/main" val="1527372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40E5-4781-65F0-0A79-4B4EECD0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11EBB62-CFF3-4456-91D1-B9E2A7728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37095" y="1388023"/>
            <a:ext cx="3343052" cy="5076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53DF30-34E1-1B94-6B52-26C9E7F3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5D47E7-472A-05B5-C5F4-A5B5774C3A4F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顏料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原色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CBEC8F-0AA2-36A3-CE38-8D74E147635F}"/>
              </a:ext>
            </a:extLst>
          </p:cNvPr>
          <p:cNvSpPr txBox="1"/>
          <p:nvPr/>
        </p:nvSpPr>
        <p:spPr>
          <a:xfrm>
            <a:off x="304794" y="848078"/>
            <a:ext cx="7603963" cy="29600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顏料原色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(Cyan, C)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洋紅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(Magenta, M) 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黃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(Yellow, Y)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E47B1D5-2380-8C6A-5E01-85162386E06A}"/>
              </a:ext>
            </a:extLst>
          </p:cNvPr>
          <p:cNvSpPr txBox="1"/>
          <p:nvPr/>
        </p:nvSpPr>
        <p:spPr>
          <a:xfrm>
            <a:off x="457928" y="4091296"/>
            <a:ext cx="6272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TW" altLang="en-US" sz="3200" dirty="0">
                <a:solidFill>
                  <a:srgbClr val="4FBB8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青色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(Cyan, C)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吸收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紅光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(R)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，反射</a:t>
            </a:r>
            <a:r>
              <a:rPr lang="zh-TW" altLang="en-US" sz="2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綠光</a:t>
            </a:r>
            <a:r>
              <a:rPr lang="en-US" altLang="zh-TW" sz="2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(G)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藍光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(B)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C549D91-7444-1CF6-73F9-5FCB4C6A076F}"/>
              </a:ext>
            </a:extLst>
          </p:cNvPr>
          <p:cNvSpPr txBox="1"/>
          <p:nvPr/>
        </p:nvSpPr>
        <p:spPr>
          <a:xfrm>
            <a:off x="457928" y="5416020"/>
            <a:ext cx="70745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3200">
                <a:solidFill>
                  <a:srgbClr val="4FBB8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zh-TW" altLang="en-US" dirty="0"/>
              <a:t>青 </a:t>
            </a:r>
            <a:r>
              <a:rPr lang="en-US" altLang="zh-TW" dirty="0"/>
              <a:t>(C) </a:t>
            </a:r>
            <a:r>
              <a:rPr lang="en-US" altLang="zh-TW" dirty="0">
                <a:solidFill>
                  <a:schemeClr val="tx1"/>
                </a:solidFill>
              </a:rPr>
              <a:t>+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EC2790"/>
                </a:solidFill>
              </a:rPr>
              <a:t>洋紅 </a:t>
            </a:r>
            <a:r>
              <a:rPr lang="en-US" altLang="zh-TW" dirty="0">
                <a:solidFill>
                  <a:srgbClr val="EC2790"/>
                </a:solidFill>
              </a:rPr>
              <a:t>(M) </a:t>
            </a:r>
            <a:r>
              <a:rPr lang="en-US" altLang="zh-TW" dirty="0">
                <a:solidFill>
                  <a:schemeClr val="tx1"/>
                </a:solidFill>
              </a:rPr>
              <a:t>=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FF"/>
                </a:solidFill>
              </a:rPr>
              <a:t>藍 </a:t>
            </a:r>
            <a:r>
              <a:rPr lang="en-US" altLang="zh-TW" dirty="0">
                <a:solidFill>
                  <a:srgbClr val="0000FF"/>
                </a:solidFill>
              </a:rPr>
              <a:t>(Blue, B)</a:t>
            </a:r>
            <a:r>
              <a:rPr lang="zh-TW" altLang="en-US" dirty="0">
                <a:solidFill>
                  <a:schemeClr val="tx1"/>
                </a:solidFill>
              </a:rPr>
              <a:t>：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/>
              <a:t>青</a:t>
            </a:r>
            <a:r>
              <a:rPr lang="zh-TW" altLang="en-US" dirty="0">
                <a:solidFill>
                  <a:srgbClr val="FF0000"/>
                </a:solidFill>
              </a:rPr>
              <a:t>吸收紅</a:t>
            </a:r>
            <a:r>
              <a:rPr lang="zh-TW" altLang="en-US" dirty="0">
                <a:solidFill>
                  <a:schemeClr val="tx1"/>
                </a:solidFill>
              </a:rPr>
              <a:t>，</a:t>
            </a:r>
            <a:r>
              <a:rPr lang="zh-TW" altLang="en-US" dirty="0">
                <a:solidFill>
                  <a:srgbClr val="EC2790"/>
                </a:solidFill>
              </a:rPr>
              <a:t>洋紅</a:t>
            </a:r>
            <a:r>
              <a:rPr lang="zh-TW" altLang="en-US" dirty="0">
                <a:solidFill>
                  <a:srgbClr val="00A85A"/>
                </a:solidFill>
              </a:rPr>
              <a:t>吸收綠</a:t>
            </a:r>
            <a:r>
              <a:rPr lang="zh-TW" altLang="en-US" dirty="0">
                <a:solidFill>
                  <a:schemeClr val="tx1"/>
                </a:solidFill>
              </a:rPr>
              <a:t>，只剩下</a:t>
            </a:r>
            <a:r>
              <a:rPr lang="zh-TW" altLang="en-US" dirty="0">
                <a:solidFill>
                  <a:srgbClr val="0000FF"/>
                </a:solidFill>
              </a:rPr>
              <a:t>藍光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7A2CC0A-994C-B754-218E-FFAAC2BDDFD5}"/>
              </a:ext>
            </a:extLst>
          </p:cNvPr>
          <p:cNvCxnSpPr>
            <a:cxnSpLocks/>
          </p:cNvCxnSpPr>
          <p:nvPr/>
        </p:nvCxnSpPr>
        <p:spPr>
          <a:xfrm>
            <a:off x="457928" y="5283200"/>
            <a:ext cx="72505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B916165-5CC4-134D-B7A3-20D27F8DB057}"/>
              </a:ext>
            </a:extLst>
          </p:cNvPr>
          <p:cNvCxnSpPr>
            <a:cxnSpLocks/>
          </p:cNvCxnSpPr>
          <p:nvPr/>
        </p:nvCxnSpPr>
        <p:spPr>
          <a:xfrm>
            <a:off x="457928" y="4003963"/>
            <a:ext cx="72505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462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FE7F-6F5B-B082-CFB0-6E4D5864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9F4763-7BC8-8053-91F6-75E4F182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F761B8-19AE-A32B-F941-E8768B886C3D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色彩特徵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70FB8E9-D5CA-5B61-3B26-147872CA4DF0}"/>
              </a:ext>
            </a:extLst>
          </p:cNvPr>
          <p:cNvSpPr txBox="1"/>
          <p:nvPr/>
        </p:nvSpPr>
        <p:spPr>
          <a:xfrm>
            <a:off x="244135" y="917301"/>
            <a:ext cx="7603963" cy="4435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一般用於區別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色彩特徵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(brightness)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(hue)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飽和度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(saturation)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飽和程度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與加入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白光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的數量呈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反比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粉色、淺藍色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574D3F47-6C5F-529B-4FAF-EFD127123AF2}"/>
              </a:ext>
            </a:extLst>
          </p:cNvPr>
          <p:cNvGrpSpPr/>
          <p:nvPr/>
        </p:nvGrpSpPr>
        <p:grpSpPr>
          <a:xfrm>
            <a:off x="7344577" y="1208212"/>
            <a:ext cx="4715577" cy="4715577"/>
            <a:chOff x="6614791" y="1439486"/>
            <a:chExt cx="4715577" cy="471557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098" name="Picture 2" descr="Amazon.com: Philips 飛利浦Hue 白光和彩光氣氛4件組智慧改造嵌入式筒燈4 : 家居裝修">
              <a:extLst>
                <a:ext uri="{FF2B5EF4-FFF2-40B4-BE49-F238E27FC236}">
                  <a16:creationId xmlns:a16="http://schemas.microsoft.com/office/drawing/2014/main" id="{DD6B3ADE-E033-CD57-A3D6-50FC20847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4791" y="1439486"/>
              <a:ext cx="4715577" cy="4715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EDB216FC-7FB9-38BD-A80C-D7ABB431E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4514" y="2197475"/>
              <a:ext cx="695107" cy="690106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BA221B83-4FAE-F505-045B-C040FA052D0D}"/>
              </a:ext>
            </a:extLst>
          </p:cNvPr>
          <p:cNvSpPr/>
          <p:nvPr/>
        </p:nvSpPr>
        <p:spPr>
          <a:xfrm>
            <a:off x="1685925" y="5372100"/>
            <a:ext cx="561975" cy="523875"/>
          </a:xfrm>
          <a:prstGeom prst="rect">
            <a:avLst/>
          </a:prstGeom>
          <a:solidFill>
            <a:srgbClr val="FFDDFF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B72F99-88E0-F68C-DFBE-DBEC1394AE76}"/>
              </a:ext>
            </a:extLst>
          </p:cNvPr>
          <p:cNvSpPr/>
          <p:nvPr/>
        </p:nvSpPr>
        <p:spPr>
          <a:xfrm>
            <a:off x="3095625" y="5372100"/>
            <a:ext cx="561975" cy="523875"/>
          </a:xfrm>
          <a:prstGeom prst="rect">
            <a:avLst/>
          </a:prstGeom>
          <a:solidFill>
            <a:srgbClr val="DDF4FF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9226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0B451-07AF-100B-EA60-570EDDA15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21F763-4592-1D9A-0E18-F151B02B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725D153-00C0-8FBB-47FE-200337EE77DD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色彩空間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911DC2-B03F-3125-DB88-C6ACD1568E59}"/>
              </a:ext>
            </a:extLst>
          </p:cNvPr>
          <p:cNvSpPr txBox="1"/>
          <p:nvPr/>
        </p:nvSpPr>
        <p:spPr>
          <a:xfrm>
            <a:off x="241127" y="1130979"/>
            <a:ext cx="11680163" cy="53860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色彩模型皆源自硬體導向或應用導向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色彩操作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為目標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常用的硬體導向模型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CMYK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600200" lvl="2" indent="-6858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(Cyan, C)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、洋紅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(Magenta, M) 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、黃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(Yellow, Y)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、黑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blacK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K)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600200" lvl="2" indent="-6858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色調、飽和、強度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226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75481" y="930786"/>
            <a:ext cx="6216519" cy="515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ABCB482-4C8D-3051-57E4-A923FE5B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6632CE1-C318-6614-99E3-33BF27D87626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endParaRPr lang="zh-TW" altLang="en-US" sz="4800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7B4883-EB13-D9BE-CA58-01B738B5A596}"/>
              </a:ext>
            </a:extLst>
          </p:cNvPr>
          <p:cNvSpPr txBox="1"/>
          <p:nvPr/>
        </p:nvSpPr>
        <p:spPr>
          <a:xfrm>
            <a:off x="417590" y="1202260"/>
            <a:ext cx="5935084" cy="33184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建立在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直角坐標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紅藍綠</a:t>
            </a:r>
            <a:endParaRPr lang="en-US" altLang="zh-TW" sz="3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次原色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在另外三個頂點上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灰階值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為黑色到白色連線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1D6F25B-3466-4DF2-6C89-48BA4007F3DA}"/>
              </a:ext>
            </a:extLst>
          </p:cNvPr>
          <p:cNvSpPr/>
          <p:nvPr/>
        </p:nvSpPr>
        <p:spPr>
          <a:xfrm>
            <a:off x="7812505" y="1876926"/>
            <a:ext cx="545432" cy="545432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DE00F47-8CF1-5374-017D-79A6E7190AE3}"/>
              </a:ext>
            </a:extLst>
          </p:cNvPr>
          <p:cNvSpPr/>
          <p:nvPr/>
        </p:nvSpPr>
        <p:spPr>
          <a:xfrm>
            <a:off x="7050504" y="5125453"/>
            <a:ext cx="545432" cy="545432"/>
          </a:xfrm>
          <a:prstGeom prst="ellipse">
            <a:avLst/>
          </a:prstGeom>
          <a:noFill/>
          <a:ln w="76200">
            <a:solidFill>
              <a:srgbClr val="ED33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4953CA4-105C-12A7-2001-D6E9F2BCEC58}"/>
              </a:ext>
            </a:extLst>
          </p:cNvPr>
          <p:cNvSpPr/>
          <p:nvPr/>
        </p:nvSpPr>
        <p:spPr>
          <a:xfrm>
            <a:off x="10315072" y="4395537"/>
            <a:ext cx="545432" cy="545432"/>
          </a:xfrm>
          <a:prstGeom prst="ellipse">
            <a:avLst/>
          </a:prstGeom>
          <a:noFill/>
          <a:ln w="76200">
            <a:solidFill>
              <a:srgbClr val="00A8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AC72D64-BF38-18A6-E448-9365FC226382}"/>
              </a:ext>
            </a:extLst>
          </p:cNvPr>
          <p:cNvSpPr/>
          <p:nvPr/>
        </p:nvSpPr>
        <p:spPr>
          <a:xfrm>
            <a:off x="6761745" y="2671011"/>
            <a:ext cx="545432" cy="545432"/>
          </a:xfrm>
          <a:prstGeom prst="ellipse">
            <a:avLst/>
          </a:prstGeom>
          <a:noFill/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529FFECB-4237-0640-402A-C74285A03754}"/>
              </a:ext>
            </a:extLst>
          </p:cNvPr>
          <p:cNvSpPr/>
          <p:nvPr/>
        </p:nvSpPr>
        <p:spPr>
          <a:xfrm>
            <a:off x="10443408" y="1989222"/>
            <a:ext cx="545432" cy="545432"/>
          </a:xfrm>
          <a:prstGeom prst="ellipse">
            <a:avLst/>
          </a:prstGeom>
          <a:noFill/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9ED01E18-9591-26BB-1596-65A87F66207D}"/>
              </a:ext>
            </a:extLst>
          </p:cNvPr>
          <p:cNvSpPr/>
          <p:nvPr/>
        </p:nvSpPr>
        <p:spPr>
          <a:xfrm>
            <a:off x="9296397" y="5061285"/>
            <a:ext cx="545432" cy="545432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B6A5CC9-1C3B-27DF-3C22-2DFAE9DB4D29}"/>
              </a:ext>
            </a:extLst>
          </p:cNvPr>
          <p:cNvSpPr/>
          <p:nvPr/>
        </p:nvSpPr>
        <p:spPr>
          <a:xfrm rot="18756339">
            <a:off x="7318725" y="3422183"/>
            <a:ext cx="3022122" cy="87191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5032501-2B2F-C8E7-4A29-5C96A5D703E4}"/>
              </a:ext>
            </a:extLst>
          </p:cNvPr>
          <p:cNvSpPr txBox="1"/>
          <p:nvPr/>
        </p:nvSpPr>
        <p:spPr>
          <a:xfrm>
            <a:off x="7010399" y="5855368"/>
            <a:ext cx="3076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皆為同樣數值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DD52BCD-C066-ADBA-81F3-840C5A936869}"/>
              </a:ext>
            </a:extLst>
          </p:cNvPr>
          <p:cNvCxnSpPr>
            <a:stCxn id="12" idx="3"/>
          </p:cNvCxnSpPr>
          <p:nvPr/>
        </p:nvCxnSpPr>
        <p:spPr>
          <a:xfrm flipH="1">
            <a:off x="8325852" y="4853255"/>
            <a:ext cx="7522" cy="10341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649A4D5-15A4-0A7A-BF73-082D1B5FED54}"/>
              </a:ext>
            </a:extLst>
          </p:cNvPr>
          <p:cNvSpPr txBox="1"/>
          <p:nvPr/>
        </p:nvSpPr>
        <p:spPr>
          <a:xfrm>
            <a:off x="1187117" y="4539916"/>
            <a:ext cx="250902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(0,0,0)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(122,122,122)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(255,255,255)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135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A36EF-C64D-8ED1-DCC7-959103A0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3F93B53-0BE9-A97B-17D6-CAF06608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BB3F8A6-0F06-C866-79DD-8030CB98C2B6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endParaRPr lang="zh-TW" altLang="en-US" sz="4800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11F64BF-D215-DA8D-988C-7525B6E18A0A}"/>
              </a:ext>
            </a:extLst>
          </p:cNvPr>
          <p:cNvSpPr txBox="1"/>
          <p:nvPr/>
        </p:nvSpPr>
        <p:spPr>
          <a:xfrm>
            <a:off x="321335" y="1393169"/>
            <a:ext cx="6945737" cy="24874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個別的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位元影像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彩色影像有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位元的</a:t>
            </a: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像素深度</a:t>
            </a:r>
            <a:endParaRPr lang="en-US" altLang="zh-TW" sz="36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稱此影像為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全彩影像</a:t>
            </a: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(full-color)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5AF1051-DE9D-CB35-5386-1C19A36AA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58604" y="1668377"/>
            <a:ext cx="4605060" cy="4203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9111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216 Windows colors - blue">
            <a:extLst>
              <a:ext uri="{FF2B5EF4-FFF2-40B4-BE49-F238E27FC236}">
                <a16:creationId xmlns:a16="http://schemas.microsoft.com/office/drawing/2014/main" id="{E24DBDD6-7A30-9DC2-613F-0AEEA6C7F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75" l="0" r="99414">
                        <a14:foregroundMark x1="4492" y1="58202" x2="16797" y2="23371"/>
                        <a14:foregroundMark x1="16797" y1="23371" x2="29883" y2="6517"/>
                        <a14:foregroundMark x1="29883" y1="6517" x2="43945" y2="5618"/>
                        <a14:foregroundMark x1="43945" y1="5618" x2="65430" y2="7865"/>
                        <a14:foregroundMark x1="65430" y1="7865" x2="76172" y2="16629"/>
                        <a14:foregroundMark x1="76172" y1="16629" x2="87500" y2="35955"/>
                        <a14:foregroundMark x1="87500" y1="35955" x2="90625" y2="49888"/>
                        <a14:foregroundMark x1="90625" y1="49888" x2="83984" y2="66067"/>
                        <a14:foregroundMark x1="83984" y1="66067" x2="66797" y2="90787"/>
                        <a14:foregroundMark x1="66797" y1="90787" x2="28711" y2="93258"/>
                        <a14:foregroundMark x1="26172" y1="97079" x2="24414" y2="99551"/>
                        <a14:foregroundMark x1="7227" y1="52584" x2="195" y2="50337"/>
                        <a14:foregroundMark x1="29297" y1="10787" x2="24023" y2="0"/>
                        <a14:foregroundMark x1="24023" y1="0" x2="24023" y2="0"/>
                        <a14:foregroundMark x1="25586" y1="17978" x2="25977" y2="2921"/>
                        <a14:foregroundMark x1="25977" y1="14157" x2="23633" y2="4270"/>
                        <a14:foregroundMark x1="90625" y1="49213" x2="99609" y2="50562"/>
                        <a14:foregroundMark x1="71875" y1="72584" x2="72852" y2="60899"/>
                        <a14:foregroundMark x1="31250" y1="71236" x2="23438" y2="69888"/>
                        <a14:foregroundMark x1="24609" y1="90562" x2="24414" y2="64719"/>
                        <a14:foregroundMark x1="24609" y1="89888" x2="24414" y2="99775"/>
                        <a14:foregroundMark x1="74805" y1="96180" x2="74805" y2="80225"/>
                        <a14:foregroundMark x1="23828" y1="34607" x2="24609" y2="225"/>
                        <a14:foregroundMark x1="9961" y1="42921" x2="781" y2="48989"/>
                        <a14:foregroundMark x1="24414" y1="67191" x2="195" y2="51011"/>
                        <a14:foregroundMark x1="62695" y1="7640" x2="75195" y2="1573"/>
                        <a14:foregroundMark x1="66406" y1="6067" x2="75391" y2="449"/>
                        <a14:foregroundMark x1="74414" y1="13258" x2="74805" y2="899"/>
                        <a14:foregroundMark x1="74805" y1="899" x2="74805" y2="899"/>
                        <a14:foregroundMark x1="74609" y1="16180" x2="74805" y2="7640"/>
                        <a14:backgroundMark x1="82617" y1="99101" x2="99219" y2="997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768" y="1570373"/>
            <a:ext cx="5340832" cy="464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4B3FF2-6B28-B83D-F375-1CBCB5F5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9F8E22-900E-9F29-BC6F-1046999441D2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216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色安全色彩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199B5F-9F64-EB14-E626-CD01E7A1C9B6}"/>
              </a:ext>
            </a:extLst>
          </p:cNvPr>
          <p:cNvSpPr txBox="1"/>
          <p:nvPr/>
        </p:nvSpPr>
        <p:spPr>
          <a:xfrm>
            <a:off x="348357" y="1482452"/>
            <a:ext cx="7009905" cy="4147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216</a:t>
            </a: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標準安全色彩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每一色階由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組成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每個值都只用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51</a:t>
            </a:r>
            <a:r>
              <a:rPr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102</a:t>
            </a:r>
            <a:r>
              <a:rPr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153</a:t>
            </a:r>
            <a:r>
              <a:rPr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204</a:t>
            </a:r>
            <a:r>
              <a:rPr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255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73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653C8-74AF-348E-58D4-DB04DC5E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5D5E5B8-921A-ADCF-ED89-6434B71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CCA9FF0-47E4-4283-5C09-185C4683F2FE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CMYK</a:t>
            </a:r>
            <a:endParaRPr lang="zh-TW" altLang="en-US" sz="4800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6A8A8B0-F402-9B7B-EDBF-AFC6313ADC0A}"/>
              </a:ext>
            </a:extLst>
          </p:cNvPr>
          <p:cNvSpPr txBox="1"/>
          <p:nvPr/>
        </p:nvSpPr>
        <p:spPr>
          <a:xfrm>
            <a:off x="698324" y="1206679"/>
            <a:ext cx="10017802" cy="24874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印刷常用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CMY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模型，須將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 CMY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青紫黃三色只能混出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混濁黑色</a:t>
            </a:r>
            <a:endParaRPr lang="en-US" altLang="zh-TW" sz="3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四色印刷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加入黑色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為第四種原色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23022AE-321D-27A9-018B-2CD8659F51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02392" y="3791399"/>
            <a:ext cx="3771815" cy="265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6D14FB5-6DA9-FD03-B210-B0ED829327F1}"/>
              </a:ext>
            </a:extLst>
          </p:cNvPr>
          <p:cNvSpPr txBox="1"/>
          <p:nvPr/>
        </p:nvSpPr>
        <p:spPr>
          <a:xfrm>
            <a:off x="3534277" y="4015540"/>
            <a:ext cx="141577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青色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紫色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黃色</a:t>
            </a:r>
          </a:p>
        </p:txBody>
      </p:sp>
    </p:spTree>
    <p:extLst>
      <p:ext uri="{BB962C8B-B14F-4D97-AF65-F5344CB8AC3E}">
        <p14:creationId xmlns:p14="http://schemas.microsoft.com/office/powerpoint/2010/main" val="3615148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5C4B-67F6-E54D-F3A4-39352FFC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473C8E8-29A8-505B-C4B7-BACFF856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3E0EAA6-8B5E-0ACE-2494-0F8B07B49BF9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HIS</a:t>
            </a:r>
            <a:r>
              <a:rPr lang="zh-TW" altLang="en-US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1BD5405-AB8E-35FB-0149-2A349661B6A9}"/>
              </a:ext>
            </a:extLst>
          </p:cNvPr>
          <p:cNvSpPr txBox="1"/>
          <p:nvPr/>
        </p:nvSpPr>
        <p:spPr>
          <a:xfrm>
            <a:off x="521861" y="1290950"/>
            <a:ext cx="10017802" cy="41477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模型對描述一個物體並不實用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HIS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(Hue):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色彩的主要成分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飽和度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(Saturation):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色彩混和白光的程度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(Intensity)</a:t>
            </a:r>
          </a:p>
        </p:txBody>
      </p:sp>
    </p:spTree>
    <p:extLst>
      <p:ext uri="{BB962C8B-B14F-4D97-AF65-F5344CB8AC3E}">
        <p14:creationId xmlns:p14="http://schemas.microsoft.com/office/powerpoint/2010/main" val="2930956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4934-7734-48CA-38E5-95BA25CC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4D5B49E3-83DA-115A-F82C-BB3B57B32A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5831" y="1731441"/>
            <a:ext cx="3850105" cy="468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74DA9AA-6007-90A3-9290-44BAA21B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9DC92F-1B69-8909-718A-4619685DC9FC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HIS</a:t>
            </a:r>
            <a:r>
              <a:rPr lang="zh-TW" altLang="en-US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C0A7FC0-9088-B913-C04F-52A1AC4FFC9D}"/>
              </a:ext>
            </a:extLst>
          </p:cNvPr>
          <p:cNvSpPr txBox="1"/>
          <p:nvPr/>
        </p:nvSpPr>
        <p:spPr>
          <a:xfrm>
            <a:off x="553945" y="1497036"/>
            <a:ext cx="6119571" cy="33184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黑白青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三色形成平面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整張平面皆為</a:t>
            </a: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青色色調</a:t>
            </a:r>
            <a:endParaRPr lang="en-US" altLang="zh-TW" sz="36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但是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飽和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度不同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023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4B034-DF44-7E14-7869-FA1562383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E08857A3-A14B-4784-CEF4-E364F36BC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8547" y="1969276"/>
            <a:ext cx="6032572" cy="3813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692234-8FD8-DF3A-5C1B-AF30EE2C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15245B-C182-3FDA-948F-2143101C639F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色彩模型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HIS</a:t>
            </a:r>
            <a:r>
              <a:rPr lang="zh-TW" altLang="en-US" sz="4800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7640AF0-55F9-B692-4F3D-FAC91FD7B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67040" y="1831594"/>
            <a:ext cx="5804118" cy="39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3749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9C8F9E0-3B0E-A516-3E45-C0351842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88C9493-A0A5-A5D4-AC47-24A66AC3A2DB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轉換到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FFD10AA-391B-AD23-D30C-39CD7255A72F}"/>
              </a:ext>
            </a:extLst>
          </p:cNvPr>
          <p:cNvSpPr txBox="1"/>
          <p:nvPr/>
        </p:nvSpPr>
        <p:spPr>
          <a:xfrm>
            <a:off x="0" y="1122948"/>
            <a:ext cx="4134465" cy="82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已知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像素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B002896-F416-83C4-E954-2C2BF33FB3DF}"/>
                  </a:ext>
                </a:extLst>
              </p:cNvPr>
              <p:cNvSpPr txBox="1"/>
              <p:nvPr/>
            </p:nvSpPr>
            <p:spPr>
              <a:xfrm>
                <a:off x="698500" y="2349163"/>
                <a:ext cx="3340100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B002896-F416-83C4-E954-2C2BF33FB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49163"/>
                <a:ext cx="3340100" cy="7861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D6765-F25B-A236-AE9E-7ED0E2565376}"/>
                  </a:ext>
                </a:extLst>
              </p:cNvPr>
              <p:cNvSpPr txBox="1"/>
              <p:nvPr/>
            </p:nvSpPr>
            <p:spPr>
              <a:xfrm>
                <a:off x="660400" y="3784263"/>
                <a:ext cx="7620000" cy="793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D6765-F25B-A236-AE9E-7ED0E256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3784263"/>
                <a:ext cx="7620000" cy="7934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A6F1F06-40B0-9B08-0BFB-FB69BD8FB746}"/>
                  </a:ext>
                </a:extLst>
              </p:cNvPr>
              <p:cNvSpPr txBox="1"/>
              <p:nvPr/>
            </p:nvSpPr>
            <p:spPr>
              <a:xfrm>
                <a:off x="647700" y="5066963"/>
                <a:ext cx="7620000" cy="964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0.5∗[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)]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A6F1F06-40B0-9B08-0BFB-FB69BD8FB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5066963"/>
                <a:ext cx="7620000" cy="964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70A42AC-68A6-B9AF-15B0-FC7DAF0B0316}"/>
                  </a:ext>
                </a:extLst>
              </p:cNvPr>
              <p:cNvSpPr txBox="1"/>
              <p:nvPr/>
            </p:nvSpPr>
            <p:spPr>
              <a:xfrm>
                <a:off x="6757775" y="5016500"/>
                <a:ext cx="2538644" cy="99604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B&gt;G: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20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e>
                        <m:sup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70A42AC-68A6-B9AF-15B0-FC7DAF0B0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775" y="5016500"/>
                <a:ext cx="2538644" cy="996042"/>
              </a:xfrm>
              <a:prstGeom prst="rect">
                <a:avLst/>
              </a:prstGeom>
              <a:blipFill>
                <a:blip r:embed="rId5"/>
                <a:stretch>
                  <a:fillRect t="-134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82341BDF-2E8D-79BB-BAC7-ABE35FD53627}"/>
              </a:ext>
            </a:extLst>
          </p:cNvPr>
          <p:cNvSpPr txBox="1"/>
          <p:nvPr/>
        </p:nvSpPr>
        <p:spPr>
          <a:xfrm>
            <a:off x="3365500" y="2413000"/>
            <a:ext cx="2943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(RGB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正規化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572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8628-16C8-B7F7-0388-EAE6B2F6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31DB18E-09D3-E090-DF77-4AA8DEE6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E4B7D34-4C2C-73CB-7553-F8CE17A265D2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轉換到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HIS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範例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(1):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89237F2-1CA4-581B-941A-802F81302F93}"/>
              </a:ext>
            </a:extLst>
          </p:cNvPr>
          <p:cNvSpPr txBox="1"/>
          <p:nvPr/>
        </p:nvSpPr>
        <p:spPr>
          <a:xfrm>
            <a:off x="0" y="932448"/>
            <a:ext cx="6067687" cy="82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已知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R=255,G=100,B=50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A74D1C2-BEB9-D43F-BC19-690C396FBEBA}"/>
                  </a:ext>
                </a:extLst>
              </p:cNvPr>
              <p:cNvSpPr txBox="1"/>
              <p:nvPr/>
            </p:nvSpPr>
            <p:spPr>
              <a:xfrm>
                <a:off x="192505" y="3023754"/>
                <a:ext cx="6047874" cy="786177"/>
              </a:xfrm>
              <a:prstGeom prst="rect">
                <a:avLst/>
              </a:prstGeom>
              <a:solidFill>
                <a:srgbClr val="F9EBF7"/>
              </a:solidFill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392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529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A74D1C2-BEB9-D43F-BC19-690C396FB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5" y="3023754"/>
                <a:ext cx="6047874" cy="7861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ABF4893-56BD-7867-9AD1-8508E89B9139}"/>
                  </a:ext>
                </a:extLst>
              </p:cNvPr>
              <p:cNvSpPr txBox="1"/>
              <p:nvPr/>
            </p:nvSpPr>
            <p:spPr>
              <a:xfrm>
                <a:off x="6442052" y="2974423"/>
                <a:ext cx="5520346" cy="809068"/>
              </a:xfrm>
              <a:prstGeom prst="rect">
                <a:avLst/>
              </a:prstGeom>
              <a:solidFill>
                <a:srgbClr val="E7F7E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196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529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63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ABF4893-56BD-7867-9AD1-8508E89B9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052" y="2974423"/>
                <a:ext cx="5520346" cy="8090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852492F-8430-A166-B6D7-65C4A59F9E81}"/>
                  </a:ext>
                </a:extLst>
              </p:cNvPr>
              <p:cNvSpPr txBox="1"/>
              <p:nvPr/>
            </p:nvSpPr>
            <p:spPr>
              <a:xfrm>
                <a:off x="192504" y="3714681"/>
                <a:ext cx="11774907" cy="2956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TW" alt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d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392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196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392</m:t>
                                      </m:r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196</m:t>
                                      </m:r>
                                    </m:e>
                                  </m:d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972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  <m:sup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852492F-8430-A166-B6D7-65C4A59F9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4" y="3714681"/>
                <a:ext cx="11774907" cy="29560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EEA77BD-4E75-2F9D-348D-6C09588DCC5B}"/>
                  </a:ext>
                </a:extLst>
              </p:cNvPr>
              <p:cNvSpPr txBox="1"/>
              <p:nvPr/>
            </p:nvSpPr>
            <p:spPr>
              <a:xfrm>
                <a:off x="8272416" y="4231773"/>
                <a:ext cx="2538644" cy="99604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B&gt;G: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20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e>
                        <m:sup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EEA77BD-4E75-2F9D-348D-6C09588DC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2416" y="4231773"/>
                <a:ext cx="2538644" cy="996042"/>
              </a:xfrm>
              <a:prstGeom prst="rect">
                <a:avLst/>
              </a:prstGeom>
              <a:blipFill>
                <a:blip r:embed="rId5"/>
                <a:stretch>
                  <a:fillRect t="-128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CF1533B-5B35-334F-7CED-E2BCFB6A38A2}"/>
                  </a:ext>
                </a:extLst>
              </p:cNvPr>
              <p:cNvSpPr txBox="1"/>
              <p:nvPr/>
            </p:nvSpPr>
            <p:spPr>
              <a:xfrm>
                <a:off x="0" y="1882092"/>
                <a:ext cx="7283116" cy="793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255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392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255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196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CF1533B-5B35-334F-7CED-E2BCFB6A3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82092"/>
                <a:ext cx="7283116" cy="7936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499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11BB9-9E1A-A6C6-5FFD-30E210E5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F7B430-C5AA-AD60-1350-997DE03C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21E668B-0711-560D-86C2-FFE618024327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轉換到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0A3C304-AE67-591B-F910-2CF65C92208E}"/>
              </a:ext>
            </a:extLst>
          </p:cNvPr>
          <p:cNvSpPr txBox="1"/>
          <p:nvPr/>
        </p:nvSpPr>
        <p:spPr>
          <a:xfrm>
            <a:off x="-192505" y="898358"/>
            <a:ext cx="3929281" cy="82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已知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HIS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B1A37D6-B78F-9E43-DF84-3000CD3BDA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91604" y="2741273"/>
            <a:ext cx="3400927" cy="362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FAE0C1BF-EF3A-FC7D-7C08-A54BCA59D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57937" y="2648230"/>
            <a:ext cx="3607676" cy="3704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674879E6-A68F-10A9-8815-CDCCDB567A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9811" y="3121955"/>
            <a:ext cx="3400926" cy="3224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E574A5E-4226-5580-C4EF-43714595BC85}"/>
              </a:ext>
            </a:extLst>
          </p:cNvPr>
          <p:cNvSpPr txBox="1"/>
          <p:nvPr/>
        </p:nvSpPr>
        <p:spPr>
          <a:xfrm>
            <a:off x="914399" y="1937084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0~120</a:t>
            </a:r>
            <a:endParaRPr lang="zh-TW" altLang="en-US" sz="3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079511D-44E6-BEFD-9D44-603E7F08CE0E}"/>
              </a:ext>
            </a:extLst>
          </p:cNvPr>
          <p:cNvSpPr txBox="1"/>
          <p:nvPr/>
        </p:nvSpPr>
        <p:spPr>
          <a:xfrm>
            <a:off x="4806358" y="1937084"/>
            <a:ext cx="2643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120~240</a:t>
            </a:r>
            <a:endParaRPr lang="zh-TW" altLang="en-US" sz="3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3DA8E03-CCC0-0B09-AB3A-BCDF7F2D5C36}"/>
              </a:ext>
            </a:extLst>
          </p:cNvPr>
          <p:cNvSpPr txBox="1"/>
          <p:nvPr/>
        </p:nvSpPr>
        <p:spPr>
          <a:xfrm>
            <a:off x="8726904" y="1937084"/>
            <a:ext cx="2643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240~360</a:t>
            </a:r>
            <a:endParaRPr lang="zh-TW" altLang="en-US" sz="3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F707536-D166-C579-58D4-4E4877E73380}"/>
              </a:ext>
            </a:extLst>
          </p:cNvPr>
          <p:cNvCxnSpPr/>
          <p:nvPr/>
        </p:nvCxnSpPr>
        <p:spPr>
          <a:xfrm>
            <a:off x="4203031" y="1684421"/>
            <a:ext cx="0" cy="481263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420B15DA-C931-B541-856B-D1E9EC4A9208}"/>
              </a:ext>
            </a:extLst>
          </p:cNvPr>
          <p:cNvCxnSpPr/>
          <p:nvPr/>
        </p:nvCxnSpPr>
        <p:spPr>
          <a:xfrm>
            <a:off x="8269705" y="1692442"/>
            <a:ext cx="0" cy="481263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5133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03C8-AB38-BB56-0BA2-3EA67F24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C39EC8-7111-7EB7-CBD4-4E281837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2681125-40F0-6E58-A977-DE0731889759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虛擬色彩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497660-E563-0E70-D302-40ED76DD52F6}"/>
              </a:ext>
            </a:extLst>
          </p:cNvPr>
          <p:cNvSpPr txBox="1"/>
          <p:nvPr/>
        </p:nvSpPr>
        <p:spPr>
          <a:xfrm>
            <a:off x="0" y="978570"/>
            <a:ext cx="7340471" cy="2487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虛擬色彩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(pseudo color)</a:t>
            </a: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供人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觀看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影像中的灰階事件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相較於灰階，色彩資訊</a:t>
            </a: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較豐富</a:t>
            </a:r>
          </a:p>
        </p:txBody>
      </p:sp>
      <p:pic>
        <p:nvPicPr>
          <p:cNvPr id="12290" name="Picture 2" descr="Bob's Imaging Fundamentals #3: Pseudocolor and LUTs | Possibility |  Teledyne Imaging">
            <a:extLst>
              <a:ext uri="{FF2B5EF4-FFF2-40B4-BE49-F238E27FC236}">
                <a16:creationId xmlns:a16="http://schemas.microsoft.com/office/drawing/2014/main" id="{B166C0B7-72FD-FBB0-B739-B9732E3028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36759" y="3518870"/>
            <a:ext cx="5578094" cy="305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935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C898-631F-A0E3-4528-3CCE95458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FA33D5-EA0A-C2CE-1F59-2D2E6BF4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7D708A-4CC0-46C6-9D47-C4C0D0FEA6CC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虛擬色彩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強度切片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B8E5B3-4806-3CDF-C339-6677EEFE2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916" y="2447552"/>
            <a:ext cx="3639130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0D2397C-389F-AF3C-8856-C385F5F50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770" y="2447552"/>
            <a:ext cx="3566668" cy="3600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CA3D99C-1F68-9688-DD31-A5D3D798786C}"/>
              </a:ext>
            </a:extLst>
          </p:cNvPr>
          <p:cNvSpPr txBox="1"/>
          <p:nvPr/>
        </p:nvSpPr>
        <p:spPr>
          <a:xfrm>
            <a:off x="0" y="1187117"/>
            <a:ext cx="2723823" cy="82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甲狀腺</a:t>
            </a:r>
          </a:p>
        </p:txBody>
      </p:sp>
    </p:spTree>
    <p:extLst>
      <p:ext uri="{BB962C8B-B14F-4D97-AF65-F5344CB8AC3E}">
        <p14:creationId xmlns:p14="http://schemas.microsoft.com/office/powerpoint/2010/main" val="3049916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93059C2-81E2-245C-249A-C82FF5D6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01A9F3C-96CC-D468-BE34-1766D086D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71" y="2485130"/>
            <a:ext cx="3860124" cy="32419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5D9E635-D262-E27E-2C8C-F6133F9B1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772" y="2499419"/>
            <a:ext cx="3845046" cy="319666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917786B-D119-CF41-11C5-8FE184E3A3AF}"/>
              </a:ext>
            </a:extLst>
          </p:cNvPr>
          <p:cNvSpPr txBox="1"/>
          <p:nvPr/>
        </p:nvSpPr>
        <p:spPr>
          <a:xfrm>
            <a:off x="0" y="1187117"/>
            <a:ext cx="4442242" cy="82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焊接體</a:t>
            </a:r>
            <a:r>
              <a:rPr lang="en-US" altLang="zh-TW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光影像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2EB7CDC-FBA5-17A0-4262-510D2D0F7EC4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虛擬色彩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強度切片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0153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822EA-4D12-5D9C-291D-9113712D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D43F14-753F-2BF1-48B7-6BBB780A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C7DEE0B-BD14-CABB-EC49-B1DA94FFE790}"/>
              </a:ext>
            </a:extLst>
          </p:cNvPr>
          <p:cNvSpPr txBox="1"/>
          <p:nvPr/>
        </p:nvSpPr>
        <p:spPr>
          <a:xfrm>
            <a:off x="0" y="1187117"/>
            <a:ext cx="2723823" cy="82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降雨量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702AA5-A3CC-FF7F-454A-5297A4EAD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29" y="2176141"/>
            <a:ext cx="5283117" cy="264155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2744098-BC4D-22FE-1C40-570E40788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14" y="2190044"/>
            <a:ext cx="5297021" cy="261375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CF9F7B8-E24C-52C6-D49C-E4FB57198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386" y="5128162"/>
            <a:ext cx="3364511" cy="98710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A349DF73-3E2C-1C85-D19C-BAC5C5124C43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虛擬色彩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強度切片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4222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3A7A-E027-C767-7BFF-01B84B98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>
            <a:extLst>
              <a:ext uri="{FF2B5EF4-FFF2-40B4-BE49-F238E27FC236}">
                <a16:creationId xmlns:a16="http://schemas.microsoft.com/office/drawing/2014/main" id="{0D66D52F-0041-BE23-C048-E3E01097B6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1"/>
          <a:stretch/>
        </p:blipFill>
        <p:spPr bwMode="auto">
          <a:xfrm>
            <a:off x="6408603" y="1600998"/>
            <a:ext cx="5294725" cy="465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AC6C42-0BD9-2D85-D0F1-EDAF1682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40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BC77862-41C7-F1BC-A996-F42212475E82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全彩影像補色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7BB51C0-359C-63B0-CCB8-CE1E0509D43E}"/>
              </a:ext>
            </a:extLst>
          </p:cNvPr>
          <p:cNvSpPr txBox="1"/>
          <p:nvPr/>
        </p:nvSpPr>
        <p:spPr>
          <a:xfrm>
            <a:off x="0" y="1203158"/>
            <a:ext cx="5955476" cy="3318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在色彩圓上</a:t>
            </a: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直接相對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色調稱為補色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zh-TW" altLang="en-US" sz="36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增強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彩色影像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較暗區域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有用</a:t>
            </a:r>
          </a:p>
        </p:txBody>
      </p:sp>
    </p:spTree>
    <p:extLst>
      <p:ext uri="{BB962C8B-B14F-4D97-AF65-F5344CB8AC3E}">
        <p14:creationId xmlns:p14="http://schemas.microsoft.com/office/powerpoint/2010/main" val="1869237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BF6F680-6266-AAD7-F618-26607A56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41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CC57E-D5F4-3149-7487-9E58B6F2B2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1347" y="1393231"/>
            <a:ext cx="5445606" cy="5151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805F9E6-6561-0FD1-426D-762731DC0128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全彩影像補色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31791F5-415A-7A8C-F81E-816D0C49880B}"/>
              </a:ext>
            </a:extLst>
          </p:cNvPr>
          <p:cNvSpPr txBox="1"/>
          <p:nvPr/>
        </p:nvSpPr>
        <p:spPr>
          <a:xfrm>
            <a:off x="1652337" y="5035856"/>
            <a:ext cx="194109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AEDE617-A184-4DC6-998B-FEE615F1EAB1}"/>
              </a:ext>
            </a:extLst>
          </p:cNvPr>
          <p:cNvSpPr txBox="1"/>
          <p:nvPr/>
        </p:nvSpPr>
        <p:spPr>
          <a:xfrm>
            <a:off x="8799096" y="5035856"/>
            <a:ext cx="19009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</a:t>
            </a:r>
          </a:p>
        </p:txBody>
      </p:sp>
    </p:spTree>
    <p:extLst>
      <p:ext uri="{BB962C8B-B14F-4D97-AF65-F5344CB8AC3E}">
        <p14:creationId xmlns:p14="http://schemas.microsoft.com/office/powerpoint/2010/main" val="40906592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FDD4A1-3B0A-A58C-630C-087BAFEB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04EB4-75C8-F7A6-030B-E132593BC5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5"/>
          <a:stretch/>
        </p:blipFill>
        <p:spPr bwMode="auto">
          <a:xfrm>
            <a:off x="656492" y="1707156"/>
            <a:ext cx="11112740" cy="4328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C2D62D4-47EE-20DF-1643-05C1F0DF998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色調修正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97A969-C89D-91AB-F57F-EBE7705527FA}"/>
              </a:ext>
            </a:extLst>
          </p:cNvPr>
          <p:cNvSpPr txBox="1"/>
          <p:nvPr/>
        </p:nvSpPr>
        <p:spPr>
          <a:xfrm>
            <a:off x="9587346" y="30018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強度降低</a:t>
            </a:r>
          </a:p>
        </p:txBody>
      </p:sp>
    </p:spTree>
    <p:extLst>
      <p:ext uri="{BB962C8B-B14F-4D97-AF65-F5344CB8AC3E}">
        <p14:creationId xmlns:p14="http://schemas.microsoft.com/office/powerpoint/2010/main" val="509095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361D-AD84-69FC-E573-D910B8D2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789FBB6-6E25-C60A-8A87-DA50B056C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89036" y="1867303"/>
            <a:ext cx="10241198" cy="4086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D35F562-201C-CD6E-0158-AD07BBD0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43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1F8DC66-097E-535F-ACA6-0410FBF3A0AC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色調修正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9970D3D-E252-AACF-6510-8E438A03E2CE}"/>
              </a:ext>
            </a:extLst>
          </p:cNvPr>
          <p:cNvSpPr txBox="1"/>
          <p:nvPr/>
        </p:nvSpPr>
        <p:spPr>
          <a:xfrm>
            <a:off x="9402619" y="302952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強度升高</a:t>
            </a:r>
          </a:p>
        </p:txBody>
      </p:sp>
    </p:spTree>
    <p:extLst>
      <p:ext uri="{BB962C8B-B14F-4D97-AF65-F5344CB8AC3E}">
        <p14:creationId xmlns:p14="http://schemas.microsoft.com/office/powerpoint/2010/main" val="734047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8F9E-1CB8-7F5C-32A3-411330BBE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B811321-2F11-CEF0-8E0A-F03EF1BA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44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68FBBF-1C8F-6713-645E-F6DC573D852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色調修正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90D6C09-33F8-0543-0FF1-0F820981B9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4132" y="1658681"/>
            <a:ext cx="3194097" cy="400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FF39BB8-C5E6-EF75-E268-5CB4866F7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02227" y="1729923"/>
            <a:ext cx="8160340" cy="3907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588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E42E-A9D0-B5D8-5314-032E02283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E9737D-AA15-6069-3825-8ADE500E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45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CE44FF-7D1F-64F2-3FC6-9CC85198F94D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色調修正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D7FBCC1-F04B-8FCB-D8C5-FD24C821E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7631" y="1690183"/>
            <a:ext cx="3194097" cy="400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090FA7-E1F1-EDB3-945E-FD9BC8629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94890" y="1761425"/>
            <a:ext cx="8160340" cy="3907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37679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F543-13F3-DCE6-D715-C6D6FCC3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4A27E29D-015F-6406-792B-3B5162D03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4496" y="2129702"/>
            <a:ext cx="4800769" cy="3685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087FB8-F172-FC68-C122-62F931EE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E0788FD-8D9A-CE15-FF25-78D82E76A3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57911" y="2156974"/>
            <a:ext cx="4800769" cy="3685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0B27A68-8040-2482-54D3-D85F273AEC1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影像分割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1FDBB0B-0141-5130-58AA-7FBB6D94EF1B}"/>
              </a:ext>
            </a:extLst>
          </p:cNvPr>
          <p:cNvSpPr txBox="1"/>
          <p:nvPr/>
        </p:nvSpPr>
        <p:spPr>
          <a:xfrm>
            <a:off x="8358909" y="1699493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色調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9A599C-A3FC-EADC-0205-B7C0FC42E175}"/>
              </a:ext>
            </a:extLst>
          </p:cNvPr>
          <p:cNvSpPr txBox="1"/>
          <p:nvPr/>
        </p:nvSpPr>
        <p:spPr>
          <a:xfrm>
            <a:off x="2710873" y="16671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原始影像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2B1A55-5220-9FA3-F2C2-9B6AC9D926A1}"/>
              </a:ext>
            </a:extLst>
          </p:cNvPr>
          <p:cNvSpPr txBox="1"/>
          <p:nvPr/>
        </p:nvSpPr>
        <p:spPr>
          <a:xfrm>
            <a:off x="240146" y="135774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想要把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紅色區塊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摳出來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B87E3E7-7746-276C-7EF5-171A1149445F}"/>
              </a:ext>
            </a:extLst>
          </p:cNvPr>
          <p:cNvCxnSpPr/>
          <p:nvPr/>
        </p:nvCxnSpPr>
        <p:spPr>
          <a:xfrm flipH="1" flipV="1">
            <a:off x="1209964" y="1754911"/>
            <a:ext cx="508000" cy="27801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F8C93671-5CE6-5B6B-221D-7822F3BBD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382" y="94671"/>
            <a:ext cx="2122056" cy="212205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5F926B21-46D2-0FFB-22FE-B45549702BE0}"/>
              </a:ext>
            </a:extLst>
          </p:cNvPr>
          <p:cNvSpPr txBox="1"/>
          <p:nvPr/>
        </p:nvSpPr>
        <p:spPr>
          <a:xfrm>
            <a:off x="6405419" y="127000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白色區域為接近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紅色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的部分</a:t>
            </a:r>
          </a:p>
        </p:txBody>
      </p:sp>
    </p:spTree>
    <p:extLst>
      <p:ext uri="{BB962C8B-B14F-4D97-AF65-F5344CB8AC3E}">
        <p14:creationId xmlns:p14="http://schemas.microsoft.com/office/powerpoint/2010/main" val="829063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EB06-F2D9-80F7-1FE4-A4BB7877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853B2488-B275-36D9-D263-69F3AFEBD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75104" y="2842058"/>
            <a:ext cx="3737221" cy="2822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AD3252-2F5F-AC04-D907-EB9F721E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47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92455AA-7280-B60B-C084-5FDA57810B2B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影像分割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2D2CEB-AF7F-21BD-234C-A5873945EAED}"/>
              </a:ext>
            </a:extLst>
          </p:cNvPr>
          <p:cNvSpPr txBox="1"/>
          <p:nvPr/>
        </p:nvSpPr>
        <p:spPr>
          <a:xfrm>
            <a:off x="8723745" y="228600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二元飽和遮罩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D33A242-8408-730E-DA52-3AE0A30881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4119" y="2847611"/>
            <a:ext cx="3662605" cy="2811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8DECE76-9D66-B228-A3B7-0AD5AE5BA9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58886" y="2842058"/>
            <a:ext cx="3737221" cy="2822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F129A1A-EC5C-9BF2-FF0C-96536830C57D}"/>
              </a:ext>
            </a:extLst>
          </p:cNvPr>
          <p:cNvSpPr txBox="1"/>
          <p:nvPr/>
        </p:nvSpPr>
        <p:spPr>
          <a:xfrm>
            <a:off x="5389418" y="223981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飽和度</a:t>
            </a:r>
          </a:p>
        </p:txBody>
      </p:sp>
      <p:pic>
        <p:nvPicPr>
          <p:cNvPr id="20482" name="Picture 2" descr="用十二色相環來搭配色彩(下) – 賁華室內設計">
            <a:extLst>
              <a:ext uri="{FF2B5EF4-FFF2-40B4-BE49-F238E27FC236}">
                <a16:creationId xmlns:a16="http://schemas.microsoft.com/office/drawing/2014/main" id="{E5F631C8-E760-0A31-DB8A-75892D276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4727" y="581277"/>
            <a:ext cx="3685310" cy="206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494DB6-8151-B7A1-E9F2-3624BEDF4DD4}"/>
              </a:ext>
            </a:extLst>
          </p:cNvPr>
          <p:cNvSpPr txBox="1"/>
          <p:nvPr/>
        </p:nvSpPr>
        <p:spPr>
          <a:xfrm>
            <a:off x="8612912" y="179647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黑色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區域為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接近白色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的地方</a:t>
            </a:r>
          </a:p>
        </p:txBody>
      </p:sp>
    </p:spTree>
    <p:extLst>
      <p:ext uri="{BB962C8B-B14F-4D97-AF65-F5344CB8AC3E}">
        <p14:creationId xmlns:p14="http://schemas.microsoft.com/office/powerpoint/2010/main" val="2730371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4F81-8391-CC5C-8760-2B2BBEA50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EA5B1CE4-A407-8968-D822-1D57040508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6559" y="2278640"/>
            <a:ext cx="3737221" cy="2822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AB35FE6-A135-D0BD-DC11-BE9F2E84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48</a:t>
            </a:fld>
            <a:endParaRPr lang="zh-TW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5518868-825F-82AE-90B5-1884D2E0B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75394" y="2286000"/>
            <a:ext cx="3737222" cy="2808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59A5CA5-EF34-B379-7E9C-72303750483D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影像分割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A86C03C-2E8A-41BB-A340-C3831E4485FA}"/>
              </a:ext>
            </a:extLst>
          </p:cNvPr>
          <p:cNvSpPr txBox="1"/>
          <p:nvPr/>
        </p:nvSpPr>
        <p:spPr>
          <a:xfrm>
            <a:off x="8802255" y="180109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遮罩與色調乘積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A8161B-A3F3-C6E5-694A-BE40E99F103A}"/>
              </a:ext>
            </a:extLst>
          </p:cNvPr>
          <p:cNvSpPr txBox="1"/>
          <p:nvPr/>
        </p:nvSpPr>
        <p:spPr>
          <a:xfrm>
            <a:off x="965200" y="172258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二元飽和遮罩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624F6F0-ADCD-DE02-6D5E-05567C5D1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31948" y="2221627"/>
            <a:ext cx="3728198" cy="2862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1EA1E9E-A063-F682-62DE-2E4351F0F019}"/>
              </a:ext>
            </a:extLst>
          </p:cNvPr>
          <p:cNvSpPr txBox="1"/>
          <p:nvPr/>
        </p:nvSpPr>
        <p:spPr>
          <a:xfrm>
            <a:off x="5430981" y="17272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色調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9A11D1E-7B34-C39C-87F2-B1517D0D6939}"/>
              </a:ext>
            </a:extLst>
          </p:cNvPr>
          <p:cNvSpPr txBox="1"/>
          <p:nvPr/>
        </p:nvSpPr>
        <p:spPr>
          <a:xfrm>
            <a:off x="8954657" y="1343890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白色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紅色的區域</a:t>
            </a:r>
          </a:p>
        </p:txBody>
      </p:sp>
    </p:spTree>
    <p:extLst>
      <p:ext uri="{BB962C8B-B14F-4D97-AF65-F5344CB8AC3E}">
        <p14:creationId xmlns:p14="http://schemas.microsoft.com/office/powerpoint/2010/main" val="172403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263F-92C6-0B7D-4281-1776DAAB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AAAF39ED-AF32-67F3-9805-19136B6054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39759" y="2278640"/>
            <a:ext cx="3737221" cy="2822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66D819-197F-8158-5DDA-E8E361D7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49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7EF4DB-1114-3A78-2BBC-4A4D7D288F8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影像分割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01AC3CF-6747-7D12-12B5-D5F22D7A022E}"/>
              </a:ext>
            </a:extLst>
          </p:cNvPr>
          <p:cNvSpPr txBox="1"/>
          <p:nvPr/>
        </p:nvSpPr>
        <p:spPr>
          <a:xfrm>
            <a:off x="8788400" y="172258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紅色成分分割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9F1EC15-B055-A881-59ED-CF1DDB9CB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56821" y="4358222"/>
            <a:ext cx="3108558" cy="2351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48BF2B2-6373-618F-092B-10AD0D95798D}"/>
              </a:ext>
            </a:extLst>
          </p:cNvPr>
          <p:cNvSpPr txBox="1"/>
          <p:nvPr/>
        </p:nvSpPr>
        <p:spPr>
          <a:xfrm>
            <a:off x="4627416" y="3953165"/>
            <a:ext cx="290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遮罩與色調乘積值方圖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2AE4B6C-B703-74F9-274D-BC442D32D3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4264" y="2376557"/>
            <a:ext cx="3662605" cy="2811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5F3BAFD-41EC-1952-2311-5964342B9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82448" y="1514764"/>
            <a:ext cx="3116082" cy="234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2879339-7A79-5417-CFB7-735CCF8F1023}"/>
              </a:ext>
            </a:extLst>
          </p:cNvPr>
          <p:cNvSpPr txBox="1"/>
          <p:nvPr/>
        </p:nvSpPr>
        <p:spPr>
          <a:xfrm>
            <a:off x="4249546" y="1110920"/>
            <a:ext cx="362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遮罩與色調乘積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FB15C4C-2AFB-5514-0909-0220B05D485F}"/>
              </a:ext>
            </a:extLst>
          </p:cNvPr>
          <p:cNvCxnSpPr>
            <a:cxnSpLocks/>
          </p:cNvCxnSpPr>
          <p:nvPr/>
        </p:nvCxnSpPr>
        <p:spPr>
          <a:xfrm flipV="1">
            <a:off x="7305963" y="4405745"/>
            <a:ext cx="0" cy="2105891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9984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A210-5B60-86E5-18E3-CBD6E0A7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1D042-BBF6-25D9-39F7-22DB7836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50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89F2B96-C422-91D6-1C7C-DBD229EB7A0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影像分割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41E89-1547-D401-C07E-CD46B47491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44522" y="2186391"/>
            <a:ext cx="4302493" cy="1258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2CBA575-60AE-9314-9BC9-1891F42630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04727" y="2406803"/>
            <a:ext cx="3482110" cy="66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3C406D1E-F3EE-F104-0370-2B4FDAABF40E}"/>
              </a:ext>
            </a:extLst>
          </p:cNvPr>
          <p:cNvGrpSpPr/>
          <p:nvPr/>
        </p:nvGrpSpPr>
        <p:grpSpPr>
          <a:xfrm>
            <a:off x="759813" y="3464498"/>
            <a:ext cx="5971552" cy="2875437"/>
            <a:chOff x="464249" y="3168933"/>
            <a:chExt cx="5971552" cy="2875437"/>
          </a:xfrm>
        </p:grpSpPr>
        <p:pic>
          <p:nvPicPr>
            <p:cNvPr id="53250" name="Picture 2">
              <a:extLst>
                <a:ext uri="{FF2B5EF4-FFF2-40B4-BE49-F238E27FC236}">
                  <a16:creationId xmlns:a16="http://schemas.microsoft.com/office/drawing/2014/main" id="{F49C0F03-D5E2-2F93-4CA0-C85E501A53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64249" y="3168933"/>
              <a:ext cx="5618917" cy="2875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9C896390-D4C2-3D8D-FE11-27A860E2FE80}"/>
                </a:ext>
              </a:extLst>
            </p:cNvPr>
            <p:cNvSpPr/>
            <p:nvPr/>
          </p:nvSpPr>
          <p:spPr>
            <a:xfrm rot="19623252">
              <a:off x="5069013" y="5312852"/>
              <a:ext cx="1366788" cy="3946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3029BD45-6E1B-6A71-0B0B-9F2A4DC0EFB9}"/>
              </a:ext>
            </a:extLst>
          </p:cNvPr>
          <p:cNvGrpSpPr/>
          <p:nvPr/>
        </p:nvGrpSpPr>
        <p:grpSpPr>
          <a:xfrm>
            <a:off x="7705996" y="3256585"/>
            <a:ext cx="3578381" cy="2875437"/>
            <a:chOff x="7927669" y="2702403"/>
            <a:chExt cx="3578381" cy="2875437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5B7A8BE-B202-51D9-E54B-23D91BC18E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393230" y="2702403"/>
              <a:ext cx="3112820" cy="2875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8BE1DFB1-F128-AFC4-4AE0-83BCDF81F911}"/>
                </a:ext>
              </a:extLst>
            </p:cNvPr>
            <p:cNvSpPr/>
            <p:nvPr/>
          </p:nvSpPr>
          <p:spPr>
            <a:xfrm rot="21293198">
              <a:off x="7927669" y="4282996"/>
              <a:ext cx="1366788" cy="3946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CAB55E3-6E51-6C5C-BE88-30E84E329D39}"/>
              </a:ext>
            </a:extLst>
          </p:cNvPr>
          <p:cNvSpPr txBox="1"/>
          <p:nvPr/>
        </p:nvSpPr>
        <p:spPr>
          <a:xfrm>
            <a:off x="1874980" y="1440873"/>
            <a:ext cx="3236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比較準 但比較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耗時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9D9683-A1F3-14A6-E004-19DA5385DA75}"/>
              </a:ext>
            </a:extLst>
          </p:cNvPr>
          <p:cNvSpPr txBox="1"/>
          <p:nvPr/>
        </p:nvSpPr>
        <p:spPr>
          <a:xfrm>
            <a:off x="7523018" y="1630217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快速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，但會有一點誤差</a:t>
            </a:r>
          </a:p>
        </p:txBody>
      </p:sp>
    </p:spTree>
    <p:extLst>
      <p:ext uri="{BB962C8B-B14F-4D97-AF65-F5344CB8AC3E}">
        <p14:creationId xmlns:p14="http://schemas.microsoft.com/office/powerpoint/2010/main" val="35539100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86025" y="2738919"/>
            <a:ext cx="3648364" cy="276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F50F21-1C6A-7474-CE7E-3131C626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51</a:t>
            </a:fld>
            <a:endParaRPr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A8D1644-4DA1-7E77-DFA2-2D30323039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93199" y="2739156"/>
            <a:ext cx="3655589" cy="276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F572E20-9C6E-6C3E-651E-D793B6160F36}"/>
              </a:ext>
            </a:extLst>
          </p:cNvPr>
          <p:cNvSpPr txBox="1"/>
          <p:nvPr/>
        </p:nvSpPr>
        <p:spPr>
          <a:xfrm>
            <a:off x="5340516" y="2045565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HSI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分割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E194793-5476-901F-ED4C-DC40C9BFF87C}"/>
              </a:ext>
            </a:extLst>
          </p:cNvPr>
          <p:cNvSpPr txBox="1"/>
          <p:nvPr/>
        </p:nvSpPr>
        <p:spPr>
          <a:xfrm>
            <a:off x="9091258" y="2045565"/>
            <a:ext cx="1850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分割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7BFD386-28A2-5288-96AF-697AFDDFF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3356" y="2713879"/>
            <a:ext cx="3662605" cy="2811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6EE6429-A60A-6C02-A013-B845CD2CD788}"/>
              </a:ext>
            </a:extLst>
          </p:cNvPr>
          <p:cNvSpPr txBox="1"/>
          <p:nvPr/>
        </p:nvSpPr>
        <p:spPr>
          <a:xfrm>
            <a:off x="1642567" y="204556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FBE8479-2154-2D75-4F57-AB7ACEC35B5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RGB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影像分割 比較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AA1D073-21B1-038F-94FE-4672E18EC97C}"/>
              </a:ext>
            </a:extLst>
          </p:cNvPr>
          <p:cNvSpPr txBox="1"/>
          <p:nvPr/>
        </p:nvSpPr>
        <p:spPr>
          <a:xfrm>
            <a:off x="9014690" y="556952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看起來比較好</a:t>
            </a:r>
          </a:p>
        </p:txBody>
      </p:sp>
    </p:spTree>
    <p:extLst>
      <p:ext uri="{BB962C8B-B14F-4D97-AF65-F5344CB8AC3E}">
        <p14:creationId xmlns:p14="http://schemas.microsoft.com/office/powerpoint/2010/main" val="178194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2275</TotalTime>
  <Words>1698</Words>
  <Application>Microsoft Office PowerPoint</Application>
  <PresentationFormat>寬螢幕</PresentationFormat>
  <Paragraphs>333</Paragraphs>
  <Slides>51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60" baseType="lpstr">
      <vt:lpstr>標楷體</vt:lpstr>
      <vt:lpstr>Aptos</vt:lpstr>
      <vt:lpstr>Aptos Display</vt:lpstr>
      <vt:lpstr>Arial</vt:lpstr>
      <vt:lpstr>Cambria Math</vt:lpstr>
      <vt:lpstr>Consolas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51</cp:revision>
  <dcterms:created xsi:type="dcterms:W3CDTF">2024-09-17T11:26:55Z</dcterms:created>
  <dcterms:modified xsi:type="dcterms:W3CDTF">2025-12-10T04:48:07Z</dcterms:modified>
</cp:coreProperties>
</file>