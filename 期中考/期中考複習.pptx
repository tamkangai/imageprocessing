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6" r:id="rId2"/>
    <p:sldId id="434" r:id="rId3"/>
    <p:sldId id="366" r:id="rId4"/>
    <p:sldId id="430" r:id="rId5"/>
    <p:sldId id="345" r:id="rId6"/>
    <p:sldId id="368" r:id="rId7"/>
    <p:sldId id="363" r:id="rId8"/>
    <p:sldId id="354" r:id="rId9"/>
    <p:sldId id="360" r:id="rId10"/>
    <p:sldId id="355" r:id="rId11"/>
    <p:sldId id="356" r:id="rId12"/>
    <p:sldId id="431" r:id="rId13"/>
    <p:sldId id="298" r:id="rId14"/>
    <p:sldId id="432" r:id="rId15"/>
    <p:sldId id="433" r:id="rId16"/>
    <p:sldId id="435" r:id="rId17"/>
    <p:sldId id="417" r:id="rId18"/>
    <p:sldId id="436" r:id="rId19"/>
    <p:sldId id="412" r:id="rId20"/>
    <p:sldId id="414" r:id="rId21"/>
    <p:sldId id="416" r:id="rId22"/>
    <p:sldId id="437" r:id="rId23"/>
    <p:sldId id="390" r:id="rId24"/>
    <p:sldId id="419" r:id="rId25"/>
    <p:sldId id="401" r:id="rId26"/>
    <p:sldId id="418" r:id="rId27"/>
    <p:sldId id="438" r:id="rId28"/>
    <p:sldId id="420" r:id="rId29"/>
    <p:sldId id="493" r:id="rId30"/>
    <p:sldId id="492" r:id="rId31"/>
    <p:sldId id="491" r:id="rId32"/>
    <p:sldId id="404" r:id="rId33"/>
    <p:sldId id="406" r:id="rId34"/>
    <p:sldId id="487" r:id="rId35"/>
    <p:sldId id="488" r:id="rId36"/>
    <p:sldId id="489" r:id="rId37"/>
    <p:sldId id="494" r:id="rId38"/>
    <p:sldId id="425" r:id="rId39"/>
    <p:sldId id="426" r:id="rId40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9C9C9"/>
    <a:srgbClr val="FF0000"/>
    <a:srgbClr val="F49A9A"/>
    <a:srgbClr val="D9D9D9"/>
    <a:srgbClr val="7F7F7F"/>
    <a:srgbClr val="4BAE4F"/>
    <a:srgbClr val="FFEFBD"/>
    <a:srgbClr val="FFF8E1"/>
    <a:srgbClr val="FF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A36171-AC7A-43E5-A6C3-275E46925DB6}" v="142" dt="2025-11-25T05:33:14.4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蕭兆翔" userId="c09afb0b-60c9-45d8-81f2-4d7aa859f4bf" providerId="ADAL" clId="{6F9FAB1B-BF87-4C86-8CBB-A04DB701A215}"/>
    <pc:docChg chg="undo custSel addSld delSld modSld sldOrd">
      <pc:chgData name="蕭兆翔" userId="c09afb0b-60c9-45d8-81f2-4d7aa859f4bf" providerId="ADAL" clId="{6F9FAB1B-BF87-4C86-8CBB-A04DB701A215}" dt="2025-11-19T05:11:19.958" v="541" actId="108"/>
      <pc:docMkLst>
        <pc:docMk/>
      </pc:docMkLst>
      <pc:sldChg chg="modSp mod">
        <pc:chgData name="蕭兆翔" userId="c09afb0b-60c9-45d8-81f2-4d7aa859f4bf" providerId="ADAL" clId="{6F9FAB1B-BF87-4C86-8CBB-A04DB701A215}" dt="2025-11-15T14:42:24.996" v="18" actId="20577"/>
        <pc:sldMkLst>
          <pc:docMk/>
          <pc:sldMk cId="1343009528" sldId="256"/>
        </pc:sldMkLst>
        <pc:spChg chg="mod">
          <ac:chgData name="蕭兆翔" userId="c09afb0b-60c9-45d8-81f2-4d7aa859f4bf" providerId="ADAL" clId="{6F9FAB1B-BF87-4C86-8CBB-A04DB701A215}" dt="2025-11-15T14:42:24.996" v="18" actId="20577"/>
          <ac:spMkLst>
            <pc:docMk/>
            <pc:sldMk cId="1343009528" sldId="256"/>
            <ac:spMk id="5" creationId="{F5AE22FC-AF5D-80D6-CC9F-1199F201F39A}"/>
          </ac:spMkLst>
        </pc:spChg>
      </pc:sldChg>
      <pc:sldChg chg="delSp mod">
        <pc:chgData name="蕭兆翔" userId="c09afb0b-60c9-45d8-81f2-4d7aa859f4bf" providerId="ADAL" clId="{6F9FAB1B-BF87-4C86-8CBB-A04DB701A215}" dt="2025-11-15T15:07:11.688" v="153" actId="478"/>
        <pc:sldMkLst>
          <pc:docMk/>
          <pc:sldMk cId="2380513065" sldId="298"/>
        </pc:sldMkLst>
      </pc:sldChg>
      <pc:sldChg chg="ord">
        <pc:chgData name="蕭兆翔" userId="c09afb0b-60c9-45d8-81f2-4d7aa859f4bf" providerId="ADAL" clId="{6F9FAB1B-BF87-4C86-8CBB-A04DB701A215}" dt="2025-11-15T14:43:42.535" v="24"/>
        <pc:sldMkLst>
          <pc:docMk/>
          <pc:sldMk cId="1622751047" sldId="345"/>
        </pc:sldMkLst>
      </pc:sldChg>
      <pc:sldChg chg="addSp delSp modSp add del mod">
        <pc:chgData name="蕭兆翔" userId="c09afb0b-60c9-45d8-81f2-4d7aa859f4bf" providerId="ADAL" clId="{6F9FAB1B-BF87-4C86-8CBB-A04DB701A215}" dt="2025-11-15T15:03:54.871" v="152" actId="207"/>
        <pc:sldMkLst>
          <pc:docMk/>
          <pc:sldMk cId="3988298109" sldId="354"/>
        </pc:sldMkLst>
        <pc:spChg chg="add mod">
          <ac:chgData name="蕭兆翔" userId="c09afb0b-60c9-45d8-81f2-4d7aa859f4bf" providerId="ADAL" clId="{6F9FAB1B-BF87-4C86-8CBB-A04DB701A215}" dt="2025-11-15T14:53:01.504" v="75"/>
          <ac:spMkLst>
            <pc:docMk/>
            <pc:sldMk cId="3988298109" sldId="354"/>
            <ac:spMk id="7" creationId="{D3C206C0-319C-ABC6-3BF9-C13D91206473}"/>
          </ac:spMkLst>
        </pc:spChg>
        <pc:spChg chg="add mod">
          <ac:chgData name="蕭兆翔" userId="c09afb0b-60c9-45d8-81f2-4d7aa859f4bf" providerId="ADAL" clId="{6F9FAB1B-BF87-4C86-8CBB-A04DB701A215}" dt="2025-11-15T14:52:59.363" v="74"/>
          <ac:spMkLst>
            <pc:docMk/>
            <pc:sldMk cId="3988298109" sldId="354"/>
            <ac:spMk id="8" creationId="{072660B0-32BA-2D25-5E14-886B70BA3A26}"/>
          </ac:spMkLst>
        </pc:spChg>
        <pc:spChg chg="add mod">
          <ac:chgData name="蕭兆翔" userId="c09afb0b-60c9-45d8-81f2-4d7aa859f4bf" providerId="ADAL" clId="{6F9FAB1B-BF87-4C86-8CBB-A04DB701A215}" dt="2025-11-15T14:47:44.804" v="51"/>
          <ac:spMkLst>
            <pc:docMk/>
            <pc:sldMk cId="3988298109" sldId="354"/>
            <ac:spMk id="9" creationId="{646A2309-5557-D31E-CCA5-8883C00C8EC2}"/>
          </ac:spMkLst>
        </pc:spChg>
        <pc:spChg chg="add mod">
          <ac:chgData name="蕭兆翔" userId="c09afb0b-60c9-45d8-81f2-4d7aa859f4bf" providerId="ADAL" clId="{6F9FAB1B-BF87-4C86-8CBB-A04DB701A215}" dt="2025-11-15T14:52:54.696" v="73" actId="207"/>
          <ac:spMkLst>
            <pc:docMk/>
            <pc:sldMk cId="3988298109" sldId="354"/>
            <ac:spMk id="14" creationId="{9535C8FA-6833-B4B4-9CA4-1FE74A95A31E}"/>
          </ac:spMkLst>
        </pc:spChg>
        <pc:graphicFrameChg chg="mod modGraphic">
          <ac:chgData name="蕭兆翔" userId="c09afb0b-60c9-45d8-81f2-4d7aa859f4bf" providerId="ADAL" clId="{6F9FAB1B-BF87-4C86-8CBB-A04DB701A215}" dt="2025-11-15T15:03:54.871" v="152" actId="207"/>
          <ac:graphicFrameMkLst>
            <pc:docMk/>
            <pc:sldMk cId="3988298109" sldId="354"/>
            <ac:graphicFrameMk id="4" creationId="{922B1CF6-A625-4BA6-3C86-62B61DC63830}"/>
          </ac:graphicFrameMkLst>
        </pc:graphicFrameChg>
        <pc:graphicFrameChg chg="modGraphic">
          <ac:chgData name="蕭兆翔" userId="c09afb0b-60c9-45d8-81f2-4d7aa859f4bf" providerId="ADAL" clId="{6F9FAB1B-BF87-4C86-8CBB-A04DB701A215}" dt="2025-11-15T15:01:36.760" v="112" actId="20577"/>
          <ac:graphicFrameMkLst>
            <pc:docMk/>
            <pc:sldMk cId="3988298109" sldId="354"/>
            <ac:graphicFrameMk id="5" creationId="{D4166AB7-D54C-910A-330D-AE68F36F5A07}"/>
          </ac:graphicFrameMkLst>
        </pc:graphicFrameChg>
      </pc:sldChg>
      <pc:sldChg chg="addSp delSp modSp add mod">
        <pc:chgData name="蕭兆翔" userId="c09afb0b-60c9-45d8-81f2-4d7aa859f4bf" providerId="ADAL" clId="{6F9FAB1B-BF87-4C86-8CBB-A04DB701A215}" dt="2025-11-15T15:01:57.643" v="116" actId="20577"/>
        <pc:sldMkLst>
          <pc:docMk/>
          <pc:sldMk cId="2418612537" sldId="355"/>
        </pc:sldMkLst>
        <pc:spChg chg="mod">
          <ac:chgData name="蕭兆翔" userId="c09afb0b-60c9-45d8-81f2-4d7aa859f4bf" providerId="ADAL" clId="{6F9FAB1B-BF87-4C86-8CBB-A04DB701A215}" dt="2025-11-15T14:59:13.354" v="100" actId="1076"/>
          <ac:spMkLst>
            <pc:docMk/>
            <pc:sldMk cId="2418612537" sldId="355"/>
            <ac:spMk id="4" creationId="{793CCA3C-435D-51C8-7CEC-727410241A0B}"/>
          </ac:spMkLst>
        </pc:spChg>
        <pc:spChg chg="add del mod">
          <ac:chgData name="蕭兆翔" userId="c09afb0b-60c9-45d8-81f2-4d7aa859f4bf" providerId="ADAL" clId="{6F9FAB1B-BF87-4C86-8CBB-A04DB701A215}" dt="2025-11-15T15:00:10.216" v="107" actId="693"/>
          <ac:spMkLst>
            <pc:docMk/>
            <pc:sldMk cId="2418612537" sldId="355"/>
            <ac:spMk id="8" creationId="{70AD2D75-7089-A3DB-2AB9-65C7ADCD8B8D}"/>
          </ac:spMkLst>
        </pc:spChg>
        <pc:spChg chg="mod">
          <ac:chgData name="蕭兆翔" userId="c09afb0b-60c9-45d8-81f2-4d7aa859f4bf" providerId="ADAL" clId="{6F9FAB1B-BF87-4C86-8CBB-A04DB701A215}" dt="2025-11-15T14:59:13.354" v="100" actId="1076"/>
          <ac:spMkLst>
            <pc:docMk/>
            <pc:sldMk cId="2418612537" sldId="355"/>
            <ac:spMk id="9" creationId="{52B9F673-9076-CF24-E70C-0CAAE205AB8F}"/>
          </ac:spMkLst>
        </pc:spChg>
        <pc:spChg chg="mod">
          <ac:chgData name="蕭兆翔" userId="c09afb0b-60c9-45d8-81f2-4d7aa859f4bf" providerId="ADAL" clId="{6F9FAB1B-BF87-4C86-8CBB-A04DB701A215}" dt="2025-11-15T14:59:13.354" v="100" actId="1076"/>
          <ac:spMkLst>
            <pc:docMk/>
            <pc:sldMk cId="2418612537" sldId="355"/>
            <ac:spMk id="10" creationId="{347AE761-3B35-1E10-0D64-21256EDD9A42}"/>
          </ac:spMkLst>
        </pc:spChg>
        <pc:spChg chg="mod">
          <ac:chgData name="蕭兆翔" userId="c09afb0b-60c9-45d8-81f2-4d7aa859f4bf" providerId="ADAL" clId="{6F9FAB1B-BF87-4C86-8CBB-A04DB701A215}" dt="2025-11-15T14:59:13.354" v="100" actId="1076"/>
          <ac:spMkLst>
            <pc:docMk/>
            <pc:sldMk cId="2418612537" sldId="355"/>
            <ac:spMk id="15" creationId="{0A61FB31-D082-8FD4-2661-00AAC1B9F6F7}"/>
          </ac:spMkLst>
        </pc:spChg>
        <pc:spChg chg="mod">
          <ac:chgData name="蕭兆翔" userId="c09afb0b-60c9-45d8-81f2-4d7aa859f4bf" providerId="ADAL" clId="{6F9FAB1B-BF87-4C86-8CBB-A04DB701A215}" dt="2025-11-15T14:59:13.354" v="100" actId="1076"/>
          <ac:spMkLst>
            <pc:docMk/>
            <pc:sldMk cId="2418612537" sldId="355"/>
            <ac:spMk id="16" creationId="{9F533F29-C57F-33D3-46E6-B2567F7E6340}"/>
          </ac:spMkLst>
        </pc:spChg>
        <pc:spChg chg="mod">
          <ac:chgData name="蕭兆翔" userId="c09afb0b-60c9-45d8-81f2-4d7aa859f4bf" providerId="ADAL" clId="{6F9FAB1B-BF87-4C86-8CBB-A04DB701A215}" dt="2025-11-15T14:59:13.354" v="100" actId="1076"/>
          <ac:spMkLst>
            <pc:docMk/>
            <pc:sldMk cId="2418612537" sldId="355"/>
            <ac:spMk id="17" creationId="{120EDFAD-C510-B46D-C883-DD1CB7B91018}"/>
          </ac:spMkLst>
        </pc:spChg>
        <pc:graphicFrameChg chg="modGraphic">
          <ac:chgData name="蕭兆翔" userId="c09afb0b-60c9-45d8-81f2-4d7aa859f4bf" providerId="ADAL" clId="{6F9FAB1B-BF87-4C86-8CBB-A04DB701A215}" dt="2025-11-15T15:01:57.643" v="116" actId="20577"/>
          <ac:graphicFrameMkLst>
            <pc:docMk/>
            <pc:sldMk cId="2418612537" sldId="355"/>
            <ac:graphicFrameMk id="5" creationId="{D4166AB7-D54C-910A-330D-AE68F36F5A07}"/>
          </ac:graphicFrameMkLst>
        </pc:graphicFrameChg>
        <pc:graphicFrameChg chg="mod">
          <ac:chgData name="蕭兆翔" userId="c09afb0b-60c9-45d8-81f2-4d7aa859f4bf" providerId="ADAL" clId="{6F9FAB1B-BF87-4C86-8CBB-A04DB701A215}" dt="2025-11-15T14:59:13.354" v="100" actId="1076"/>
          <ac:graphicFrameMkLst>
            <pc:docMk/>
            <pc:sldMk cId="2418612537" sldId="355"/>
            <ac:graphicFrameMk id="32" creationId="{913FFCD7-6807-2A53-7D8C-41C90F15D3A0}"/>
          </ac:graphicFrameMkLst>
        </pc:graphicFrameChg>
        <pc:cxnChg chg="mod">
          <ac:chgData name="蕭兆翔" userId="c09afb0b-60c9-45d8-81f2-4d7aa859f4bf" providerId="ADAL" clId="{6F9FAB1B-BF87-4C86-8CBB-A04DB701A215}" dt="2025-11-15T14:59:46.967" v="104" actId="14100"/>
          <ac:cxnSpMkLst>
            <pc:docMk/>
            <pc:sldMk cId="2418612537" sldId="355"/>
            <ac:cxnSpMk id="49" creationId="{0CBD2527-C5D2-A863-895E-B81A95DEDF47}"/>
          </ac:cxnSpMkLst>
        </pc:cxnChg>
        <pc:cxnChg chg="mod">
          <ac:chgData name="蕭兆翔" userId="c09afb0b-60c9-45d8-81f2-4d7aa859f4bf" providerId="ADAL" clId="{6F9FAB1B-BF87-4C86-8CBB-A04DB701A215}" dt="2025-11-15T14:59:24.450" v="103" actId="14100"/>
          <ac:cxnSpMkLst>
            <pc:docMk/>
            <pc:sldMk cId="2418612537" sldId="355"/>
            <ac:cxnSpMk id="50" creationId="{8C864F68-B9B2-CC2E-F7B4-E50928B459D4}"/>
          </ac:cxnSpMkLst>
        </pc:cxnChg>
      </pc:sldChg>
      <pc:sldChg chg="delSp modSp add mod">
        <pc:chgData name="蕭兆翔" userId="c09afb0b-60c9-45d8-81f2-4d7aa859f4bf" providerId="ADAL" clId="{6F9FAB1B-BF87-4C86-8CBB-A04DB701A215}" dt="2025-11-15T15:02:49.717" v="125" actId="1076"/>
        <pc:sldMkLst>
          <pc:docMk/>
          <pc:sldMk cId="2068701231" sldId="356"/>
        </pc:sldMkLst>
        <pc:spChg chg="mod">
          <ac:chgData name="蕭兆翔" userId="c09afb0b-60c9-45d8-81f2-4d7aa859f4bf" providerId="ADAL" clId="{6F9FAB1B-BF87-4C86-8CBB-A04DB701A215}" dt="2025-11-15T15:02:29.316" v="122" actId="208"/>
          <ac:spMkLst>
            <pc:docMk/>
            <pc:sldMk cId="2068701231" sldId="356"/>
            <ac:spMk id="51" creationId="{3AF14273-51CD-52F5-7613-EBF4793768ED}"/>
          </ac:spMkLst>
        </pc:spChg>
        <pc:spChg chg="mod">
          <ac:chgData name="蕭兆翔" userId="c09afb0b-60c9-45d8-81f2-4d7aa859f4bf" providerId="ADAL" clId="{6F9FAB1B-BF87-4C86-8CBB-A04DB701A215}" dt="2025-11-15T15:02:49.717" v="125" actId="1076"/>
          <ac:spMkLst>
            <pc:docMk/>
            <pc:sldMk cId="2068701231" sldId="356"/>
            <ac:spMk id="204" creationId="{1621646C-9179-229C-5920-4A41FB343AA6}"/>
          </ac:spMkLst>
        </pc:spChg>
      </pc:sldChg>
      <pc:sldChg chg="delSp modSp add del mod">
        <pc:chgData name="蕭兆翔" userId="c09afb0b-60c9-45d8-81f2-4d7aa859f4bf" providerId="ADAL" clId="{6F9FAB1B-BF87-4C86-8CBB-A04DB701A215}" dt="2025-11-15T14:53:11.781" v="76" actId="1076"/>
        <pc:sldMkLst>
          <pc:docMk/>
          <pc:sldMk cId="3478620681" sldId="360"/>
        </pc:sldMkLst>
        <pc:spChg chg="mod">
          <ac:chgData name="蕭兆翔" userId="c09afb0b-60c9-45d8-81f2-4d7aa859f4bf" providerId="ADAL" clId="{6F9FAB1B-BF87-4C86-8CBB-A04DB701A215}" dt="2025-11-15T14:53:11.781" v="76" actId="1076"/>
          <ac:spMkLst>
            <pc:docMk/>
            <pc:sldMk cId="3478620681" sldId="360"/>
            <ac:spMk id="4" creationId="{D4EE100E-CA10-91EF-780B-6EAA529A1367}"/>
          </ac:spMkLst>
        </pc:spChg>
        <pc:spChg chg="mod">
          <ac:chgData name="蕭兆翔" userId="c09afb0b-60c9-45d8-81f2-4d7aa859f4bf" providerId="ADAL" clId="{6F9FAB1B-BF87-4C86-8CBB-A04DB701A215}" dt="2025-11-15T14:53:11.781" v="76" actId="1076"/>
          <ac:spMkLst>
            <pc:docMk/>
            <pc:sldMk cId="3478620681" sldId="360"/>
            <ac:spMk id="79" creationId="{0D877AD4-171F-91C1-CE69-69C4D08075C4}"/>
          </ac:spMkLst>
        </pc:spChg>
        <pc:spChg chg="mod">
          <ac:chgData name="蕭兆翔" userId="c09afb0b-60c9-45d8-81f2-4d7aa859f4bf" providerId="ADAL" clId="{6F9FAB1B-BF87-4C86-8CBB-A04DB701A215}" dt="2025-11-15T14:53:11.781" v="76" actId="1076"/>
          <ac:spMkLst>
            <pc:docMk/>
            <pc:sldMk cId="3478620681" sldId="360"/>
            <ac:spMk id="80" creationId="{886F3CE3-45B7-B6D8-B36E-41E8146A9CE3}"/>
          </ac:spMkLst>
        </pc:spChg>
      </pc:sldChg>
      <pc:sldChg chg="addSp modSp">
        <pc:chgData name="蕭兆翔" userId="c09afb0b-60c9-45d8-81f2-4d7aa859f4bf" providerId="ADAL" clId="{6F9FAB1B-BF87-4C86-8CBB-A04DB701A215}" dt="2025-11-15T14:44:27.171" v="27"/>
        <pc:sldMkLst>
          <pc:docMk/>
          <pc:sldMk cId="1903079872" sldId="363"/>
        </pc:sldMkLst>
        <pc:spChg chg="add mod">
          <ac:chgData name="蕭兆翔" userId="c09afb0b-60c9-45d8-81f2-4d7aa859f4bf" providerId="ADAL" clId="{6F9FAB1B-BF87-4C86-8CBB-A04DB701A215}" dt="2025-11-15T14:44:27.171" v="27"/>
          <ac:spMkLst>
            <pc:docMk/>
            <pc:sldMk cId="1903079872" sldId="363"/>
            <ac:spMk id="4" creationId="{991EAA46-0444-351A-6C1F-E8A90D4A468B}"/>
          </ac:spMkLst>
        </pc:spChg>
      </pc:sldChg>
      <pc:sldChg chg="add">
        <pc:chgData name="蕭兆翔" userId="c09afb0b-60c9-45d8-81f2-4d7aa859f4bf" providerId="ADAL" clId="{6F9FAB1B-BF87-4C86-8CBB-A04DB701A215}" dt="2025-11-15T14:43:01.224" v="19"/>
        <pc:sldMkLst>
          <pc:docMk/>
          <pc:sldMk cId="502761630" sldId="366"/>
        </pc:sldMkLst>
      </pc:sldChg>
      <pc:sldChg chg="add">
        <pc:chgData name="蕭兆翔" userId="c09afb0b-60c9-45d8-81f2-4d7aa859f4bf" providerId="ADAL" clId="{6F9FAB1B-BF87-4C86-8CBB-A04DB701A215}" dt="2025-11-15T14:43:01.224" v="19"/>
        <pc:sldMkLst>
          <pc:docMk/>
          <pc:sldMk cId="3867946133" sldId="368"/>
        </pc:sldMkLst>
      </pc:sldChg>
      <pc:sldChg chg="modSp mod">
        <pc:chgData name="蕭兆翔" userId="c09afb0b-60c9-45d8-81f2-4d7aa859f4bf" providerId="ADAL" clId="{6F9FAB1B-BF87-4C86-8CBB-A04DB701A215}" dt="2025-11-15T15:13:35.037" v="285" actId="207"/>
        <pc:sldMkLst>
          <pc:docMk/>
          <pc:sldMk cId="1449316844" sldId="401"/>
        </pc:sldMkLst>
        <pc:graphicFrameChg chg="modGraphic">
          <ac:chgData name="蕭兆翔" userId="c09afb0b-60c9-45d8-81f2-4d7aa859f4bf" providerId="ADAL" clId="{6F9FAB1B-BF87-4C86-8CBB-A04DB701A215}" dt="2025-11-15T15:13:35.037" v="285" actId="207"/>
          <ac:graphicFrameMkLst>
            <pc:docMk/>
            <pc:sldMk cId="1449316844" sldId="401"/>
            <ac:graphicFrameMk id="32" creationId="{E5D51063-568E-4153-8D9A-4D25A4E6C220}"/>
          </ac:graphicFrameMkLst>
        </pc:graphicFrameChg>
      </pc:sldChg>
      <pc:sldChg chg="add">
        <pc:chgData name="蕭兆翔" userId="c09afb0b-60c9-45d8-81f2-4d7aa859f4bf" providerId="ADAL" clId="{6F9FAB1B-BF87-4C86-8CBB-A04DB701A215}" dt="2025-11-15T15:22:28.046" v="434"/>
        <pc:sldMkLst>
          <pc:docMk/>
          <pc:sldMk cId="3067381678" sldId="404"/>
        </pc:sldMkLst>
      </pc:sldChg>
      <pc:sldChg chg="add">
        <pc:chgData name="蕭兆翔" userId="c09afb0b-60c9-45d8-81f2-4d7aa859f4bf" providerId="ADAL" clId="{6F9FAB1B-BF87-4C86-8CBB-A04DB701A215}" dt="2025-11-15T15:22:28.046" v="434"/>
        <pc:sldMkLst>
          <pc:docMk/>
          <pc:sldMk cId="989326539" sldId="406"/>
        </pc:sldMkLst>
      </pc:sldChg>
      <pc:sldChg chg="add del">
        <pc:chgData name="蕭兆翔" userId="c09afb0b-60c9-45d8-81f2-4d7aa859f4bf" providerId="ADAL" clId="{6F9FAB1B-BF87-4C86-8CBB-A04DB701A215}" dt="2025-11-15T15:12:18.992" v="276"/>
        <pc:sldMkLst>
          <pc:docMk/>
          <pc:sldMk cId="306744845" sldId="412"/>
        </pc:sldMkLst>
      </pc:sldChg>
      <pc:sldChg chg="add del">
        <pc:chgData name="蕭兆翔" userId="c09afb0b-60c9-45d8-81f2-4d7aa859f4bf" providerId="ADAL" clId="{6F9FAB1B-BF87-4C86-8CBB-A04DB701A215}" dt="2025-11-15T15:12:18.992" v="276"/>
        <pc:sldMkLst>
          <pc:docMk/>
          <pc:sldMk cId="1920470960" sldId="414"/>
        </pc:sldMkLst>
      </pc:sldChg>
      <pc:sldChg chg="modSp add del">
        <pc:chgData name="蕭兆翔" userId="c09afb0b-60c9-45d8-81f2-4d7aa859f4bf" providerId="ADAL" clId="{6F9FAB1B-BF87-4C86-8CBB-A04DB701A215}" dt="2025-11-19T04:51:13.908" v="514"/>
        <pc:sldMkLst>
          <pc:docMk/>
          <pc:sldMk cId="849771186" sldId="416"/>
        </pc:sldMkLst>
        <pc:spChg chg="mod">
          <ac:chgData name="蕭兆翔" userId="c09afb0b-60c9-45d8-81f2-4d7aa859f4bf" providerId="ADAL" clId="{6F9FAB1B-BF87-4C86-8CBB-A04DB701A215}" dt="2025-11-19T04:51:02.100" v="513"/>
          <ac:spMkLst>
            <pc:docMk/>
            <pc:sldMk cId="849771186" sldId="416"/>
            <ac:spMk id="25" creationId="{6FCC1C6D-2A90-1FAA-B4E4-CBD324694A14}"/>
          </ac:spMkLst>
        </pc:spChg>
        <pc:spChg chg="mod">
          <ac:chgData name="蕭兆翔" userId="c09afb0b-60c9-45d8-81f2-4d7aa859f4bf" providerId="ADAL" clId="{6F9FAB1B-BF87-4C86-8CBB-A04DB701A215}" dt="2025-11-19T04:51:13.908" v="514"/>
          <ac:spMkLst>
            <pc:docMk/>
            <pc:sldMk cId="849771186" sldId="416"/>
            <ac:spMk id="27" creationId="{2F641190-436F-EEB3-E290-9229EB7937FD}"/>
          </ac:spMkLst>
        </pc:spChg>
      </pc:sldChg>
      <pc:sldChg chg="modSp add">
        <pc:chgData name="蕭兆翔" userId="c09afb0b-60c9-45d8-81f2-4d7aa859f4bf" providerId="ADAL" clId="{6F9FAB1B-BF87-4C86-8CBB-A04DB701A215}" dt="2025-11-19T04:35:57.150" v="512" actId="20577"/>
        <pc:sldMkLst>
          <pc:docMk/>
          <pc:sldMk cId="480315358" sldId="417"/>
        </pc:sldMkLst>
        <pc:spChg chg="mod">
          <ac:chgData name="蕭兆翔" userId="c09afb0b-60c9-45d8-81f2-4d7aa859f4bf" providerId="ADAL" clId="{6F9FAB1B-BF87-4C86-8CBB-A04DB701A215}" dt="2025-11-19T04:35:57.150" v="512" actId="20577"/>
          <ac:spMkLst>
            <pc:docMk/>
            <pc:sldMk cId="480315358" sldId="417"/>
            <ac:spMk id="7" creationId="{C59CF6CA-FE3F-4029-1018-A432C62D9B3D}"/>
          </ac:spMkLst>
        </pc:spChg>
      </pc:sldChg>
      <pc:sldChg chg="addSp delSp modSp mod">
        <pc:chgData name="蕭兆翔" userId="c09afb0b-60c9-45d8-81f2-4d7aa859f4bf" providerId="ADAL" clId="{6F9FAB1B-BF87-4C86-8CBB-A04DB701A215}" dt="2025-11-15T15:21:25.465" v="424"/>
        <pc:sldMkLst>
          <pc:docMk/>
          <pc:sldMk cId="3709126821" sldId="418"/>
        </pc:sldMkLst>
        <pc:spChg chg="add mod">
          <ac:chgData name="蕭兆翔" userId="c09afb0b-60c9-45d8-81f2-4d7aa859f4bf" providerId="ADAL" clId="{6F9FAB1B-BF87-4C86-8CBB-A04DB701A215}" dt="2025-11-15T15:21:25.465" v="424"/>
          <ac:spMkLst>
            <pc:docMk/>
            <pc:sldMk cId="3709126821" sldId="418"/>
            <ac:spMk id="35" creationId="{223BDB56-3975-47A5-29D9-1B18FD62166D}"/>
          </ac:spMkLst>
        </pc:spChg>
        <pc:graphicFrameChg chg="modGraphic">
          <ac:chgData name="蕭兆翔" userId="c09afb0b-60c9-45d8-81f2-4d7aa859f4bf" providerId="ADAL" clId="{6F9FAB1B-BF87-4C86-8CBB-A04DB701A215}" dt="2025-11-15T15:17:23.474" v="332" actId="20577"/>
          <ac:graphicFrameMkLst>
            <pc:docMk/>
            <pc:sldMk cId="3709126821" sldId="418"/>
            <ac:graphicFrameMk id="9" creationId="{138FC688-86F4-5731-4304-BAFAE64E2A99}"/>
          </ac:graphicFrameMkLst>
        </pc:graphicFrameChg>
        <pc:graphicFrameChg chg="modGraphic">
          <ac:chgData name="蕭兆翔" userId="c09afb0b-60c9-45d8-81f2-4d7aa859f4bf" providerId="ADAL" clId="{6F9FAB1B-BF87-4C86-8CBB-A04DB701A215}" dt="2025-11-15T15:16:44.526" v="311" actId="20577"/>
          <ac:graphicFrameMkLst>
            <pc:docMk/>
            <pc:sldMk cId="3709126821" sldId="418"/>
            <ac:graphicFrameMk id="11" creationId="{40CC3670-0258-6CE6-E212-75A7FFC879C8}"/>
          </ac:graphicFrameMkLst>
        </pc:graphicFrameChg>
        <pc:graphicFrameChg chg="mod modGraphic">
          <ac:chgData name="蕭兆翔" userId="c09afb0b-60c9-45d8-81f2-4d7aa859f4bf" providerId="ADAL" clId="{6F9FAB1B-BF87-4C86-8CBB-A04DB701A215}" dt="2025-11-15T15:19:14.126" v="405" actId="20577"/>
          <ac:graphicFrameMkLst>
            <pc:docMk/>
            <pc:sldMk cId="3709126821" sldId="418"/>
            <ac:graphicFrameMk id="15" creationId="{FD6617F4-B769-C88D-1D30-0BB57BB28B10}"/>
          </ac:graphicFrameMkLst>
        </pc:graphicFrameChg>
        <pc:graphicFrameChg chg="mod modGraphic">
          <ac:chgData name="蕭兆翔" userId="c09afb0b-60c9-45d8-81f2-4d7aa859f4bf" providerId="ADAL" clId="{6F9FAB1B-BF87-4C86-8CBB-A04DB701A215}" dt="2025-11-15T15:18:04.032" v="356" actId="404"/>
          <ac:graphicFrameMkLst>
            <pc:docMk/>
            <pc:sldMk cId="3709126821" sldId="418"/>
            <ac:graphicFrameMk id="19" creationId="{1DF3BEE4-B5BD-A67C-EBC3-BCDD2A153289}"/>
          </ac:graphicFrameMkLst>
        </pc:graphicFrameChg>
      </pc:sldChg>
      <pc:sldChg chg="modSp mod">
        <pc:chgData name="蕭兆翔" userId="c09afb0b-60c9-45d8-81f2-4d7aa859f4bf" providerId="ADAL" clId="{6F9FAB1B-BF87-4C86-8CBB-A04DB701A215}" dt="2025-11-15T15:21:21.633" v="422" actId="14100"/>
        <pc:sldMkLst>
          <pc:docMk/>
          <pc:sldMk cId="2558497788" sldId="419"/>
        </pc:sldMkLst>
        <pc:spChg chg="mod">
          <ac:chgData name="蕭兆翔" userId="c09afb0b-60c9-45d8-81f2-4d7aa859f4bf" providerId="ADAL" clId="{6F9FAB1B-BF87-4C86-8CBB-A04DB701A215}" dt="2025-11-15T15:21:21.633" v="422" actId="14100"/>
          <ac:spMkLst>
            <pc:docMk/>
            <pc:sldMk cId="2558497788" sldId="419"/>
            <ac:spMk id="20" creationId="{9FA37571-90F3-B90A-6972-945DB13638F7}"/>
          </ac:spMkLst>
        </pc:spChg>
      </pc:sldChg>
      <pc:sldChg chg="add">
        <pc:chgData name="蕭兆翔" userId="c09afb0b-60c9-45d8-81f2-4d7aa859f4bf" providerId="ADAL" clId="{6F9FAB1B-BF87-4C86-8CBB-A04DB701A215}" dt="2025-11-15T15:22:28.046" v="434"/>
        <pc:sldMkLst>
          <pc:docMk/>
          <pc:sldMk cId="2293569661" sldId="420"/>
        </pc:sldMkLst>
      </pc:sldChg>
      <pc:sldChg chg="modSp ord">
        <pc:chgData name="蕭兆翔" userId="c09afb0b-60c9-45d8-81f2-4d7aa859f4bf" providerId="ADAL" clId="{6F9FAB1B-BF87-4C86-8CBB-A04DB701A215}" dt="2025-11-19T05:04:00.554" v="515"/>
        <pc:sldMkLst>
          <pc:docMk/>
          <pc:sldMk cId="4103153210" sldId="425"/>
        </pc:sldMkLst>
        <pc:spChg chg="mod">
          <ac:chgData name="蕭兆翔" userId="c09afb0b-60c9-45d8-81f2-4d7aa859f4bf" providerId="ADAL" clId="{6F9FAB1B-BF87-4C86-8CBB-A04DB701A215}" dt="2025-11-19T05:04:00.554" v="515"/>
          <ac:spMkLst>
            <pc:docMk/>
            <pc:sldMk cId="4103153210" sldId="425"/>
            <ac:spMk id="9" creationId="{27436D4D-330A-93D6-829C-87063330DEE7}"/>
          </ac:spMkLst>
        </pc:spChg>
      </pc:sldChg>
      <pc:sldChg chg="add">
        <pc:chgData name="蕭兆翔" userId="c09afb0b-60c9-45d8-81f2-4d7aa859f4bf" providerId="ADAL" clId="{6F9FAB1B-BF87-4C86-8CBB-A04DB701A215}" dt="2025-11-15T14:43:01.224" v="19"/>
        <pc:sldMkLst>
          <pc:docMk/>
          <pc:sldMk cId="2807283966" sldId="430"/>
        </pc:sldMkLst>
      </pc:sldChg>
      <pc:sldChg chg="addSp modSp add mod">
        <pc:chgData name="蕭兆翔" userId="c09afb0b-60c9-45d8-81f2-4d7aa859f4bf" providerId="ADAL" clId="{6F9FAB1B-BF87-4C86-8CBB-A04DB701A215}" dt="2025-11-15T15:03:51.325" v="151" actId="207"/>
        <pc:sldMkLst>
          <pc:docMk/>
          <pc:sldMk cId="1775197359" sldId="431"/>
        </pc:sldMkLst>
        <pc:spChg chg="mod">
          <ac:chgData name="蕭兆翔" userId="c09afb0b-60c9-45d8-81f2-4d7aa859f4bf" providerId="ADAL" clId="{6F9FAB1B-BF87-4C86-8CBB-A04DB701A215}" dt="2025-11-15T15:03:09.517" v="136" actId="20577"/>
          <ac:spMkLst>
            <pc:docMk/>
            <pc:sldMk cId="1775197359" sldId="431"/>
            <ac:spMk id="3" creationId="{0A3D66E6-EE59-7508-620D-72BED685A909}"/>
          </ac:spMkLst>
        </pc:spChg>
        <pc:spChg chg="add mod">
          <ac:chgData name="蕭兆翔" userId="c09afb0b-60c9-45d8-81f2-4d7aa859f4bf" providerId="ADAL" clId="{6F9FAB1B-BF87-4C86-8CBB-A04DB701A215}" dt="2025-11-15T15:03:47.505" v="150" actId="1076"/>
          <ac:spMkLst>
            <pc:docMk/>
            <pc:sldMk cId="1775197359" sldId="431"/>
            <ac:spMk id="10" creationId="{A95F77AC-D452-03B6-3711-D66C0F7E8C6E}"/>
          </ac:spMkLst>
        </pc:spChg>
        <pc:graphicFrameChg chg="modGraphic">
          <ac:chgData name="蕭兆翔" userId="c09afb0b-60c9-45d8-81f2-4d7aa859f4bf" providerId="ADAL" clId="{6F9FAB1B-BF87-4C86-8CBB-A04DB701A215}" dt="2025-11-15T15:03:51.325" v="151" actId="207"/>
          <ac:graphicFrameMkLst>
            <pc:docMk/>
            <pc:sldMk cId="1775197359" sldId="431"/>
            <ac:graphicFrameMk id="4" creationId="{C6748030-DADB-8D2F-47D5-9E35085C1B85}"/>
          </ac:graphicFrameMkLst>
        </pc:graphicFrameChg>
        <pc:graphicFrameChg chg="mod modGraphic">
          <ac:chgData name="蕭兆翔" userId="c09afb0b-60c9-45d8-81f2-4d7aa859f4bf" providerId="ADAL" clId="{6F9FAB1B-BF87-4C86-8CBB-A04DB701A215}" dt="2025-11-15T15:03:13.297" v="139" actId="20577"/>
          <ac:graphicFrameMkLst>
            <pc:docMk/>
            <pc:sldMk cId="1775197359" sldId="431"/>
            <ac:graphicFrameMk id="5" creationId="{184FA591-D055-4AA6-7956-0579E48FF6B9}"/>
          </ac:graphicFrameMkLst>
        </pc:graphicFrameChg>
      </pc:sldChg>
      <pc:sldChg chg="add">
        <pc:chgData name="蕭兆翔" userId="c09afb0b-60c9-45d8-81f2-4d7aa859f4bf" providerId="ADAL" clId="{6F9FAB1B-BF87-4C86-8CBB-A04DB701A215}" dt="2025-11-15T15:07:13.081" v="154"/>
        <pc:sldMkLst>
          <pc:docMk/>
          <pc:sldMk cId="4276013597" sldId="432"/>
        </pc:sldMkLst>
      </pc:sldChg>
      <pc:sldChg chg="modSp add mod">
        <pc:chgData name="蕭兆翔" userId="c09afb0b-60c9-45d8-81f2-4d7aa859f4bf" providerId="ADAL" clId="{6F9FAB1B-BF87-4C86-8CBB-A04DB701A215}" dt="2025-11-15T15:10:27.649" v="242" actId="20577"/>
        <pc:sldMkLst>
          <pc:docMk/>
          <pc:sldMk cId="312768865" sldId="433"/>
        </pc:sldMkLst>
        <pc:spChg chg="mod">
          <ac:chgData name="蕭兆翔" userId="c09afb0b-60c9-45d8-81f2-4d7aa859f4bf" providerId="ADAL" clId="{6F9FAB1B-BF87-4C86-8CBB-A04DB701A215}" dt="2025-11-15T15:10:27.649" v="242" actId="20577"/>
          <ac:spMkLst>
            <pc:docMk/>
            <pc:sldMk cId="312768865" sldId="433"/>
            <ac:spMk id="6" creationId="{BD32CD89-1EF4-9C76-276A-8102E3D784CA}"/>
          </ac:spMkLst>
        </pc:spChg>
      </pc:sldChg>
      <pc:sldChg chg="addSp modSp new mod">
        <pc:chgData name="蕭兆翔" userId="c09afb0b-60c9-45d8-81f2-4d7aa859f4bf" providerId="ADAL" clId="{6F9FAB1B-BF87-4C86-8CBB-A04DB701A215}" dt="2025-11-15T15:25:17.130" v="478" actId="1076"/>
        <pc:sldMkLst>
          <pc:docMk/>
          <pc:sldMk cId="3163292122" sldId="434"/>
        </pc:sldMkLst>
        <pc:spChg chg="add mod">
          <ac:chgData name="蕭兆翔" userId="c09afb0b-60c9-45d8-81f2-4d7aa859f4bf" providerId="ADAL" clId="{6F9FAB1B-BF87-4C86-8CBB-A04DB701A215}" dt="2025-11-15T15:25:17.130" v="478" actId="1076"/>
          <ac:spMkLst>
            <pc:docMk/>
            <pc:sldMk cId="3163292122" sldId="434"/>
            <ac:spMk id="3" creationId="{E56831E9-225C-C359-A5BD-A58759A8076D}"/>
          </ac:spMkLst>
        </pc:spChg>
      </pc:sldChg>
      <pc:sldChg chg="modSp add mod ord">
        <pc:chgData name="蕭兆翔" userId="c09afb0b-60c9-45d8-81f2-4d7aa859f4bf" providerId="ADAL" clId="{6F9FAB1B-BF87-4C86-8CBB-A04DB701A215}" dt="2025-11-15T15:25:43.646" v="484" actId="1076"/>
        <pc:sldMkLst>
          <pc:docMk/>
          <pc:sldMk cId="360982110" sldId="435"/>
        </pc:sldMkLst>
        <pc:spChg chg="mod">
          <ac:chgData name="蕭兆翔" userId="c09afb0b-60c9-45d8-81f2-4d7aa859f4bf" providerId="ADAL" clId="{6F9FAB1B-BF87-4C86-8CBB-A04DB701A215}" dt="2025-11-15T15:25:43.646" v="484" actId="1076"/>
          <ac:spMkLst>
            <pc:docMk/>
            <pc:sldMk cId="360982110" sldId="435"/>
            <ac:spMk id="3" creationId="{26EF7E95-8DF0-B910-869F-D63171361ABC}"/>
          </ac:spMkLst>
        </pc:spChg>
      </pc:sldChg>
      <pc:sldChg chg="add">
        <pc:chgData name="蕭兆翔" userId="c09afb0b-60c9-45d8-81f2-4d7aa859f4bf" providerId="ADAL" clId="{6F9FAB1B-BF87-4C86-8CBB-A04DB701A215}" dt="2025-11-15T15:12:18.992" v="276"/>
        <pc:sldMkLst>
          <pc:docMk/>
          <pc:sldMk cId="1629236844" sldId="436"/>
        </pc:sldMkLst>
      </pc:sldChg>
      <pc:sldChg chg="addSp modSp add">
        <pc:chgData name="蕭兆翔" userId="c09afb0b-60c9-45d8-81f2-4d7aa859f4bf" providerId="ADAL" clId="{6F9FAB1B-BF87-4C86-8CBB-A04DB701A215}" dt="2025-11-15T15:12:37.592" v="277"/>
        <pc:sldMkLst>
          <pc:docMk/>
          <pc:sldMk cId="289632088" sldId="437"/>
        </pc:sldMkLst>
        <pc:spChg chg="add mod">
          <ac:chgData name="蕭兆翔" userId="c09afb0b-60c9-45d8-81f2-4d7aa859f4bf" providerId="ADAL" clId="{6F9FAB1B-BF87-4C86-8CBB-A04DB701A215}" dt="2025-11-15T15:12:37.592" v="277"/>
          <ac:spMkLst>
            <pc:docMk/>
            <pc:sldMk cId="289632088" sldId="437"/>
            <ac:spMk id="4" creationId="{E04C921D-59BA-5F86-6FF0-90E24C633DB8}"/>
          </ac:spMkLst>
        </pc:spChg>
      </pc:sldChg>
      <pc:sldChg chg="modSp add mod">
        <pc:chgData name="蕭兆翔" userId="c09afb0b-60c9-45d8-81f2-4d7aa859f4bf" providerId="ADAL" clId="{6F9FAB1B-BF87-4C86-8CBB-A04DB701A215}" dt="2025-11-15T15:26:04.962" v="488" actId="1076"/>
        <pc:sldMkLst>
          <pc:docMk/>
          <pc:sldMk cId="4007807343" sldId="438"/>
        </pc:sldMkLst>
        <pc:spChg chg="mod">
          <ac:chgData name="蕭兆翔" userId="c09afb0b-60c9-45d8-81f2-4d7aa859f4bf" providerId="ADAL" clId="{6F9FAB1B-BF87-4C86-8CBB-A04DB701A215}" dt="2025-11-15T15:26:04.962" v="488" actId="1076"/>
          <ac:spMkLst>
            <pc:docMk/>
            <pc:sldMk cId="4007807343" sldId="438"/>
            <ac:spMk id="3" creationId="{03B346DB-60C3-7855-D18E-A90AE06FDBBB}"/>
          </ac:spMkLst>
        </pc:spChg>
      </pc:sldChg>
      <pc:sldChg chg="add">
        <pc:chgData name="蕭兆翔" userId="c09afb0b-60c9-45d8-81f2-4d7aa859f4bf" providerId="ADAL" clId="{6F9FAB1B-BF87-4C86-8CBB-A04DB701A215}" dt="2025-11-15T15:22:28.046" v="434"/>
        <pc:sldMkLst>
          <pc:docMk/>
          <pc:sldMk cId="677167667" sldId="487"/>
        </pc:sldMkLst>
      </pc:sldChg>
      <pc:sldChg chg="add">
        <pc:chgData name="蕭兆翔" userId="c09afb0b-60c9-45d8-81f2-4d7aa859f4bf" providerId="ADAL" clId="{6F9FAB1B-BF87-4C86-8CBB-A04DB701A215}" dt="2025-11-15T15:22:28.046" v="434"/>
        <pc:sldMkLst>
          <pc:docMk/>
          <pc:sldMk cId="647669920" sldId="488"/>
        </pc:sldMkLst>
      </pc:sldChg>
      <pc:sldChg chg="modSp add mod">
        <pc:chgData name="蕭兆翔" userId="c09afb0b-60c9-45d8-81f2-4d7aa859f4bf" providerId="ADAL" clId="{6F9FAB1B-BF87-4C86-8CBB-A04DB701A215}" dt="2025-11-19T05:11:19.958" v="541" actId="108"/>
        <pc:sldMkLst>
          <pc:docMk/>
          <pc:sldMk cId="328982423" sldId="489"/>
        </pc:sldMkLst>
        <pc:graphicFrameChg chg="mod modGraphic">
          <ac:chgData name="蕭兆翔" userId="c09afb0b-60c9-45d8-81f2-4d7aa859f4bf" providerId="ADAL" clId="{6F9FAB1B-BF87-4C86-8CBB-A04DB701A215}" dt="2025-11-19T05:11:19.958" v="541" actId="108"/>
          <ac:graphicFrameMkLst>
            <pc:docMk/>
            <pc:sldMk cId="328982423" sldId="489"/>
            <ac:graphicFrameMk id="21" creationId="{079DBDEB-5875-D5D0-2A19-EDE229FA679B}"/>
          </ac:graphicFrameMkLst>
        </pc:graphicFrameChg>
      </pc:sldChg>
      <pc:sldChg chg="add">
        <pc:chgData name="蕭兆翔" userId="c09afb0b-60c9-45d8-81f2-4d7aa859f4bf" providerId="ADAL" clId="{6F9FAB1B-BF87-4C86-8CBB-A04DB701A215}" dt="2025-11-15T15:22:28.046" v="434"/>
        <pc:sldMkLst>
          <pc:docMk/>
          <pc:sldMk cId="3151891525" sldId="491"/>
        </pc:sldMkLst>
      </pc:sldChg>
      <pc:sldChg chg="add">
        <pc:chgData name="蕭兆翔" userId="c09afb0b-60c9-45d8-81f2-4d7aa859f4bf" providerId="ADAL" clId="{6F9FAB1B-BF87-4C86-8CBB-A04DB701A215}" dt="2025-11-15T15:22:28.046" v="434"/>
        <pc:sldMkLst>
          <pc:docMk/>
          <pc:sldMk cId="459030246" sldId="492"/>
        </pc:sldMkLst>
      </pc:sldChg>
      <pc:sldChg chg="add">
        <pc:chgData name="蕭兆翔" userId="c09afb0b-60c9-45d8-81f2-4d7aa859f4bf" providerId="ADAL" clId="{6F9FAB1B-BF87-4C86-8CBB-A04DB701A215}" dt="2025-11-15T15:22:28.046" v="434"/>
        <pc:sldMkLst>
          <pc:docMk/>
          <pc:sldMk cId="2044450817" sldId="493"/>
        </pc:sldMkLst>
      </pc:sldChg>
      <pc:sldChg chg="modSp add mod">
        <pc:chgData name="蕭兆翔" userId="c09afb0b-60c9-45d8-81f2-4d7aa859f4bf" providerId="ADAL" clId="{6F9FAB1B-BF87-4C86-8CBB-A04DB701A215}" dt="2025-11-15T15:24:37.647" v="469" actId="1076"/>
        <pc:sldMkLst>
          <pc:docMk/>
          <pc:sldMk cId="3453297754" sldId="494"/>
        </pc:sldMkLst>
        <pc:spChg chg="mod">
          <ac:chgData name="蕭兆翔" userId="c09afb0b-60c9-45d8-81f2-4d7aa859f4bf" providerId="ADAL" clId="{6F9FAB1B-BF87-4C86-8CBB-A04DB701A215}" dt="2025-11-15T15:24:37.647" v="469" actId="1076"/>
          <ac:spMkLst>
            <pc:docMk/>
            <pc:sldMk cId="3453297754" sldId="494"/>
            <ac:spMk id="3" creationId="{2F2AC52B-B852-ADA3-BC4E-D27DFB4ADA78}"/>
          </ac:spMkLst>
        </pc:spChg>
      </pc:sldChg>
    </pc:docChg>
  </pc:docChgLst>
  <pc:docChgLst>
    <pc:chgData name="蕭兆翔" userId="c09afb0b-60c9-45d8-81f2-4d7aa859f4bf" providerId="ADAL" clId="{BB09C43D-0E4C-4E7A-9FB9-8CA7AAD0FD7F}"/>
    <pc:docChg chg="undo custSel addSld delSld modSld">
      <pc:chgData name="蕭兆翔" userId="c09afb0b-60c9-45d8-81f2-4d7aa859f4bf" providerId="ADAL" clId="{BB09C43D-0E4C-4E7A-9FB9-8CA7AAD0FD7F}" dt="2025-11-25T05:33:14.032" v="222" actId="1076"/>
      <pc:docMkLst>
        <pc:docMk/>
      </pc:docMkLst>
      <pc:sldChg chg="addSp delSp modSp mod">
        <pc:chgData name="蕭兆翔" userId="c09afb0b-60c9-45d8-81f2-4d7aa859f4bf" providerId="ADAL" clId="{BB09C43D-0E4C-4E7A-9FB9-8CA7AAD0FD7F}" dt="2025-11-25T05:33:14.032" v="222" actId="1076"/>
        <pc:sldMkLst>
          <pc:docMk/>
          <pc:sldMk cId="3067381678" sldId="404"/>
        </pc:sldMkLst>
        <pc:spChg chg="mod">
          <ac:chgData name="蕭兆翔" userId="c09afb0b-60c9-45d8-81f2-4d7aa859f4bf" providerId="ADAL" clId="{BB09C43D-0E4C-4E7A-9FB9-8CA7AAD0FD7F}" dt="2025-11-25T04:56:29.648" v="110" actId="20577"/>
          <ac:spMkLst>
            <pc:docMk/>
            <pc:sldMk cId="3067381678" sldId="404"/>
            <ac:spMk id="50" creationId="{8E04D429-CB85-725B-C951-3EE3322D7E51}"/>
          </ac:spMkLst>
        </pc:spChg>
        <pc:picChg chg="add mod">
          <ac:chgData name="蕭兆翔" userId="c09afb0b-60c9-45d8-81f2-4d7aa859f4bf" providerId="ADAL" clId="{BB09C43D-0E4C-4E7A-9FB9-8CA7AAD0FD7F}" dt="2025-11-25T04:56:14.622" v="106" actId="1076"/>
          <ac:picMkLst>
            <pc:docMk/>
            <pc:sldMk cId="3067381678" sldId="404"/>
            <ac:picMk id="7" creationId="{DC4A2890-BB25-89FD-8463-EE5F9C8811C9}"/>
          </ac:picMkLst>
        </pc:picChg>
        <pc:picChg chg="add mod">
          <ac:chgData name="蕭兆翔" userId="c09afb0b-60c9-45d8-81f2-4d7aa859f4bf" providerId="ADAL" clId="{BB09C43D-0E4C-4E7A-9FB9-8CA7AAD0FD7F}" dt="2025-11-25T05:33:14.032" v="222" actId="1076"/>
          <ac:picMkLst>
            <pc:docMk/>
            <pc:sldMk cId="3067381678" sldId="404"/>
            <ac:picMk id="10" creationId="{4B60B59E-0288-CB00-ECA2-668FC1CB9A87}"/>
          </ac:picMkLst>
        </pc:picChg>
        <pc:picChg chg="del">
          <ac:chgData name="蕭兆翔" userId="c09afb0b-60c9-45d8-81f2-4d7aa859f4bf" providerId="ADAL" clId="{BB09C43D-0E4C-4E7A-9FB9-8CA7AAD0FD7F}" dt="2025-11-25T04:56:07.465" v="101" actId="478"/>
          <ac:picMkLst>
            <pc:docMk/>
            <pc:sldMk cId="3067381678" sldId="404"/>
            <ac:picMk id="16" creationId="{89CFAC94-8097-3134-18B5-2FC6B99F76BD}"/>
          </ac:picMkLst>
        </pc:picChg>
      </pc:sldChg>
      <pc:sldChg chg="addSp modSp mod">
        <pc:chgData name="蕭兆翔" userId="c09afb0b-60c9-45d8-81f2-4d7aa859f4bf" providerId="ADAL" clId="{BB09C43D-0E4C-4E7A-9FB9-8CA7AAD0FD7F}" dt="2025-11-25T04:54:28.207" v="78" actId="20577"/>
        <pc:sldMkLst>
          <pc:docMk/>
          <pc:sldMk cId="2293569661" sldId="420"/>
        </pc:sldMkLst>
        <pc:spChg chg="mod">
          <ac:chgData name="蕭兆翔" userId="c09afb0b-60c9-45d8-81f2-4d7aa859f4bf" providerId="ADAL" clId="{BB09C43D-0E4C-4E7A-9FB9-8CA7AAD0FD7F}" dt="2025-11-25T04:53:40.450" v="24" actId="20577"/>
          <ac:spMkLst>
            <pc:docMk/>
            <pc:sldMk cId="2293569661" sldId="420"/>
            <ac:spMk id="12" creationId="{A0A14F33-0738-0A75-1EC6-72A9F91A5895}"/>
          </ac:spMkLst>
        </pc:spChg>
        <pc:spChg chg="add mod">
          <ac:chgData name="蕭兆翔" userId="c09afb0b-60c9-45d8-81f2-4d7aa859f4bf" providerId="ADAL" clId="{BB09C43D-0E4C-4E7A-9FB9-8CA7AAD0FD7F}" dt="2025-11-25T04:54:12.678" v="49" actId="1076"/>
          <ac:spMkLst>
            <pc:docMk/>
            <pc:sldMk cId="2293569661" sldId="420"/>
            <ac:spMk id="18" creationId="{64BA5FD9-A61B-B01C-0874-B5DC02923440}"/>
          </ac:spMkLst>
        </pc:spChg>
        <pc:graphicFrameChg chg="add mod modGraphic">
          <ac:chgData name="蕭兆翔" userId="c09afb0b-60c9-45d8-81f2-4d7aa859f4bf" providerId="ADAL" clId="{BB09C43D-0E4C-4E7A-9FB9-8CA7AAD0FD7F}" dt="2025-11-25T04:54:28.207" v="78" actId="20577"/>
          <ac:graphicFrameMkLst>
            <pc:docMk/>
            <pc:sldMk cId="2293569661" sldId="420"/>
            <ac:graphicFrameMk id="19" creationId="{FFDF5837-EA98-D762-292D-30DF52E6F9F8}"/>
          </ac:graphicFrameMkLst>
        </pc:graphicFrameChg>
      </pc:sldChg>
      <pc:sldChg chg="modSp">
        <pc:chgData name="蕭兆翔" userId="c09afb0b-60c9-45d8-81f2-4d7aa859f4bf" providerId="ADAL" clId="{BB09C43D-0E4C-4E7A-9FB9-8CA7AAD0FD7F}" dt="2025-11-25T05:05:50.116" v="161" actId="207"/>
        <pc:sldMkLst>
          <pc:docMk/>
          <pc:sldMk cId="677167667" sldId="487"/>
        </pc:sldMkLst>
        <pc:spChg chg="mod">
          <ac:chgData name="蕭兆翔" userId="c09afb0b-60c9-45d8-81f2-4d7aa859f4bf" providerId="ADAL" clId="{BB09C43D-0E4C-4E7A-9FB9-8CA7AAD0FD7F}" dt="2025-11-25T05:05:50.116" v="161" actId="207"/>
          <ac:spMkLst>
            <pc:docMk/>
            <pc:sldMk cId="677167667" sldId="487"/>
            <ac:spMk id="24" creationId="{5B84B98F-A866-F509-7B30-10CF0C344DF0}"/>
          </ac:spMkLst>
        </pc:spChg>
      </pc:sldChg>
      <pc:sldChg chg="modSp">
        <pc:chgData name="蕭兆翔" userId="c09afb0b-60c9-45d8-81f2-4d7aa859f4bf" providerId="ADAL" clId="{BB09C43D-0E4C-4E7A-9FB9-8CA7AAD0FD7F}" dt="2025-11-25T05:07:54.187" v="190"/>
        <pc:sldMkLst>
          <pc:docMk/>
          <pc:sldMk cId="647669920" sldId="488"/>
        </pc:sldMkLst>
        <pc:spChg chg="mod">
          <ac:chgData name="蕭兆翔" userId="c09afb0b-60c9-45d8-81f2-4d7aa859f4bf" providerId="ADAL" clId="{BB09C43D-0E4C-4E7A-9FB9-8CA7AAD0FD7F}" dt="2025-11-25T05:07:43.534" v="188" actId="20577"/>
          <ac:spMkLst>
            <pc:docMk/>
            <pc:sldMk cId="647669920" sldId="488"/>
            <ac:spMk id="4" creationId="{7091F1C0-7694-29A8-22B8-D31AE6C3286A}"/>
          </ac:spMkLst>
        </pc:spChg>
        <pc:spChg chg="mod">
          <ac:chgData name="蕭兆翔" userId="c09afb0b-60c9-45d8-81f2-4d7aa859f4bf" providerId="ADAL" clId="{BB09C43D-0E4C-4E7A-9FB9-8CA7AAD0FD7F}" dt="2025-11-25T05:07:52.190" v="189"/>
          <ac:spMkLst>
            <pc:docMk/>
            <pc:sldMk cId="647669920" sldId="488"/>
            <ac:spMk id="5" creationId="{1506C4C5-56AC-FF9A-D66C-F3293E9B2BB2}"/>
          </ac:spMkLst>
        </pc:spChg>
        <pc:spChg chg="mod">
          <ac:chgData name="蕭兆翔" userId="c09afb0b-60c9-45d8-81f2-4d7aa859f4bf" providerId="ADAL" clId="{BB09C43D-0E4C-4E7A-9FB9-8CA7AAD0FD7F}" dt="2025-11-25T05:07:54.187" v="190"/>
          <ac:spMkLst>
            <pc:docMk/>
            <pc:sldMk cId="647669920" sldId="488"/>
            <ac:spMk id="6" creationId="{CD4C2658-EE0F-DE20-0132-2323712F74F9}"/>
          </ac:spMkLst>
        </pc:spChg>
        <pc:spChg chg="mod">
          <ac:chgData name="蕭兆翔" userId="c09afb0b-60c9-45d8-81f2-4d7aa859f4bf" providerId="ADAL" clId="{BB09C43D-0E4C-4E7A-9FB9-8CA7AAD0FD7F}" dt="2025-11-25T05:04:59.115" v="134" actId="20577"/>
          <ac:spMkLst>
            <pc:docMk/>
            <pc:sldMk cId="647669920" sldId="488"/>
            <ac:spMk id="23" creationId="{B70CBB65-14D0-501C-4AFA-4B70BF1A58A8}"/>
          </ac:spMkLst>
        </pc:spChg>
        <pc:spChg chg="mod">
          <ac:chgData name="蕭兆翔" userId="c09afb0b-60c9-45d8-81f2-4d7aa859f4bf" providerId="ADAL" clId="{BB09C43D-0E4C-4E7A-9FB9-8CA7AAD0FD7F}" dt="2025-11-25T05:05:26.874" v="160" actId="20577"/>
          <ac:spMkLst>
            <pc:docMk/>
            <pc:sldMk cId="647669920" sldId="488"/>
            <ac:spMk id="24" creationId="{ACB2B306-2188-8449-DB90-282A2AF164A7}"/>
          </ac:spMkLst>
        </pc:spChg>
        <pc:spChg chg="mod">
          <ac:chgData name="蕭兆翔" userId="c09afb0b-60c9-45d8-81f2-4d7aa859f4bf" providerId="ADAL" clId="{BB09C43D-0E4C-4E7A-9FB9-8CA7AAD0FD7F}" dt="2025-11-25T05:05:20.466" v="154" actId="20577"/>
          <ac:spMkLst>
            <pc:docMk/>
            <pc:sldMk cId="647669920" sldId="488"/>
            <ac:spMk id="25" creationId="{D1C9E6D7-C9F7-A5C0-0F01-9F82D08E83E7}"/>
          </ac:spMkLst>
        </pc:spChg>
      </pc:sldChg>
      <pc:sldChg chg="modSp">
        <pc:chgData name="蕭兆翔" userId="c09afb0b-60c9-45d8-81f2-4d7aa859f4bf" providerId="ADAL" clId="{BB09C43D-0E4C-4E7A-9FB9-8CA7AAD0FD7F}" dt="2025-11-25T05:08:32.453" v="196" actId="20577"/>
        <pc:sldMkLst>
          <pc:docMk/>
          <pc:sldMk cId="328982423" sldId="489"/>
        </pc:sldMkLst>
        <pc:spChg chg="mod">
          <ac:chgData name="蕭兆翔" userId="c09afb0b-60c9-45d8-81f2-4d7aa859f4bf" providerId="ADAL" clId="{BB09C43D-0E4C-4E7A-9FB9-8CA7AAD0FD7F}" dt="2025-11-25T05:08:27.643" v="192" actId="20577"/>
          <ac:spMkLst>
            <pc:docMk/>
            <pc:sldMk cId="328982423" sldId="489"/>
            <ac:spMk id="4" creationId="{522CA167-21CD-C35E-A742-1D03BE15B60E}"/>
          </ac:spMkLst>
        </pc:spChg>
        <pc:spChg chg="mod">
          <ac:chgData name="蕭兆翔" userId="c09afb0b-60c9-45d8-81f2-4d7aa859f4bf" providerId="ADAL" clId="{BB09C43D-0E4C-4E7A-9FB9-8CA7AAD0FD7F}" dt="2025-11-25T05:08:30.133" v="194" actId="20577"/>
          <ac:spMkLst>
            <pc:docMk/>
            <pc:sldMk cId="328982423" sldId="489"/>
            <ac:spMk id="5" creationId="{373A6D8F-FB63-8B04-25A2-C38FEED0F7B3}"/>
          </ac:spMkLst>
        </pc:spChg>
        <pc:spChg chg="mod">
          <ac:chgData name="蕭兆翔" userId="c09afb0b-60c9-45d8-81f2-4d7aa859f4bf" providerId="ADAL" clId="{BB09C43D-0E4C-4E7A-9FB9-8CA7AAD0FD7F}" dt="2025-11-25T05:08:32.453" v="196" actId="20577"/>
          <ac:spMkLst>
            <pc:docMk/>
            <pc:sldMk cId="328982423" sldId="489"/>
            <ac:spMk id="6" creationId="{31799A98-71BA-91AA-FB0B-D5C94D3DDEBA}"/>
          </ac:spMkLst>
        </pc:spChg>
      </pc:sldChg>
      <pc:sldChg chg="addSp delSp modSp mod">
        <pc:chgData name="蕭兆翔" userId="c09afb0b-60c9-45d8-81f2-4d7aa859f4bf" providerId="ADAL" clId="{BB09C43D-0E4C-4E7A-9FB9-8CA7AAD0FD7F}" dt="2025-11-25T04:56:04.235" v="100" actId="1076"/>
        <pc:sldMkLst>
          <pc:docMk/>
          <pc:sldMk cId="3151891525" sldId="491"/>
        </pc:sldMkLst>
        <pc:picChg chg="add mod">
          <ac:chgData name="蕭兆翔" userId="c09afb0b-60c9-45d8-81f2-4d7aa859f4bf" providerId="ADAL" clId="{BB09C43D-0E4C-4E7A-9FB9-8CA7AAD0FD7F}" dt="2025-11-25T04:56:04.235" v="100" actId="1076"/>
          <ac:picMkLst>
            <pc:docMk/>
            <pc:sldMk cId="3151891525" sldId="491"/>
            <ac:picMk id="9" creationId="{B19CE711-E967-71B2-BED3-A4B924669190}"/>
          </ac:picMkLst>
        </pc:picChg>
        <pc:picChg chg="del mod">
          <ac:chgData name="蕭兆翔" userId="c09afb0b-60c9-45d8-81f2-4d7aa859f4bf" providerId="ADAL" clId="{BB09C43D-0E4C-4E7A-9FB9-8CA7AAD0FD7F}" dt="2025-11-25T04:55:58.096" v="96" actId="478"/>
          <ac:picMkLst>
            <pc:docMk/>
            <pc:sldMk cId="3151891525" sldId="491"/>
            <ac:picMk id="48" creationId="{74A2E98D-2F3E-E000-D998-481897CAD26B}"/>
          </ac:picMkLst>
        </pc:picChg>
      </pc:sldChg>
      <pc:sldChg chg="addSp modSp mod">
        <pc:chgData name="蕭兆翔" userId="c09afb0b-60c9-45d8-81f2-4d7aa859f4bf" providerId="ADAL" clId="{BB09C43D-0E4C-4E7A-9FB9-8CA7AAD0FD7F}" dt="2025-11-25T04:55:19.587" v="90" actId="20577"/>
        <pc:sldMkLst>
          <pc:docMk/>
          <pc:sldMk cId="2044450817" sldId="493"/>
        </pc:sldMkLst>
        <pc:spChg chg="mod">
          <ac:chgData name="蕭兆翔" userId="c09afb0b-60c9-45d8-81f2-4d7aa859f4bf" providerId="ADAL" clId="{BB09C43D-0E4C-4E7A-9FB9-8CA7AAD0FD7F}" dt="2025-11-25T04:55:19.587" v="90" actId="20577"/>
          <ac:spMkLst>
            <pc:docMk/>
            <pc:sldMk cId="2044450817" sldId="493"/>
            <ac:spMk id="12" creationId="{3C7779C0-35F9-C54F-0A73-8CD1C8818E62}"/>
          </ac:spMkLst>
        </pc:spChg>
        <pc:spChg chg="add mod">
          <ac:chgData name="蕭兆翔" userId="c09afb0b-60c9-45d8-81f2-4d7aa859f4bf" providerId="ADAL" clId="{BB09C43D-0E4C-4E7A-9FB9-8CA7AAD0FD7F}" dt="2025-11-25T04:55:13.839" v="86" actId="1076"/>
          <ac:spMkLst>
            <pc:docMk/>
            <pc:sldMk cId="2044450817" sldId="493"/>
            <ac:spMk id="20" creationId="{DF699C8C-794E-89D4-88C3-269E6D72E402}"/>
          </ac:spMkLst>
        </pc:spChg>
        <pc:graphicFrameChg chg="add mod">
          <ac:chgData name="蕭兆翔" userId="c09afb0b-60c9-45d8-81f2-4d7aa859f4bf" providerId="ADAL" clId="{BB09C43D-0E4C-4E7A-9FB9-8CA7AAD0FD7F}" dt="2025-11-25T04:55:12.010" v="85" actId="1076"/>
          <ac:graphicFrameMkLst>
            <pc:docMk/>
            <pc:sldMk cId="2044450817" sldId="493"/>
            <ac:graphicFrameMk id="4" creationId="{12D9D739-5484-D953-B8F1-C6C0F0EC4116}"/>
          </ac:graphicFrameMkLst>
        </pc:graphicFrameChg>
      </pc:sldChg>
      <pc:sldChg chg="addSp modSp new del mod">
        <pc:chgData name="蕭兆翔" userId="c09afb0b-60c9-45d8-81f2-4d7aa859f4bf" providerId="ADAL" clId="{BB09C43D-0E4C-4E7A-9FB9-8CA7AAD0FD7F}" dt="2025-11-25T05:33:07.627" v="219" actId="47"/>
        <pc:sldMkLst>
          <pc:docMk/>
          <pc:sldMk cId="707478776" sldId="495"/>
        </pc:sldMkLst>
        <pc:spChg chg="add mod">
          <ac:chgData name="蕭兆翔" userId="c09afb0b-60c9-45d8-81f2-4d7aa859f4bf" providerId="ADAL" clId="{BB09C43D-0E4C-4E7A-9FB9-8CA7AAD0FD7F}" dt="2025-11-25T05:25:24.324" v="214" actId="14100"/>
          <ac:spMkLst>
            <pc:docMk/>
            <pc:sldMk cId="707478776" sldId="495"/>
            <ac:spMk id="4" creationId="{49848B9C-BE7E-9E2B-3196-ED63914709D8}"/>
          </ac:spMkLst>
        </pc:spChg>
        <pc:spChg chg="add mod">
          <ac:chgData name="蕭兆翔" userId="c09afb0b-60c9-45d8-81f2-4d7aa859f4bf" providerId="ADAL" clId="{BB09C43D-0E4C-4E7A-9FB9-8CA7AAD0FD7F}" dt="2025-11-25T05:25:21.767" v="212" actId="14100"/>
          <ac:spMkLst>
            <pc:docMk/>
            <pc:sldMk cId="707478776" sldId="495"/>
            <ac:spMk id="6" creationId="{8CB171CA-715F-673B-B8D4-6F4FD48CEA3A}"/>
          </ac:spMkLst>
        </pc:spChg>
        <pc:spChg chg="add mod">
          <ac:chgData name="蕭兆翔" userId="c09afb0b-60c9-45d8-81f2-4d7aa859f4bf" providerId="ADAL" clId="{BB09C43D-0E4C-4E7A-9FB9-8CA7AAD0FD7F}" dt="2025-11-25T05:25:51.225" v="216" actId="1076"/>
          <ac:spMkLst>
            <pc:docMk/>
            <pc:sldMk cId="707478776" sldId="495"/>
            <ac:spMk id="7" creationId="{66BE4C42-F8EC-4FE4-344B-1D7073025BB3}"/>
          </ac:spMkLst>
        </pc:spChg>
        <pc:spChg chg="add mod">
          <ac:chgData name="蕭兆翔" userId="c09afb0b-60c9-45d8-81f2-4d7aa859f4bf" providerId="ADAL" clId="{BB09C43D-0E4C-4E7A-9FB9-8CA7AAD0FD7F}" dt="2025-11-25T05:26:01.053" v="218" actId="1076"/>
          <ac:spMkLst>
            <pc:docMk/>
            <pc:sldMk cId="707478776" sldId="495"/>
            <ac:spMk id="8" creationId="{2F3882F3-879C-B199-5E2F-9F4019D01857}"/>
          </ac:spMkLst>
        </pc:spChg>
        <pc:graphicFrameChg chg="add mod">
          <ac:chgData name="蕭兆翔" userId="c09afb0b-60c9-45d8-81f2-4d7aa859f4bf" providerId="ADAL" clId="{BB09C43D-0E4C-4E7A-9FB9-8CA7AAD0FD7F}" dt="2025-11-25T05:24:36.808" v="199" actId="1076"/>
          <ac:graphicFrameMkLst>
            <pc:docMk/>
            <pc:sldMk cId="707478776" sldId="495"/>
            <ac:graphicFrameMk id="3" creationId="{EA30C0E2-3AFD-03A8-BF36-40D55104CF8A}"/>
          </ac:graphicFrameMkLst>
        </pc:graphicFrameChg>
        <pc:graphicFrameChg chg="add mod">
          <ac:chgData name="蕭兆翔" userId="c09afb0b-60c9-45d8-81f2-4d7aa859f4bf" providerId="ADAL" clId="{BB09C43D-0E4C-4E7A-9FB9-8CA7AAD0FD7F}" dt="2025-11-25T05:24:47.361" v="201" actId="1076"/>
          <ac:graphicFrameMkLst>
            <pc:docMk/>
            <pc:sldMk cId="707478776" sldId="495"/>
            <ac:graphicFrameMk id="5" creationId="{703A574B-7EC4-A945-3315-EA971835214D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0F6BA1F3-EF3D-4D7D-9D53-6A73502454B3}" type="datetimeFigureOut">
              <a:rPr lang="zh-TW" altLang="en-US" smtClean="0"/>
              <a:t>2025/11/25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5BDF7A67-B956-45B6-B4E9-2E1CB8594A2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5347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F7A67-B956-45B6-B4E9-2E1CB8594A27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93389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F7A67-B956-45B6-B4E9-2E1CB8594A27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83775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F7A67-B956-45B6-B4E9-2E1CB8594A27}" type="slidenum">
              <a:rPr lang="zh-TW" altLang="en-US" smtClean="0"/>
              <a:t>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44300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111973-BDC9-ADF0-35F7-7D189C2C72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A40C414-BDCF-9EAE-ED7C-2BE8C4B912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52DC145-36D2-54DD-9BA5-CA2952280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DF88-B21E-4744-8141-81295143F075}" type="datetime1">
              <a:rPr lang="zh-TW" altLang="en-US" smtClean="0"/>
              <a:t>2025/11/25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0020E52-D3E1-2E00-CF48-A78736249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EA4BBBB-A377-D9EB-EA18-7E9C0D0C8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2162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733CFF-E294-8B2E-1D1D-0E8AAAB96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472E57A-65AD-50FD-15CA-FB40CBFB1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8B41CCE-B231-FF95-6638-67039939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41C44-A99D-4D34-8D8C-268F70991C17}" type="datetime1">
              <a:rPr lang="zh-TW" altLang="en-US" smtClean="0"/>
              <a:t>2025/11/25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42CE8D9-A8CD-F6B1-CE89-F02918038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2177334-1675-7F06-E904-AE888F67F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7109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DCA0CC-B411-E69F-F70B-CE84F0915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0472593-362D-F34D-D798-AD4D2686EF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993B074-3AE1-AB5E-6EE6-23276D769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4B6E1-2660-4E21-847C-AFE620A3F0CA}" type="datetime1">
              <a:rPr lang="zh-TW" altLang="en-US" smtClean="0"/>
              <a:t>2025/11/25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55A56D2-4EF9-9FEE-C7F6-7B252BB69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5638B0D-E5E9-3F28-89A6-3FA6C025D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3426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317513-6104-C09D-4295-91A214EE2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325026-1AA6-6D42-D1CF-0A8E47047E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F79FF06-32A8-2189-8120-C4C0C804EA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FF27E98-8FA5-DF74-DE08-81F684B6A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C8A47-2A6B-4BC9-A1AE-B64268B1D6F5}" type="datetime1">
              <a:rPr lang="zh-TW" altLang="en-US" smtClean="0"/>
              <a:t>2025/11/25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D5AB5E1-3AFF-694C-3CCC-426B084E2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9ECB3FC-FCFC-AB49-8E5A-0A80D9947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8541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19A209-B721-44FC-0A01-EE3594924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79480B-C5E5-746A-BEA1-4989C883B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406F5F6-2FF2-D584-FAA6-93392C6325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FADAC53-2C30-2CBA-C256-3CCAB72364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EA4960E-9AFC-25AB-8013-311F9A5CE8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0E05D33D-0C87-8578-E94F-BE0FC46F2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012D1-161A-467E-BB98-C3EE5B4378D1}" type="datetime1">
              <a:rPr lang="zh-TW" altLang="en-US" smtClean="0"/>
              <a:t>2025/11/25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9F88EF6-91E1-1B92-4CE7-0052063E4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D7178E5D-3328-1466-666F-831C82A6B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5898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7DFE72-9169-D048-B461-503C9CFC2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8718450-C4AA-2B7F-0DC8-6E7F8DC6F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307C8-26B8-465B-BB78-7A8EFA3F8290}" type="datetime1">
              <a:rPr lang="zh-TW" altLang="en-US" smtClean="0"/>
              <a:t>2025/11/25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1DD51B5-1BA4-CF5F-8E46-396667D28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A0AA3D9-D503-43BB-C077-5068A071B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4291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1DB785E-32CD-4D3D-C4A7-BE5D1304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446AB-30E1-4E41-8435-FFEB669855A9}" type="datetime1">
              <a:rPr lang="zh-TW" altLang="en-US" smtClean="0"/>
              <a:t>2025/11/25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D824683-7557-6A25-E87C-83690A38B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09A61D3-9A4A-1411-74EB-9B3E4E64C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7962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942028-C333-54DD-8629-1DB2CA14F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E03A50B-AC6D-B3FB-405B-A9E5A590A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FA0CEBF-8479-223F-C634-7ADE4DA3E6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7FA64FE-2CDB-D9F6-5D16-A1D8D0B74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52762-ED5F-4C3D-9B24-CAE89EE69E6C}" type="datetime1">
              <a:rPr lang="zh-TW" altLang="en-US" smtClean="0"/>
              <a:t>2025/11/25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EE14081-34A8-2027-794C-2C5CF4613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7A3B018-278E-3EA7-CF18-44DDE4163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5389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74FC54-E23A-C37F-1EC8-59EAC36DE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29F737B-B95F-C7D4-6B78-FAFD5FBA38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7E210BB-D902-282D-0A99-A6C772C1F2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375CDE2-4A0B-35D8-A016-96FAC306B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268E9-190F-416A-875F-AC1A5A460515}" type="datetime1">
              <a:rPr lang="zh-TW" altLang="en-US" smtClean="0"/>
              <a:t>2025/11/25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62F7669-71B7-A9E2-7C32-902F0378E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BBB5F08-86A1-A4CA-A3AB-35310DB08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1186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BD9514-6A59-8F7D-D492-D9DAB1163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E8DF920-422E-A9D5-CE18-6C969E5DA8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894E6F4-046A-C714-F798-2B987752D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D7C50-A082-4F18-B29D-65651CC7F950}" type="datetime1">
              <a:rPr lang="zh-TW" altLang="en-US" smtClean="0"/>
              <a:t>2025/11/25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DD6A372-1765-57E0-7FEB-F516C3166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4DF7441-3856-95AD-7FA4-1F3CD3C54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6262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66533B3-C78D-2A42-F1F8-2FBB810BDB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8814556-CB22-D073-BD57-98B1523EFB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385B6D0-9F99-4250-7030-4FF0C414A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CE434-F5E2-44A5-BA53-F8F1691A03C4}" type="datetime1">
              <a:rPr lang="zh-TW" altLang="en-US" smtClean="0"/>
              <a:t>2025/11/25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CFCFE9D-9C9C-78C5-153F-2382C180A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E42AB41-303D-D2CC-767B-BA57E26A8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7823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66F825CE-A531-DFA9-8313-2EA3BB30F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A9FD70C-B749-0F32-E6A7-18F5B18C8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80E6A94-D0F5-8912-A5C2-DC553E4C2E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E7C846-08DA-434C-9215-F94CFE563CB4}" type="datetime1">
              <a:rPr lang="zh-TW" altLang="en-US" smtClean="0"/>
              <a:t>2025/11/25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D30CF90-211C-709C-E0C5-D19BD90925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0970CC7-F157-CAFA-ED54-9CBDB784AE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3243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21.png"/><Relationship Id="rId2" Type="http://schemas.openxmlformats.org/officeDocument/2006/relationships/image" Target="../media/image7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2.png"/><Relationship Id="rId4" Type="http://schemas.openxmlformats.org/officeDocument/2006/relationships/image" Target="../media/image1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5" Type="http://schemas.openxmlformats.org/officeDocument/2006/relationships/image" Target="../media/image3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18.png"/><Relationship Id="rId9" Type="http://schemas.openxmlformats.org/officeDocument/2006/relationships/image" Target="../media/image6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7" Type="http://schemas.openxmlformats.org/officeDocument/2006/relationships/image" Target="../media/image711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0.png"/><Relationship Id="rId5" Type="http://schemas.openxmlformats.org/officeDocument/2006/relationships/image" Target="../media/image55.png"/><Relationship Id="rId4" Type="http://schemas.openxmlformats.org/officeDocument/2006/relationships/image" Target="../media/image4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0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1.png"/><Relationship Id="rId4" Type="http://schemas.openxmlformats.org/officeDocument/2006/relationships/image" Target="../media/image9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160.png"/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png"/><Relationship Id="rId4" Type="http://schemas.openxmlformats.org/officeDocument/2006/relationships/image" Target="../media/image4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0.png"/><Relationship Id="rId5" Type="http://schemas.openxmlformats.org/officeDocument/2006/relationships/image" Target="../media/image190.png"/><Relationship Id="rId4" Type="http://schemas.openxmlformats.org/officeDocument/2006/relationships/image" Target="../media/image180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0.png"/><Relationship Id="rId3" Type="http://schemas.openxmlformats.org/officeDocument/2006/relationships/image" Target="../media/image52.png"/><Relationship Id="rId7" Type="http://schemas.openxmlformats.org/officeDocument/2006/relationships/image" Target="../media/image410.png"/><Relationship Id="rId2" Type="http://schemas.openxmlformats.org/officeDocument/2006/relationships/image" Target="../media/image5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1.png"/><Relationship Id="rId5" Type="http://schemas.openxmlformats.org/officeDocument/2006/relationships/image" Target="../media/image540.png"/><Relationship Id="rId10" Type="http://schemas.openxmlformats.org/officeDocument/2006/relationships/image" Target="../media/image51.png"/><Relationship Id="rId4" Type="http://schemas.openxmlformats.org/officeDocument/2006/relationships/image" Target="../media/image53.png"/><Relationship Id="rId9" Type="http://schemas.openxmlformats.org/officeDocument/2006/relationships/image" Target="../media/image58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0.png"/><Relationship Id="rId7" Type="http://schemas.openxmlformats.org/officeDocument/2006/relationships/image" Target="../media/image63.png"/><Relationship Id="rId12" Type="http://schemas.openxmlformats.org/officeDocument/2006/relationships/image" Target="../media/image51.png"/><Relationship Id="rId2" Type="http://schemas.openxmlformats.org/officeDocument/2006/relationships/image" Target="../media/image5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11" Type="http://schemas.openxmlformats.org/officeDocument/2006/relationships/image" Target="../media/image311.png"/><Relationship Id="rId5" Type="http://schemas.openxmlformats.org/officeDocument/2006/relationships/image" Target="../media/image61.png"/><Relationship Id="rId10" Type="http://schemas.openxmlformats.org/officeDocument/2006/relationships/image" Target="../media/image65.png"/><Relationship Id="rId9" Type="http://schemas.openxmlformats.org/officeDocument/2006/relationships/image" Target="../media/image6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1.png"/><Relationship Id="rId7" Type="http://schemas.openxmlformats.org/officeDocument/2006/relationships/image" Target="../media/image712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2.png"/><Relationship Id="rId5" Type="http://schemas.openxmlformats.org/officeDocument/2006/relationships/image" Target="../media/image611.png"/><Relationship Id="rId4" Type="http://schemas.openxmlformats.org/officeDocument/2006/relationships/image" Target="../media/image66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780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12" Type="http://schemas.openxmlformats.org/officeDocument/2006/relationships/image" Target="../media/image77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png"/><Relationship Id="rId11" Type="http://schemas.openxmlformats.org/officeDocument/2006/relationships/image" Target="../media/image76.png"/><Relationship Id="rId5" Type="http://schemas.openxmlformats.org/officeDocument/2006/relationships/image" Target="../media/image70.png"/><Relationship Id="rId15" Type="http://schemas.openxmlformats.org/officeDocument/2006/relationships/image" Target="../media/image80.png"/><Relationship Id="rId10" Type="http://schemas.openxmlformats.org/officeDocument/2006/relationships/image" Target="../media/image75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81.png"/><Relationship Id="rId7" Type="http://schemas.openxmlformats.org/officeDocument/2006/relationships/image" Target="../media/image84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png"/><Relationship Id="rId5" Type="http://schemas.openxmlformats.org/officeDocument/2006/relationships/image" Target="../media/image120.png"/><Relationship Id="rId4" Type="http://schemas.openxmlformats.org/officeDocument/2006/relationships/image" Target="../media/image82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1.png"/><Relationship Id="rId3" Type="http://schemas.openxmlformats.org/officeDocument/2006/relationships/image" Target="../media/image86.png"/><Relationship Id="rId7" Type="http://schemas.openxmlformats.org/officeDocument/2006/relationships/image" Target="../media/image9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10" Type="http://schemas.openxmlformats.org/officeDocument/2006/relationships/image" Target="../media/image94.png"/><Relationship Id="rId4" Type="http://schemas.openxmlformats.org/officeDocument/2006/relationships/image" Target="../media/image87.png"/><Relationship Id="rId9" Type="http://schemas.openxmlformats.org/officeDocument/2006/relationships/image" Target="../media/image781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13" Type="http://schemas.openxmlformats.org/officeDocument/2006/relationships/image" Target="../media/image143.png"/><Relationship Id="rId3" Type="http://schemas.openxmlformats.org/officeDocument/2006/relationships/image" Target="../media/image136.png"/><Relationship Id="rId7" Type="http://schemas.openxmlformats.org/officeDocument/2006/relationships/image" Target="../media/image139.png"/><Relationship Id="rId12" Type="http://schemas.openxmlformats.org/officeDocument/2006/relationships/image" Target="../media/image14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3.png"/><Relationship Id="rId11" Type="http://schemas.openxmlformats.org/officeDocument/2006/relationships/image" Target="../media/image141.png"/><Relationship Id="rId5" Type="http://schemas.openxmlformats.org/officeDocument/2006/relationships/image" Target="../media/image19.png"/><Relationship Id="rId10" Type="http://schemas.openxmlformats.org/officeDocument/2006/relationships/image" Target="../media/image97.png"/><Relationship Id="rId4" Type="http://schemas.openxmlformats.org/officeDocument/2006/relationships/image" Target="../media/image137.png"/><Relationship Id="rId9" Type="http://schemas.openxmlformats.org/officeDocument/2006/relationships/image" Target="../media/image96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5" Type="http://schemas.openxmlformats.org/officeDocument/2006/relationships/image" Target="../media/image3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F5AE22FC-AF5D-80D6-CC9F-1199F201F39A}"/>
              </a:ext>
            </a:extLst>
          </p:cNvPr>
          <p:cNvSpPr txBox="1"/>
          <p:nvPr/>
        </p:nvSpPr>
        <p:spPr>
          <a:xfrm>
            <a:off x="0" y="3646424"/>
            <a:ext cx="12192000" cy="1482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教師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蕭兆翔 </a:t>
            </a:r>
            <a:endParaRPr lang="en-US" altLang="zh-TW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助教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陳信宏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B49B9DE3-2C0C-4512-514F-D92557F4E5E7}"/>
              </a:ext>
            </a:extLst>
          </p:cNvPr>
          <p:cNvSpPr txBox="1"/>
          <p:nvPr/>
        </p:nvSpPr>
        <p:spPr>
          <a:xfrm>
            <a:off x="0" y="2011248"/>
            <a:ext cx="12192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影像處理</a:t>
            </a:r>
            <a:r>
              <a:rPr kumimoji="0" lang="en-US" altLang="zh-TW" sz="6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6600">
                <a:solidFill>
                  <a:prstClr val="black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期中複習</a:t>
            </a:r>
            <a:endParaRPr kumimoji="0" lang="en-US" altLang="zh-TW" sz="6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D3C3FC8-6565-2956-B665-A65BE6976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3009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034CB71-091E-A294-39AF-61A7E2713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2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56831E9-225C-C359-A5BD-A58759A8076D}"/>
              </a:ext>
            </a:extLst>
          </p:cNvPr>
          <p:cNvSpPr txBox="1"/>
          <p:nvPr/>
        </p:nvSpPr>
        <p:spPr>
          <a:xfrm>
            <a:off x="0" y="2336800"/>
            <a:ext cx="12192000" cy="1584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sz="4000" dirty="0"/>
              <a:t>第</a:t>
            </a:r>
            <a:r>
              <a:rPr lang="en-US" altLang="zh-TW" sz="4000" dirty="0"/>
              <a:t>2</a:t>
            </a:r>
            <a:r>
              <a:rPr lang="zh-TW" altLang="en-US" sz="4000" dirty="0"/>
              <a:t>章</a:t>
            </a:r>
            <a:r>
              <a:rPr lang="en-US" altLang="zh-TW" sz="4000" dirty="0"/>
              <a:t>:</a:t>
            </a:r>
            <a:r>
              <a:rPr lang="zh-TW" altLang="en-US" sz="4000" dirty="0"/>
              <a:t>索引、雙線性內插、仿射</a:t>
            </a:r>
            <a:endParaRPr lang="en-US" altLang="zh-TW" sz="4000" dirty="0"/>
          </a:p>
          <a:p>
            <a:pPr algn="ctr">
              <a:lnSpc>
                <a:spcPct val="150000"/>
              </a:lnSpc>
            </a:pPr>
            <a:r>
              <a:rPr lang="en-US" altLang="zh-TW" sz="2800" dirty="0"/>
              <a:t>Chapter 2: Indexing, Bilinear Interpolation, and Affine Transformation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163292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E7EA617B-561F-9B0F-76CE-5AD1DBF50B9E}"/>
              </a:ext>
            </a:extLst>
          </p:cNvPr>
          <p:cNvSpPr/>
          <p:nvPr/>
        </p:nvSpPr>
        <p:spPr>
          <a:xfrm>
            <a:off x="1089892" y="1828800"/>
            <a:ext cx="2461810" cy="2392218"/>
          </a:xfrm>
          <a:prstGeom prst="rect">
            <a:avLst/>
          </a:prstGeom>
          <a:solidFill>
            <a:srgbClr val="FBE3D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8B424B9-ACDA-21CB-660A-2C15E2FB0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3</a:t>
            </a:fld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5620D6C8-DC86-BCD3-1ACE-6CE58B197B7A}"/>
              </a:ext>
            </a:extLst>
          </p:cNvPr>
          <p:cNvSpPr txBox="1"/>
          <p:nvPr/>
        </p:nvSpPr>
        <p:spPr>
          <a:xfrm>
            <a:off x="1" y="24148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 dirty="0"/>
              <a:t>範例一</a:t>
            </a:r>
            <a:r>
              <a:rPr lang="en-US" altLang="zh-TW" dirty="0"/>
              <a:t>:</a:t>
            </a:r>
            <a:r>
              <a:rPr lang="zh-TW" altLang="en-US" dirty="0"/>
              <a:t>影像索引</a:t>
            </a:r>
            <a:r>
              <a:rPr lang="en-US" altLang="zh-TW" dirty="0"/>
              <a:t>2D</a:t>
            </a:r>
            <a:endParaRPr lang="zh-TW" altLang="en-US" dirty="0"/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22B35C39-81BE-BD19-35B2-DCCFCFE0A7B3}"/>
              </a:ext>
            </a:extLst>
          </p:cNvPr>
          <p:cNvCxnSpPr/>
          <p:nvPr/>
        </p:nvCxnSpPr>
        <p:spPr>
          <a:xfrm>
            <a:off x="1080654" y="1819563"/>
            <a:ext cx="291869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5A54EE3A-1881-BE3F-FA56-BD1C18D894C5}"/>
              </a:ext>
            </a:extLst>
          </p:cNvPr>
          <p:cNvCxnSpPr>
            <a:cxnSpLocks/>
          </p:cNvCxnSpPr>
          <p:nvPr/>
        </p:nvCxnSpPr>
        <p:spPr>
          <a:xfrm>
            <a:off x="1089891" y="1838036"/>
            <a:ext cx="0" cy="27893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199A6899-8179-9DF8-59E5-87BDB104D4A3}"/>
              </a:ext>
            </a:extLst>
          </p:cNvPr>
          <p:cNvSpPr txBox="1"/>
          <p:nvPr/>
        </p:nvSpPr>
        <p:spPr>
          <a:xfrm>
            <a:off x="3962399" y="1413163"/>
            <a:ext cx="3898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TW" altLang="en-US" sz="3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03FA5D7-05E2-C348-6B80-0DDF445FF9CF}"/>
              </a:ext>
            </a:extLst>
          </p:cNvPr>
          <p:cNvSpPr txBox="1"/>
          <p:nvPr/>
        </p:nvSpPr>
        <p:spPr>
          <a:xfrm>
            <a:off x="872835" y="4447308"/>
            <a:ext cx="318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zh-TW" altLang="en-US" sz="3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1FD807B4-C2AF-C20A-0F60-9DD39708D0A4}"/>
              </a:ext>
            </a:extLst>
          </p:cNvPr>
          <p:cNvSpPr txBox="1"/>
          <p:nvPr/>
        </p:nvSpPr>
        <p:spPr>
          <a:xfrm>
            <a:off x="221673" y="2826328"/>
            <a:ext cx="712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N=50</a:t>
            </a:r>
            <a:endParaRPr lang="zh-TW" altLang="en-US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DB5F1FAD-A279-D82F-F5AC-CD9BC6AE0400}"/>
              </a:ext>
            </a:extLst>
          </p:cNvPr>
          <p:cNvSpPr txBox="1"/>
          <p:nvPr/>
        </p:nvSpPr>
        <p:spPr>
          <a:xfrm>
            <a:off x="1971962" y="1339272"/>
            <a:ext cx="865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M=100</a:t>
            </a:r>
            <a:endParaRPr lang="zh-TW" altLang="en-US" dirty="0"/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A5DDF39E-A874-3E7E-A7B2-AF4C4ECD2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395" y="1828800"/>
            <a:ext cx="1241230" cy="240145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8825B1BD-9A0E-2A25-7A04-07E40BD8A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9054" y="1827357"/>
            <a:ext cx="1219009" cy="240145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1715CE63-5B82-2E13-A83A-C75001589641}"/>
                  </a:ext>
                </a:extLst>
              </p:cNvPr>
              <p:cNvSpPr txBox="1"/>
              <p:nvPr/>
            </p:nvSpPr>
            <p:spPr>
              <a:xfrm>
                <a:off x="5730875" y="1487633"/>
                <a:ext cx="5787290" cy="8617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zh-TW" altLang="en-US" sz="28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已知索引值</a:t>
                </a:r>
                <a14:m>
                  <m:oMath xmlns:m="http://schemas.openxmlformats.org/officeDocument/2006/math">
                    <m:r>
                      <a:rPr lang="zh-TW" altLang="en-US" sz="2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sz="28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TW" sz="2800" i="1">
                        <a:latin typeface="Cambria Math" panose="02040503050406030204" pitchFamily="18" charset="0"/>
                      </a:rPr>
                      <m:t>=120</m:t>
                    </m:r>
                    <m:r>
                      <a:rPr lang="zh-TW" altLang="en-US" sz="280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TW" sz="28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,</a:t>
                </a:r>
                <a:r>
                  <a:rPr lang="zh-TW" altLang="en-US" sz="28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求</a:t>
                </a:r>
                <a:r>
                  <a:rPr lang="en-US" altLang="zh-TW" sz="28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2800" i="1" dirty="0" err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x,y</a:t>
                </a:r>
                <a:r>
                  <a:rPr lang="en-US" altLang="zh-TW" sz="28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</a:t>
                </a:r>
                <a:r>
                  <a:rPr lang="zh-TW" altLang="en-US" sz="28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座標</a:t>
                </a:r>
                <a:endParaRPr lang="en-US" altLang="zh-TW" sz="28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de-DE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Given the index value </a:t>
                </a:r>
                <a14:m>
                  <m:oMath xmlns:m="http://schemas.openxmlformats.org/officeDocument/2006/math">
                    <m:r>
                      <a:rPr lang="zh-TW" altLang="de-DE" sz="28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de-DE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find </a:t>
                </a:r>
                <a:r>
                  <a:rPr lang="en-US" altLang="zh-TW" sz="28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2800" i="1" dirty="0" err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x,y</a:t>
                </a:r>
                <a:r>
                  <a:rPr lang="en-US" altLang="zh-TW" sz="28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</a:t>
                </a:r>
                <a:r>
                  <a:rPr lang="ar-AE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1715CE63-5B82-2E13-A83A-C750015896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0875" y="1487633"/>
                <a:ext cx="5787290" cy="861774"/>
              </a:xfrm>
              <a:prstGeom prst="rect">
                <a:avLst/>
              </a:prstGeom>
              <a:blipFill>
                <a:blip r:embed="rId3"/>
                <a:stretch>
                  <a:fillRect l="-3372" t="-12766" b="-2482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88A6C031-CB8D-3D7C-A602-50D49D157B9D}"/>
                  </a:ext>
                </a:extLst>
              </p:cNvPr>
              <p:cNvSpPr txBox="1"/>
              <p:nvPr/>
            </p:nvSpPr>
            <p:spPr>
              <a:xfrm>
                <a:off x="6260811" y="2741242"/>
                <a:ext cx="3546764" cy="954107"/>
              </a:xfrm>
              <a:prstGeom prst="rect">
                <a:avLst/>
              </a:prstGeom>
              <a:noFill/>
              <a:ln w="19050">
                <a:solidFill>
                  <a:srgbClr val="163E64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2800" b="0" i="1" smtClean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2800" i="1" smtClean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sz="2800" b="0" i="1" smtClean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800" b="0" i="1" smtClean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zh-TW" altLang="en-US" sz="2800" i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800" b="0" i="1" smtClean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altLang="zh-TW" sz="2800" b="0" i="1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TW" sz="2800" b="0" i="1" smtClean="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TW" sz="2800" b="0" i="1" smtClean="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TW" altLang="en-US" sz="2800" i="1" smtClean="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TW" sz="2800" b="0" i="1" smtClean="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TW" sz="2800" i="1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TW" sz="2800" b="0" i="1" smtClean="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zh-TW" altLang="en-US" sz="2800" dirty="0">
                    <a:solidFill>
                      <a:schemeClr val="tx2">
                        <a:lumMod val="90000"/>
                        <a:lumOff val="10000"/>
                      </a:schemeClr>
                    </a:solidFill>
                  </a:rPr>
                  <a:t> </a:t>
                </a:r>
                <a:r>
                  <a:rPr lang="en-US" altLang="zh-TW" sz="2800" dirty="0">
                    <a:solidFill>
                      <a:schemeClr val="tx2">
                        <a:lumMod val="90000"/>
                        <a:lumOff val="10000"/>
                      </a:schemeClr>
                    </a:solidFill>
                  </a:rPr>
                  <a:t>(</a:t>
                </a:r>
                <a:r>
                  <a:rPr lang="zh-TW" altLang="en-US" sz="2800" dirty="0">
                    <a:solidFill>
                      <a:schemeClr val="tx2">
                        <a:lumMod val="90000"/>
                        <a:lumOff val="10000"/>
                      </a:schemeClr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取商數</a:t>
                </a:r>
                <a:r>
                  <a:rPr lang="en-US" altLang="zh-TW" sz="2800" dirty="0">
                    <a:solidFill>
                      <a:schemeClr val="tx2">
                        <a:lumMod val="90000"/>
                        <a:lumOff val="10000"/>
                      </a:schemeClr>
                    </a:solidFill>
                  </a:rPr>
                  <a:t>)</a:t>
                </a:r>
                <a:endParaRPr lang="zh-TW" altLang="en-US" sz="2800" dirty="0">
                  <a:solidFill>
                    <a:schemeClr val="tx2">
                      <a:lumMod val="90000"/>
                      <a:lumOff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88A6C031-CB8D-3D7C-A602-50D49D157B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0811" y="2741242"/>
                <a:ext cx="3546764" cy="954107"/>
              </a:xfrm>
              <a:prstGeom prst="rect">
                <a:avLst/>
              </a:prstGeom>
              <a:blipFill>
                <a:blip r:embed="rId4"/>
                <a:stretch>
                  <a:fillRect b="-15723"/>
                </a:stretch>
              </a:blipFill>
              <a:ln w="19050">
                <a:solidFill>
                  <a:srgbClr val="163E64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592B0990-43B0-A0E1-8A02-026E05E0ED8D}"/>
                  </a:ext>
                </a:extLst>
              </p:cNvPr>
              <p:cNvSpPr txBox="1"/>
              <p:nvPr/>
            </p:nvSpPr>
            <p:spPr>
              <a:xfrm>
                <a:off x="6259945" y="4120925"/>
                <a:ext cx="3874655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2800" b="0" i="1" smtClean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=120 </m:t>
                      </m:r>
                      <m:r>
                        <a:rPr lang="en-US" altLang="zh-TW" sz="2800" b="0" i="1" smtClean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zh-TW" altLang="en-US" sz="2800" i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800" b="0" i="1" smtClean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100=20</m:t>
                      </m:r>
                    </m:oMath>
                  </m:oMathPara>
                </a14:m>
                <a:endParaRPr lang="en-US" altLang="zh-TW" sz="2800" b="0" dirty="0">
                  <a:solidFill>
                    <a:schemeClr val="tx2">
                      <a:lumMod val="90000"/>
                      <a:lumOff val="10000"/>
                    </a:schemeClr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zh-TW" sz="2800" b="0" i="1" smtClean="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TW" sz="2800" b="0" i="1" smtClean="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=120//100=1</m:t>
                    </m:r>
                  </m:oMath>
                </a14:m>
                <a:r>
                  <a:rPr lang="zh-TW" altLang="en-US" sz="2800" dirty="0">
                    <a:solidFill>
                      <a:schemeClr val="tx2">
                        <a:lumMod val="90000"/>
                        <a:lumOff val="10000"/>
                      </a:schemeClr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592B0990-43B0-A0E1-8A02-026E05E0ED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9945" y="4120925"/>
                <a:ext cx="3874655" cy="95410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字方塊 28">
            <a:extLst>
              <a:ext uri="{FF2B5EF4-FFF2-40B4-BE49-F238E27FC236}">
                <a16:creationId xmlns:a16="http://schemas.microsoft.com/office/drawing/2014/main" id="{0211334E-A9FA-E5F8-E9BB-DCC9F9174DA9}"/>
              </a:ext>
            </a:extLst>
          </p:cNvPr>
          <p:cNvSpPr txBox="1"/>
          <p:nvPr/>
        </p:nvSpPr>
        <p:spPr>
          <a:xfrm>
            <a:off x="4986482" y="1441450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Q:</a:t>
            </a:r>
            <a:endParaRPr lang="zh-TW" alt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1112904E-DE8C-7204-9444-409D1FA6156E}"/>
              </a:ext>
            </a:extLst>
          </p:cNvPr>
          <p:cNvSpPr txBox="1"/>
          <p:nvPr/>
        </p:nvSpPr>
        <p:spPr>
          <a:xfrm>
            <a:off x="4265757" y="2837296"/>
            <a:ext cx="15007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  <a:endParaRPr lang="zh-TW" alt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36A5B57F-D07C-698A-BFB3-9880A49EF7C3}"/>
              </a:ext>
            </a:extLst>
          </p:cNvPr>
          <p:cNvSpPr txBox="1"/>
          <p:nvPr/>
        </p:nvSpPr>
        <p:spPr>
          <a:xfrm>
            <a:off x="4867275" y="5543550"/>
            <a:ext cx="9605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>
                <a:solidFill>
                  <a:srgbClr val="FF0000"/>
                </a:solidFill>
              </a:rPr>
              <a:t>Ans:</a:t>
            </a:r>
            <a:endParaRPr lang="zh-TW" altLang="en-US" sz="3200" dirty="0">
              <a:solidFill>
                <a:srgbClr val="163E64"/>
              </a:solidFill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CC7D1E90-FF42-EDE0-4C12-0C0F0D5E265E}"/>
              </a:ext>
            </a:extLst>
          </p:cNvPr>
          <p:cNvSpPr txBox="1"/>
          <p:nvPr/>
        </p:nvSpPr>
        <p:spPr>
          <a:xfrm>
            <a:off x="5905500" y="5606534"/>
            <a:ext cx="228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800" dirty="0">
                <a:solidFill>
                  <a:srgbClr val="163E64"/>
                </a:solidFill>
              </a:rPr>
              <a:t>(</a:t>
            </a:r>
            <a:r>
              <a:rPr lang="en-US" altLang="zh-TW" sz="2800" i="1" dirty="0" err="1">
                <a:solidFill>
                  <a:srgbClr val="163E64"/>
                </a:solidFill>
              </a:rPr>
              <a:t>x</a:t>
            </a:r>
            <a:r>
              <a:rPr lang="en-US" altLang="zh-TW" sz="2800" dirty="0" err="1">
                <a:solidFill>
                  <a:srgbClr val="163E64"/>
                </a:solidFill>
              </a:rPr>
              <a:t>,</a:t>
            </a:r>
            <a:r>
              <a:rPr lang="en-US" altLang="zh-TW" sz="2800" i="1" dirty="0" err="1">
                <a:solidFill>
                  <a:srgbClr val="163E64"/>
                </a:solidFill>
              </a:rPr>
              <a:t>y</a:t>
            </a:r>
            <a:r>
              <a:rPr lang="en-US" altLang="zh-TW" sz="2800" dirty="0">
                <a:solidFill>
                  <a:srgbClr val="163E64"/>
                </a:solidFill>
              </a:rPr>
              <a:t>) = (20,1)</a:t>
            </a:r>
            <a:endParaRPr lang="zh-TW" altLang="en-US" sz="2800" dirty="0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FD4AAAB9-7DED-D758-773D-4E3A57A3172A}"/>
              </a:ext>
            </a:extLst>
          </p:cNvPr>
          <p:cNvSpPr txBox="1"/>
          <p:nvPr/>
        </p:nvSpPr>
        <p:spPr>
          <a:xfrm>
            <a:off x="7924800" y="577215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>
                <a:solidFill>
                  <a:srgbClr val="FF0000"/>
                </a:solidFill>
              </a:rPr>
              <a:t>#</a:t>
            </a:r>
            <a:endParaRPr lang="zh-TW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2761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63703-9466-F596-18AC-206E68F31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圖片 27">
            <a:extLst>
              <a:ext uri="{FF2B5EF4-FFF2-40B4-BE49-F238E27FC236}">
                <a16:creationId xmlns:a16="http://schemas.microsoft.com/office/drawing/2014/main" id="{D274DFB5-0D8D-F6BF-0D85-E6B9008D4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8624" y="1732684"/>
            <a:ext cx="2456901" cy="24020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</p:pic>
      <p:pic>
        <p:nvPicPr>
          <p:cNvPr id="26" name="圖片 25">
            <a:extLst>
              <a:ext uri="{FF2B5EF4-FFF2-40B4-BE49-F238E27FC236}">
                <a16:creationId xmlns:a16="http://schemas.microsoft.com/office/drawing/2014/main" id="{823386ED-F97D-A25B-B491-A72737B93E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574" y="2018434"/>
            <a:ext cx="2456901" cy="24020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5D1EFD5F-54C8-EBB8-F2E7-9B7DDC7662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624" y="2294659"/>
            <a:ext cx="2456901" cy="24020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EB706279-097C-D4E3-AD9A-F2812A09A616}"/>
              </a:ext>
            </a:extLst>
          </p:cNvPr>
          <p:cNvSpPr/>
          <p:nvPr/>
        </p:nvSpPr>
        <p:spPr>
          <a:xfrm>
            <a:off x="1023217" y="2486025"/>
            <a:ext cx="2461810" cy="2392218"/>
          </a:xfrm>
          <a:prstGeom prst="rect">
            <a:avLst/>
          </a:prstGeom>
          <a:solidFill>
            <a:srgbClr val="FBE3D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7571661-5705-7F6C-D696-CE87DBD02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4</a:t>
            </a:fld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5FC1B515-7D0E-BD5D-BCCC-BBB4ACA9F842}"/>
              </a:ext>
            </a:extLst>
          </p:cNvPr>
          <p:cNvSpPr txBox="1"/>
          <p:nvPr/>
        </p:nvSpPr>
        <p:spPr>
          <a:xfrm>
            <a:off x="1" y="24148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 dirty="0"/>
              <a:t>範例二</a:t>
            </a:r>
            <a:r>
              <a:rPr lang="en-US" altLang="zh-TW" dirty="0"/>
              <a:t>:</a:t>
            </a:r>
            <a:r>
              <a:rPr lang="zh-TW" altLang="en-US" dirty="0"/>
              <a:t>影像索引</a:t>
            </a:r>
            <a:r>
              <a:rPr lang="en-US" altLang="zh-TW" dirty="0"/>
              <a:t>3D</a:t>
            </a:r>
            <a:endParaRPr lang="zh-TW" altLang="en-US" dirty="0"/>
          </a:p>
        </p:txBody>
      </p: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369E021A-B83E-B47B-7AA8-F122AC31BDE5}"/>
              </a:ext>
            </a:extLst>
          </p:cNvPr>
          <p:cNvCxnSpPr>
            <a:cxnSpLocks/>
          </p:cNvCxnSpPr>
          <p:nvPr/>
        </p:nvCxnSpPr>
        <p:spPr>
          <a:xfrm>
            <a:off x="1023216" y="2495261"/>
            <a:ext cx="0" cy="27893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8E91FA50-D2A6-99E4-9A85-63DB731EC0CD}"/>
              </a:ext>
            </a:extLst>
          </p:cNvPr>
          <p:cNvSpPr txBox="1"/>
          <p:nvPr/>
        </p:nvSpPr>
        <p:spPr>
          <a:xfrm>
            <a:off x="4733924" y="2194213"/>
            <a:ext cx="3898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TW" altLang="en-US" sz="3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7A486AF1-6015-F259-C760-4D68C62C9206}"/>
              </a:ext>
            </a:extLst>
          </p:cNvPr>
          <p:cNvSpPr txBox="1"/>
          <p:nvPr/>
        </p:nvSpPr>
        <p:spPr>
          <a:xfrm>
            <a:off x="806160" y="5104533"/>
            <a:ext cx="318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zh-TW" altLang="en-US" sz="3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AB3D9DC9-DAA8-BDB1-6FF5-78BCE613121D}"/>
              </a:ext>
            </a:extLst>
          </p:cNvPr>
          <p:cNvSpPr txBox="1"/>
          <p:nvPr/>
        </p:nvSpPr>
        <p:spPr>
          <a:xfrm>
            <a:off x="154998" y="3483553"/>
            <a:ext cx="712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N=50</a:t>
            </a:r>
            <a:endParaRPr lang="zh-TW" altLang="en-US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FFC64E02-70A4-50AE-D227-6EF0B3D2CEE2}"/>
              </a:ext>
            </a:extLst>
          </p:cNvPr>
          <p:cNvSpPr txBox="1"/>
          <p:nvPr/>
        </p:nvSpPr>
        <p:spPr>
          <a:xfrm>
            <a:off x="4496087" y="2025072"/>
            <a:ext cx="865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M=100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BA175FD4-663D-DA8A-B1A3-7AAC9B03CAB5}"/>
                  </a:ext>
                </a:extLst>
              </p:cNvPr>
              <p:cNvSpPr txBox="1"/>
              <p:nvPr/>
            </p:nvSpPr>
            <p:spPr>
              <a:xfrm>
                <a:off x="5692775" y="1354283"/>
                <a:ext cx="6275821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zh-TW" altLang="en-US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已知索引值</a:t>
                </a:r>
                <a14:m>
                  <m:oMath xmlns:m="http://schemas.openxmlformats.org/officeDocument/2006/math">
                    <m:r>
                      <a:rPr lang="zh-TW" alt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=5090 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,</a:t>
                </a:r>
                <a:r>
                  <a:rPr lang="zh-TW" altLang="en-US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求</a:t>
                </a:r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2400" i="1" dirty="0" err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x,y,z</a:t>
                </a:r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</a:t>
                </a:r>
                <a:r>
                  <a:rPr lang="zh-TW" altLang="en-US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座標</a:t>
                </a:r>
                <a:endParaRPr lang="en-US" altLang="zh-TW" sz="2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de-DE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Given the index value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=5090</m:t>
                    </m:r>
                  </m:oMath>
                </a14:m>
                <a:r>
                  <a:rPr lang="de-DE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find </a:t>
                </a:r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2400" i="1" dirty="0" err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x,y,z</a:t>
                </a:r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</a:t>
                </a:r>
                <a:r>
                  <a:rPr lang="ar-AE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BA175FD4-663D-DA8A-B1A3-7AAC9B03CA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2775" y="1354283"/>
                <a:ext cx="6275821" cy="738664"/>
              </a:xfrm>
              <a:prstGeom prst="rect">
                <a:avLst/>
              </a:prstGeom>
              <a:blipFill>
                <a:blip r:embed="rId3"/>
                <a:stretch>
                  <a:fillRect l="-2818" t="-12397" b="-2479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55B136AA-A63E-B300-C415-D7BA9B912BFC}"/>
                  </a:ext>
                </a:extLst>
              </p:cNvPr>
              <p:cNvSpPr txBox="1"/>
              <p:nvPr/>
            </p:nvSpPr>
            <p:spPr>
              <a:xfrm>
                <a:off x="6383770" y="4111400"/>
                <a:ext cx="5913005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smtClean="0">
                        <a:solidFill>
                          <a:srgbClr val="163E64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sz="2400" smtClean="0">
                        <a:solidFill>
                          <a:srgbClr val="163E64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 i="1">
                        <a:solidFill>
                          <a:srgbClr val="163E64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zh-TW" sz="2400" i="1" smtClean="0">
                        <a:solidFill>
                          <a:srgbClr val="163E64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TW" sz="2400" i="1">
                        <a:solidFill>
                          <a:srgbClr val="163E64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US" altLang="zh-TW" sz="2400" i="1" smtClean="0">
                        <a:solidFill>
                          <a:srgbClr val="163E64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nor/>
                      </m:rPr>
                      <a:rPr lang="en-US" altLang="zh-TW" sz="2400">
                        <a:solidFill>
                          <a:srgbClr val="163E64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altLang="zh-TW" sz="2400">
                        <a:solidFill>
                          <a:srgbClr val="163E64"/>
                        </a:solidFill>
                      </a:rPr>
                      <m:t>mod</m:t>
                    </m:r>
                    <m:r>
                      <m:rPr>
                        <m:nor/>
                      </m:rPr>
                      <a:rPr lang="en-US" altLang="zh-TW" sz="2400">
                        <a:solidFill>
                          <a:srgbClr val="163E64"/>
                        </a:solidFill>
                      </a:rPr>
                      <m:t> </m:t>
                    </m:r>
                    <m:r>
                      <a:rPr lang="en-US" altLang="zh-TW" sz="2400" i="1">
                        <a:solidFill>
                          <a:srgbClr val="163E64"/>
                        </a:solidFill>
                        <a:latin typeface="Cambria Math" panose="02040503050406030204" pitchFamily="18" charset="0"/>
                      </a:rPr>
                      <m:t>(100</m:t>
                    </m:r>
                    <m:r>
                      <a:rPr lang="zh-TW" altLang="en-US" sz="2400" i="1">
                        <a:solidFill>
                          <a:srgbClr val="163E64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TW" sz="2400" i="1">
                        <a:solidFill>
                          <a:srgbClr val="163E64"/>
                        </a:solidFill>
                        <a:latin typeface="Cambria Math" panose="02040503050406030204" pitchFamily="18" charset="0"/>
                      </a:rPr>
                      <m:t>50)</m:t>
                    </m:r>
                    <m:r>
                      <m:rPr>
                        <m:nor/>
                      </m:rPr>
                      <a:rPr lang="en-US" altLang="zh-TW" sz="2400">
                        <a:solidFill>
                          <a:srgbClr val="163E64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altLang="zh-TW" sz="2400">
                        <a:solidFill>
                          <a:srgbClr val="163E64"/>
                        </a:solidFill>
                      </a:rPr>
                      <m:t>mod</m:t>
                    </m:r>
                    <m:r>
                      <m:rPr>
                        <m:nor/>
                      </m:rPr>
                      <a:rPr lang="en-US" altLang="zh-TW" sz="2400">
                        <a:solidFill>
                          <a:srgbClr val="163E64"/>
                        </a:solidFill>
                      </a:rPr>
                      <m:t> </m:t>
                    </m:r>
                    <m:r>
                      <a:rPr lang="en-US" altLang="zh-TW" sz="2400" i="1">
                        <a:solidFill>
                          <a:srgbClr val="163E64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TW" sz="2400" dirty="0">
                    <a:solidFill>
                      <a:srgbClr val="163E64"/>
                    </a:solidFill>
                  </a:rPr>
                  <a:t>00</a:t>
                </a:r>
                <a:r>
                  <a:rPr lang="zh-TW" altLang="en-US" sz="2400" dirty="0">
                    <a:solidFill>
                      <a:srgbClr val="163E64"/>
                    </a:solidFill>
                  </a:rPr>
                  <a:t> </a:t>
                </a:r>
                <a:r>
                  <a:rPr lang="en-US" altLang="zh-TW" sz="2400" dirty="0">
                    <a:solidFill>
                      <a:srgbClr val="163E64"/>
                    </a:solidFill>
                  </a:rPr>
                  <a:t>=</a:t>
                </a:r>
                <a:r>
                  <a:rPr lang="zh-TW" altLang="en-US" sz="2400" dirty="0">
                    <a:solidFill>
                      <a:srgbClr val="163E64"/>
                    </a:solidFill>
                  </a:rPr>
                  <a:t> </a:t>
                </a:r>
                <a:r>
                  <a:rPr lang="en-US" altLang="zh-TW" sz="2400" dirty="0">
                    <a:solidFill>
                      <a:srgbClr val="163E64"/>
                    </a:solidFill>
                  </a:rPr>
                  <a:t>90</a:t>
                </a:r>
              </a:p>
              <a:p>
                <a14:m>
                  <m:oMath xmlns:m="http://schemas.openxmlformats.org/officeDocument/2006/math">
                    <m:r>
                      <a:rPr lang="en-US" altLang="zh-TW" sz="2400">
                        <a:solidFill>
                          <a:srgbClr val="163E64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TW" sz="2400">
                        <a:solidFill>
                          <a:srgbClr val="163E64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 i="1">
                        <a:solidFill>
                          <a:srgbClr val="163E64"/>
                        </a:solidFill>
                        <a:latin typeface="Cambria Math" panose="02040503050406030204" pitchFamily="18" charset="0"/>
                      </a:rPr>
                      <m:t>5090</m:t>
                    </m:r>
                    <m:r>
                      <a:rPr lang="en-US" altLang="zh-TW" sz="2400">
                        <a:solidFill>
                          <a:srgbClr val="163E64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400">
                        <a:solidFill>
                          <a:srgbClr val="163E64"/>
                        </a:solidFill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altLang="zh-TW" sz="2400">
                        <a:solidFill>
                          <a:srgbClr val="163E64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400" i="1">
                        <a:solidFill>
                          <a:srgbClr val="163E64"/>
                        </a:solidFill>
                        <a:latin typeface="Cambria Math" panose="02040503050406030204" pitchFamily="18" charset="0"/>
                      </a:rPr>
                      <m:t>(100</m:t>
                    </m:r>
                    <m:r>
                      <a:rPr lang="zh-TW" altLang="en-US" sz="2400" i="1">
                        <a:solidFill>
                          <a:srgbClr val="163E64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TW" sz="2400" i="1">
                        <a:solidFill>
                          <a:srgbClr val="163E64"/>
                        </a:solidFill>
                        <a:latin typeface="Cambria Math" panose="02040503050406030204" pitchFamily="18" charset="0"/>
                      </a:rPr>
                      <m:t>50)</m:t>
                    </m:r>
                    <m:r>
                      <a:rPr lang="en-US" altLang="zh-TW" sz="2400">
                        <a:solidFill>
                          <a:srgbClr val="163E64"/>
                        </a:solidFill>
                        <a:latin typeface="Cambria Math" panose="02040503050406030204" pitchFamily="18" charset="0"/>
                      </a:rPr>
                      <m:t>//</m:t>
                    </m:r>
                    <m:r>
                      <a:rPr lang="en-US" altLang="zh-TW" sz="2400" i="1">
                        <a:solidFill>
                          <a:srgbClr val="163E64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TW" sz="2400" dirty="0">
                    <a:solidFill>
                      <a:srgbClr val="163E64"/>
                    </a:solidFill>
                  </a:rPr>
                  <a:t>00</a:t>
                </a:r>
                <a:r>
                  <a:rPr lang="zh-TW" altLang="en-US" sz="2400" dirty="0">
                    <a:solidFill>
                      <a:srgbClr val="163E64"/>
                    </a:solidFill>
                  </a:rPr>
                  <a:t> </a:t>
                </a:r>
                <a:r>
                  <a:rPr lang="en-US" altLang="zh-TW" sz="2400" dirty="0">
                    <a:solidFill>
                      <a:srgbClr val="163E64"/>
                    </a:solidFill>
                  </a:rPr>
                  <a:t>=</a:t>
                </a:r>
                <a:r>
                  <a:rPr lang="zh-TW" altLang="en-US" sz="2400" dirty="0">
                    <a:solidFill>
                      <a:srgbClr val="163E64"/>
                    </a:solidFill>
                  </a:rPr>
                  <a:t> </a:t>
                </a:r>
                <a:r>
                  <a:rPr lang="en-US" altLang="zh-TW" sz="2400" dirty="0">
                    <a:solidFill>
                      <a:srgbClr val="163E64"/>
                    </a:solidFill>
                  </a:rPr>
                  <a:t>0</a:t>
                </a:r>
              </a:p>
              <a:p>
                <a14:m>
                  <m:oMath xmlns:m="http://schemas.openxmlformats.org/officeDocument/2006/math">
                    <m:r>
                      <a:rPr lang="en-US" altLang="zh-TW" sz="2400">
                        <a:solidFill>
                          <a:srgbClr val="163E64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zh-TW" sz="2400">
                        <a:solidFill>
                          <a:srgbClr val="163E64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 i="1">
                        <a:solidFill>
                          <a:srgbClr val="163E64"/>
                        </a:solidFill>
                        <a:latin typeface="Cambria Math" panose="02040503050406030204" pitchFamily="18" charset="0"/>
                      </a:rPr>
                      <m:t>5090</m:t>
                    </m:r>
                    <m:r>
                      <a:rPr lang="en-US" altLang="zh-TW" sz="2400">
                        <a:solidFill>
                          <a:srgbClr val="163E64"/>
                        </a:solidFill>
                        <a:latin typeface="Cambria Math" panose="02040503050406030204" pitchFamily="18" charset="0"/>
                      </a:rPr>
                      <m:t>//</m:t>
                    </m:r>
                    <m:r>
                      <a:rPr lang="en-US" altLang="zh-TW" sz="2400" i="1">
                        <a:solidFill>
                          <a:srgbClr val="163E64"/>
                        </a:solidFill>
                        <a:latin typeface="Cambria Math" panose="02040503050406030204" pitchFamily="18" charset="0"/>
                      </a:rPr>
                      <m:t>(</m:t>
                    </m:r>
                  </m:oMath>
                </a14:m>
                <a:r>
                  <a:rPr lang="en-US" altLang="zh-TW" sz="2400" dirty="0">
                    <a:solidFill>
                      <a:srgbClr val="163E64"/>
                    </a:solidFill>
                  </a:rPr>
                  <a:t>100</a:t>
                </a:r>
                <a:r>
                  <a:rPr lang="zh-TW" altLang="en-US" sz="2400" dirty="0">
                    <a:solidFill>
                      <a:srgbClr val="163E64"/>
                    </a:solidFill>
                  </a:rPr>
                  <a:t>*</a:t>
                </a:r>
                <a:r>
                  <a:rPr lang="en-US" altLang="zh-TW" sz="2400" dirty="0">
                    <a:solidFill>
                      <a:srgbClr val="163E64"/>
                    </a:solidFill>
                  </a:rPr>
                  <a:t>50)</a:t>
                </a:r>
                <a:r>
                  <a:rPr lang="zh-TW" altLang="en-US" sz="2400" dirty="0">
                    <a:solidFill>
                      <a:srgbClr val="163E64"/>
                    </a:solidFill>
                  </a:rPr>
                  <a:t> </a:t>
                </a:r>
                <a:r>
                  <a:rPr lang="en-US" altLang="zh-TW" sz="2400" dirty="0">
                    <a:solidFill>
                      <a:srgbClr val="163E64"/>
                    </a:solidFill>
                  </a:rPr>
                  <a:t>=</a:t>
                </a:r>
                <a:r>
                  <a:rPr lang="zh-TW" altLang="en-US" sz="2400" dirty="0">
                    <a:solidFill>
                      <a:srgbClr val="163E64"/>
                    </a:solidFill>
                  </a:rPr>
                  <a:t> </a:t>
                </a:r>
                <a:r>
                  <a:rPr lang="en-US" altLang="zh-TW" sz="2400" dirty="0">
                    <a:solidFill>
                      <a:srgbClr val="163E64"/>
                    </a:solidFill>
                  </a:rPr>
                  <a:t>1</a:t>
                </a:r>
                <a:endParaRPr lang="zh-TW" altLang="en-US" sz="2400" dirty="0">
                  <a:solidFill>
                    <a:srgbClr val="163E64"/>
                  </a:solidFill>
                </a:endParaRP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55B136AA-A63E-B300-C415-D7BA9B912B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3770" y="4111400"/>
                <a:ext cx="5913005" cy="1200329"/>
              </a:xfrm>
              <a:prstGeom prst="rect">
                <a:avLst/>
              </a:prstGeom>
              <a:blipFill>
                <a:blip r:embed="rId4"/>
                <a:stretch>
                  <a:fillRect l="-309" t="-4061" b="-1066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字方塊 11">
            <a:extLst>
              <a:ext uri="{FF2B5EF4-FFF2-40B4-BE49-F238E27FC236}">
                <a16:creationId xmlns:a16="http://schemas.microsoft.com/office/drawing/2014/main" id="{20A362BB-8C52-3994-C1B6-79BEAE249F19}"/>
              </a:ext>
            </a:extLst>
          </p:cNvPr>
          <p:cNvSpPr txBox="1"/>
          <p:nvPr/>
        </p:nvSpPr>
        <p:spPr>
          <a:xfrm>
            <a:off x="5005532" y="1250950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Q:</a:t>
            </a:r>
            <a:endParaRPr lang="zh-TW" alt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410295EB-00A3-6147-6D4C-904E71644431}"/>
              </a:ext>
            </a:extLst>
          </p:cNvPr>
          <p:cNvSpPr txBox="1"/>
          <p:nvPr/>
        </p:nvSpPr>
        <p:spPr>
          <a:xfrm>
            <a:off x="4694382" y="2818246"/>
            <a:ext cx="15007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  <a:endParaRPr lang="zh-TW" alt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04EDF726-F114-CB29-C30F-E0C020158F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720" y="2486025"/>
            <a:ext cx="1241230" cy="24014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A255837C-5C22-B2B6-9C3A-014F16C70E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2379" y="2484582"/>
            <a:ext cx="1219009" cy="24014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</p:pic>
      <p:sp>
        <p:nvSpPr>
          <p:cNvPr id="21" name="文字方塊 20">
            <a:extLst>
              <a:ext uri="{FF2B5EF4-FFF2-40B4-BE49-F238E27FC236}">
                <a16:creationId xmlns:a16="http://schemas.microsoft.com/office/drawing/2014/main" id="{B238FECF-EA75-2D54-D550-5FB855D4D5F8}"/>
              </a:ext>
            </a:extLst>
          </p:cNvPr>
          <p:cNvSpPr txBox="1"/>
          <p:nvPr/>
        </p:nvSpPr>
        <p:spPr>
          <a:xfrm>
            <a:off x="5295900" y="5524500"/>
            <a:ext cx="9605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>
                <a:solidFill>
                  <a:srgbClr val="FF0000"/>
                </a:solidFill>
              </a:rPr>
              <a:t>Ans:</a:t>
            </a:r>
            <a:endParaRPr lang="zh-TW" altLang="en-US" sz="3200" dirty="0">
              <a:solidFill>
                <a:srgbClr val="163E64"/>
              </a:solidFill>
            </a:endParaRPr>
          </a:p>
        </p:txBody>
      </p:sp>
      <p:cxnSp>
        <p:nvCxnSpPr>
          <p:cNvPr id="3" name="直線單箭頭接點 2">
            <a:extLst>
              <a:ext uri="{FF2B5EF4-FFF2-40B4-BE49-F238E27FC236}">
                <a16:creationId xmlns:a16="http://schemas.microsoft.com/office/drawing/2014/main" id="{7DAEFC14-F344-4ADF-AC73-852BE76496C7}"/>
              </a:ext>
            </a:extLst>
          </p:cNvPr>
          <p:cNvCxnSpPr>
            <a:cxnSpLocks/>
          </p:cNvCxnSpPr>
          <p:nvPr/>
        </p:nvCxnSpPr>
        <p:spPr>
          <a:xfrm flipV="1">
            <a:off x="1028700" y="1504950"/>
            <a:ext cx="1323975" cy="9715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3F36888-211A-3877-4C87-312958A05577}"/>
              </a:ext>
            </a:extLst>
          </p:cNvPr>
          <p:cNvSpPr txBox="1"/>
          <p:nvPr/>
        </p:nvSpPr>
        <p:spPr>
          <a:xfrm>
            <a:off x="781337" y="1434522"/>
            <a:ext cx="673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P=60</a:t>
            </a:r>
            <a:endParaRPr lang="zh-TW" altLang="en-US" dirty="0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4CDF04A4-B56C-43B0-871F-94D1F6BE96B9}"/>
              </a:ext>
            </a:extLst>
          </p:cNvPr>
          <p:cNvSpPr txBox="1"/>
          <p:nvPr/>
        </p:nvSpPr>
        <p:spPr>
          <a:xfrm>
            <a:off x="6334125" y="5587484"/>
            <a:ext cx="40005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800" dirty="0">
                <a:solidFill>
                  <a:srgbClr val="163E64"/>
                </a:solidFill>
              </a:rPr>
              <a:t>(</a:t>
            </a:r>
            <a:r>
              <a:rPr lang="en-US" altLang="zh-TW" sz="2800" i="1" dirty="0" err="1">
                <a:solidFill>
                  <a:srgbClr val="163E64"/>
                </a:solidFill>
              </a:rPr>
              <a:t>x</a:t>
            </a:r>
            <a:r>
              <a:rPr lang="en-US" altLang="zh-TW" sz="2800" dirty="0" err="1">
                <a:solidFill>
                  <a:srgbClr val="163E64"/>
                </a:solidFill>
              </a:rPr>
              <a:t>,</a:t>
            </a:r>
            <a:r>
              <a:rPr lang="en-US" altLang="zh-TW" sz="2800" i="1" dirty="0" err="1">
                <a:solidFill>
                  <a:srgbClr val="163E64"/>
                </a:solidFill>
              </a:rPr>
              <a:t>y,z</a:t>
            </a:r>
            <a:r>
              <a:rPr lang="en-US" altLang="zh-TW" sz="2800" dirty="0">
                <a:solidFill>
                  <a:srgbClr val="163E64"/>
                </a:solidFill>
              </a:rPr>
              <a:t>) = (90,0,1)</a:t>
            </a:r>
            <a:endParaRPr lang="zh-TW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42805B37-1DA9-F755-976B-129439F0981B}"/>
                  </a:ext>
                </a:extLst>
              </p:cNvPr>
              <p:cNvSpPr txBox="1"/>
              <p:nvPr/>
            </p:nvSpPr>
            <p:spPr>
              <a:xfrm>
                <a:off x="6411479" y="2633001"/>
                <a:ext cx="4218421" cy="1200329"/>
              </a:xfrm>
              <a:prstGeom prst="rect">
                <a:avLst/>
              </a:prstGeom>
              <a:noFill/>
              <a:ln w="19050">
                <a:solidFill>
                  <a:srgbClr val="163E64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zh-TW"/>
                </a:defPPr>
                <a:lvl1pPr>
                  <a:defRPr sz="2800" b="0" i="1">
                    <a:solidFill>
                      <a:schemeClr val="tx2">
                        <a:lumMod val="90000"/>
                        <a:lumOff val="10000"/>
                      </a:schemeClr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240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 sz="2400" smtClean="0"/>
                        <m:t>S</m:t>
                      </m:r>
                      <m:r>
                        <m:rPr>
                          <m:nor/>
                        </m:rPr>
                        <a:rPr lang="en-US" altLang="zh-TW" sz="2400" smtClean="0"/>
                        <m:t> </m:t>
                      </m:r>
                      <m:r>
                        <m:rPr>
                          <m:nor/>
                        </m:rPr>
                        <a:rPr lang="en-US" altLang="zh-TW" sz="2400" smtClean="0"/>
                        <m:t>mod</m:t>
                      </m:r>
                      <m:r>
                        <m:rPr>
                          <m:nor/>
                        </m:rPr>
                        <a:rPr lang="en-US" altLang="zh-TW" sz="2400" smtClean="0"/>
                        <m:t> </m:t>
                      </m:r>
                      <m:r>
                        <m:rPr>
                          <m:nor/>
                        </m:rPr>
                        <a:rPr lang="en-US" altLang="zh-TW" sz="2400" smtClean="0"/>
                        <m:t>MN</m:t>
                      </m:r>
                      <m:r>
                        <m:rPr>
                          <m:nor/>
                        </m:rPr>
                        <a:rPr lang="en-US" altLang="zh-TW" sz="2400" smtClean="0"/>
                        <m:t> </m:t>
                      </m:r>
                      <m:r>
                        <m:rPr>
                          <m:nor/>
                        </m:rPr>
                        <a:rPr lang="en-US" altLang="zh-TW" sz="2400" smtClean="0"/>
                        <m:t>mod</m:t>
                      </m:r>
                      <m:r>
                        <m:rPr>
                          <m:nor/>
                        </m:rPr>
                        <a:rPr lang="en-US" altLang="zh-TW" sz="2400" smtClean="0"/>
                        <m:t> </m:t>
                      </m:r>
                      <m:r>
                        <m:rPr>
                          <m:nor/>
                        </m:rPr>
                        <a:rPr lang="en-US" altLang="zh-TW" sz="2400" smtClean="0"/>
                        <m:t>M</m:t>
                      </m:r>
                    </m:oMath>
                  </m:oMathPara>
                </a14:m>
                <a:endParaRPr lang="en-US" altLang="zh-TW" sz="2400" dirty="0"/>
              </a:p>
              <a:p>
                <a14:m>
                  <m:oMath xmlns:m="http://schemas.openxmlformats.org/officeDocument/2006/math">
                    <m:r>
                      <a:rPr lang="en-US" altLang="zh-TW" sz="240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TW" sz="240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TW" sz="240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400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altLang="zh-TW" sz="240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400" smtClean="0">
                        <a:latin typeface="Cambria Math" panose="02040503050406030204" pitchFamily="18" charset="0"/>
                      </a:rPr>
                      <m:t>𝑀𝑁</m:t>
                    </m:r>
                    <m:r>
                      <a:rPr lang="en-US" altLang="zh-TW" sz="2400" smtClean="0">
                        <a:latin typeface="Cambria Math" panose="02040503050406030204" pitchFamily="18" charset="0"/>
                      </a:rPr>
                      <m:t>//</m:t>
                    </m:r>
                    <m:r>
                      <a:rPr lang="en-US" altLang="zh-TW" sz="240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zh-TW" sz="2400" dirty="0"/>
                  <a:t> (</a:t>
                </a:r>
                <a:r>
                  <a:rPr lang="zh-TW" altLang="en-US" sz="2400" dirty="0"/>
                  <a:t>取商數</a:t>
                </a:r>
                <a:r>
                  <a:rPr lang="en-US" altLang="zh-TW" sz="2400" dirty="0"/>
                  <a:t>)</a:t>
                </a:r>
              </a:p>
              <a:p>
                <a14:m>
                  <m:oMath xmlns:m="http://schemas.openxmlformats.org/officeDocument/2006/math">
                    <m:r>
                      <a:rPr lang="en-US" altLang="zh-TW" sz="240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zh-TW" sz="240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TW" sz="2400" smtClean="0">
                        <a:latin typeface="Cambria Math" panose="02040503050406030204" pitchFamily="18" charset="0"/>
                      </a:rPr>
                      <m:t>//</m:t>
                    </m:r>
                    <m:r>
                      <a:rPr lang="en-US" altLang="zh-TW" sz="2400" smtClean="0">
                        <a:latin typeface="Cambria Math" panose="02040503050406030204" pitchFamily="18" charset="0"/>
                      </a:rPr>
                      <m:t>𝑀𝑁</m:t>
                    </m:r>
                  </m:oMath>
                </a14:m>
                <a:r>
                  <a:rPr lang="zh-TW" altLang="en-US" sz="2400" dirty="0"/>
                  <a:t> </a:t>
                </a:r>
                <a:r>
                  <a:rPr lang="en-US" altLang="zh-TW" sz="2400" dirty="0"/>
                  <a:t>(</a:t>
                </a:r>
                <a:r>
                  <a:rPr lang="zh-TW" altLang="en-US" sz="2400" dirty="0"/>
                  <a:t>取商數</a:t>
                </a:r>
                <a:r>
                  <a:rPr lang="en-US" altLang="zh-TW" sz="2400"/>
                  <a:t>)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42805B37-1DA9-F755-976B-129439F098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1479" y="2633001"/>
                <a:ext cx="4218421" cy="1200329"/>
              </a:xfrm>
              <a:prstGeom prst="rect">
                <a:avLst/>
              </a:prstGeom>
              <a:blipFill>
                <a:blip r:embed="rId6"/>
                <a:stretch>
                  <a:fillRect l="-288" b="-9500"/>
                </a:stretch>
              </a:blipFill>
              <a:ln w="19050">
                <a:solidFill>
                  <a:srgbClr val="163E64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文字方塊 36">
            <a:extLst>
              <a:ext uri="{FF2B5EF4-FFF2-40B4-BE49-F238E27FC236}">
                <a16:creationId xmlns:a16="http://schemas.microsoft.com/office/drawing/2014/main" id="{7FEFF2D7-1C57-92BA-0155-0F296B40AF48}"/>
              </a:ext>
            </a:extLst>
          </p:cNvPr>
          <p:cNvSpPr txBox="1"/>
          <p:nvPr/>
        </p:nvSpPr>
        <p:spPr>
          <a:xfrm>
            <a:off x="8877300" y="571500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>
                <a:solidFill>
                  <a:srgbClr val="FF0000"/>
                </a:solidFill>
              </a:rPr>
              <a:t>#</a:t>
            </a:r>
            <a:endParaRPr lang="zh-TW" altLang="en-US" sz="2800" b="1" dirty="0">
              <a:solidFill>
                <a:srgbClr val="FF0000"/>
              </a:solidFill>
            </a:endParaRP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619A90D8-8F8A-54A3-54C7-45B279DF0C89}"/>
              </a:ext>
            </a:extLst>
          </p:cNvPr>
          <p:cNvCxnSpPr>
            <a:cxnSpLocks/>
          </p:cNvCxnSpPr>
          <p:nvPr/>
        </p:nvCxnSpPr>
        <p:spPr>
          <a:xfrm>
            <a:off x="1028700" y="2488804"/>
            <a:ext cx="370522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4652B9DB-C550-48A0-473E-3BAB160A0850}"/>
              </a:ext>
            </a:extLst>
          </p:cNvPr>
          <p:cNvSpPr txBox="1"/>
          <p:nvPr/>
        </p:nvSpPr>
        <p:spPr>
          <a:xfrm>
            <a:off x="2343149" y="965488"/>
            <a:ext cx="3642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endParaRPr lang="zh-TW" altLang="en-US" sz="3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7283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E22019D-E871-BDA6-FF87-F66515F28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5</a:t>
            </a:fld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C0A7FAB-4578-7AD0-C4F8-BAC1DB100A6C}"/>
              </a:ext>
            </a:extLst>
          </p:cNvPr>
          <p:cNvSpPr txBox="1"/>
          <p:nvPr/>
        </p:nvSpPr>
        <p:spPr>
          <a:xfrm>
            <a:off x="1" y="24148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en-US" altLang="zh-TW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2-D </a:t>
            </a:r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雙線性內插法</a:t>
            </a:r>
            <a:r>
              <a:rPr lang="en-US" altLang="zh-TW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/>
              <a:t>Bilinear Interpolation</a:t>
            </a:r>
            <a:r>
              <a:rPr lang="en-US" altLang="zh-TW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1C8830B2-3FBB-D111-35DA-5E015E091737}"/>
                  </a:ext>
                </a:extLst>
              </p:cNvPr>
              <p:cNvSpPr txBox="1"/>
              <p:nvPr/>
            </p:nvSpPr>
            <p:spPr>
              <a:xfrm>
                <a:off x="552059" y="2267416"/>
                <a:ext cx="469160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00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zh-TW" altLang="en-US" sz="20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TW" altLang="en-US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zh-TW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zh-TW" altLang="en-US" sz="2000" i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zh-TW" altLang="en-US" sz="20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zh-TW" altLang="en-US" sz="20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TW" altLang="en-US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TW" altLang="en-US" sz="2000" i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zh-TW" altLang="en-US" sz="20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</m:oMath>
                  </m:oMathPara>
                </a14:m>
                <a:endParaRPr lang="zh-TW" altLang="en-US" sz="200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1C8830B2-3FBB-D111-35DA-5E015E0917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059" y="2267416"/>
                <a:ext cx="4691605" cy="307777"/>
              </a:xfrm>
              <a:prstGeom prst="rect">
                <a:avLst/>
              </a:prstGeom>
              <a:blipFill>
                <a:blip r:embed="rId2"/>
                <a:stretch>
                  <a:fillRect l="-1560" b="-3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字方塊 7">
            <a:extLst>
              <a:ext uri="{FF2B5EF4-FFF2-40B4-BE49-F238E27FC236}">
                <a16:creationId xmlns:a16="http://schemas.microsoft.com/office/drawing/2014/main" id="{DFE996EF-E77C-94A3-470E-317A68B93BE7}"/>
              </a:ext>
            </a:extLst>
          </p:cNvPr>
          <p:cNvSpPr txBox="1"/>
          <p:nvPr/>
        </p:nvSpPr>
        <p:spPr>
          <a:xfrm>
            <a:off x="480018" y="1767176"/>
            <a:ext cx="1685077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TW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1-D</a:t>
            </a:r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線性內插法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D388B1A9-CF44-8CA5-4FCD-74A10AF197EC}"/>
              </a:ext>
            </a:extLst>
          </p:cNvPr>
          <p:cNvSpPr txBox="1"/>
          <p:nvPr/>
        </p:nvSpPr>
        <p:spPr>
          <a:xfrm>
            <a:off x="480018" y="2928760"/>
            <a:ext cx="169790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TW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2-D</a:t>
            </a:r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線性內插法</a:t>
            </a:r>
          </a:p>
        </p:txBody>
      </p: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0A507B46-2383-D8A7-B9F0-E58EF4FBEAC6}"/>
              </a:ext>
            </a:extLst>
          </p:cNvPr>
          <p:cNvGrpSpPr/>
          <p:nvPr/>
        </p:nvGrpSpPr>
        <p:grpSpPr>
          <a:xfrm>
            <a:off x="6096000" y="1330847"/>
            <a:ext cx="4799614" cy="4811858"/>
            <a:chOff x="5588217" y="1357511"/>
            <a:chExt cx="3978980" cy="3989129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876DA2D4-667E-0AE9-B4B4-09938EA7A299}"/>
                </a:ext>
              </a:extLst>
            </p:cNvPr>
            <p:cNvSpPr/>
            <p:nvPr/>
          </p:nvSpPr>
          <p:spPr>
            <a:xfrm>
              <a:off x="5589355" y="2742465"/>
              <a:ext cx="3977842" cy="2604175"/>
            </a:xfrm>
            <a:prstGeom prst="rect">
              <a:avLst/>
            </a:prstGeom>
            <a:solidFill>
              <a:srgbClr val="114D5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12" name="群組 11">
              <a:extLst>
                <a:ext uri="{FF2B5EF4-FFF2-40B4-BE49-F238E27FC236}">
                  <a16:creationId xmlns:a16="http://schemas.microsoft.com/office/drawing/2014/main" id="{B24B157B-1D35-A656-74FB-004817F10437}"/>
                </a:ext>
              </a:extLst>
            </p:cNvPr>
            <p:cNvGrpSpPr/>
            <p:nvPr/>
          </p:nvGrpSpPr>
          <p:grpSpPr>
            <a:xfrm>
              <a:off x="5588217" y="1357511"/>
              <a:ext cx="3978980" cy="3369678"/>
              <a:chOff x="534066" y="1765425"/>
              <a:chExt cx="5070029" cy="4293653"/>
            </a:xfrm>
          </p:grpSpPr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4FF5887C-08F1-DE13-CE0F-8A7B8C3AA312}"/>
                  </a:ext>
                </a:extLst>
              </p:cNvPr>
              <p:cNvSpPr/>
              <p:nvPr/>
            </p:nvSpPr>
            <p:spPr>
              <a:xfrm>
                <a:off x="4568244" y="1765426"/>
                <a:ext cx="1035851" cy="4293652"/>
              </a:xfrm>
              <a:prstGeom prst="rect">
                <a:avLst/>
              </a:prstGeom>
              <a:solidFill>
                <a:srgbClr val="114D5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pic>
            <p:nvPicPr>
              <p:cNvPr id="14" name="圖片 13">
                <a:extLst>
                  <a:ext uri="{FF2B5EF4-FFF2-40B4-BE49-F238E27FC236}">
                    <a16:creationId xmlns:a16="http://schemas.microsoft.com/office/drawing/2014/main" id="{309DFCD2-295E-FAE9-736F-45374221BA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4066" y="1765425"/>
                <a:ext cx="4331785" cy="4293653"/>
              </a:xfrm>
              <a:prstGeom prst="rect">
                <a:avLst/>
              </a:prstGeom>
            </p:spPr>
          </p:pic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164E2557-4BF1-F64B-BCAD-E2AA187B6A21}"/>
                  </a:ext>
                </a:extLst>
              </p:cNvPr>
              <p:cNvSpPr/>
              <p:nvPr/>
            </p:nvSpPr>
            <p:spPr>
              <a:xfrm>
                <a:off x="4568244" y="2435382"/>
                <a:ext cx="297608" cy="3431263"/>
              </a:xfrm>
              <a:prstGeom prst="rect">
                <a:avLst/>
              </a:prstGeom>
              <a:solidFill>
                <a:srgbClr val="114D5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pic>
            <p:nvPicPr>
              <p:cNvPr id="16" name="圖片 15">
                <a:extLst>
                  <a:ext uri="{FF2B5EF4-FFF2-40B4-BE49-F238E27FC236}">
                    <a16:creationId xmlns:a16="http://schemas.microsoft.com/office/drawing/2014/main" id="{1FA38032-5DE6-860C-F288-44129D329E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594114" y="4666591"/>
                <a:ext cx="919402" cy="408623"/>
              </a:xfrm>
              <a:prstGeom prst="rect">
                <a:avLst/>
              </a:prstGeom>
            </p:spPr>
          </p:pic>
          <p:pic>
            <p:nvPicPr>
              <p:cNvPr id="17" name="圖片 16">
                <a:extLst>
                  <a:ext uri="{FF2B5EF4-FFF2-40B4-BE49-F238E27FC236}">
                    <a16:creationId xmlns:a16="http://schemas.microsoft.com/office/drawing/2014/main" id="{F8B1EC4E-5C2C-838D-A3D2-6983710B6A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4701565" y="3224688"/>
                <a:ext cx="434509" cy="408623"/>
              </a:xfrm>
              <a:prstGeom prst="rect">
                <a:avLst/>
              </a:prstGeom>
            </p:spPr>
          </p:pic>
        </p:grpSp>
        <p:pic>
          <p:nvPicPr>
            <p:cNvPr id="18" name="圖片 17">
              <a:extLst>
                <a:ext uri="{FF2B5EF4-FFF2-40B4-BE49-F238E27FC236}">
                  <a16:creationId xmlns:a16="http://schemas.microsoft.com/office/drawing/2014/main" id="{9D306BDA-B632-52B6-5C10-06D3112133A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03551" y="4427304"/>
              <a:ext cx="2374848" cy="774566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C70FB20B-89B7-FDD6-8444-9BFE0CCCE729}"/>
                  </a:ext>
                </a:extLst>
              </p:cNvPr>
              <p:cNvSpPr txBox="1"/>
              <p:nvPr/>
            </p:nvSpPr>
            <p:spPr>
              <a:xfrm>
                <a:off x="662986" y="3589200"/>
                <a:ext cx="4469750" cy="970762"/>
              </a:xfrm>
              <a:prstGeom prst="roundRect">
                <a:avLst/>
              </a:prstGeom>
              <a:solidFill>
                <a:srgbClr val="FDF1E9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TW" altLang="en-US" sz="20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zh-TW" alt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zh-TW" altLang="en-US" sz="20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zh-TW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altLang="zh-TW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zh-TW" altLang="en-US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n-US" altLang="zh-TW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TW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sSub>
                            <m:sSubPr>
                              <m:ctrlPr>
                                <a:rPr lang="en-US" altLang="zh-TW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altLang="zh-TW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TW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TW" sz="2000" i="1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TW" sz="2000" i="1">
                    <a:solidFill>
                      <a:schemeClr val="tx1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zh-TW" altLang="en-US" sz="20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TW" alt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zh-TW" altLang="en-US" sz="20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TW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zh-TW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zh-TW" altLang="en-US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zh-TW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TW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b>
                          <m:sSubPr>
                            <m:ctrlPr>
                              <a:rPr lang="en-US" altLang="zh-TW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0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d>
                  </m:oMath>
                </a14:m>
                <a:endParaRPr lang="zh-TW" altLang="en-US" sz="2000" i="1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C70FB20B-89B7-FDD6-8444-9BFE0CCCE7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986" y="3589200"/>
                <a:ext cx="4469750" cy="970762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星形: 五角 20">
            <a:extLst>
              <a:ext uri="{FF2B5EF4-FFF2-40B4-BE49-F238E27FC236}">
                <a16:creationId xmlns:a16="http://schemas.microsoft.com/office/drawing/2014/main" id="{5554D42F-3B1E-8A75-A46F-839C25567017}"/>
              </a:ext>
            </a:extLst>
          </p:cNvPr>
          <p:cNvSpPr/>
          <p:nvPr/>
        </p:nvSpPr>
        <p:spPr>
          <a:xfrm>
            <a:off x="899526" y="260335"/>
            <a:ext cx="615820" cy="615820"/>
          </a:xfrm>
          <a:prstGeom prst="star5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27510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0DCCDB0B-466A-9609-E4B1-6135C39BD3A0}"/>
              </a:ext>
            </a:extLst>
          </p:cNvPr>
          <p:cNvSpPr txBox="1"/>
          <p:nvPr/>
        </p:nvSpPr>
        <p:spPr>
          <a:xfrm>
            <a:off x="1" y="24148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 dirty="0"/>
              <a:t>範例三</a:t>
            </a:r>
            <a:r>
              <a:rPr lang="en-US" altLang="zh-TW" dirty="0"/>
              <a:t>:</a:t>
            </a:r>
            <a:r>
              <a:rPr lang="zh-TW" altLang="en-US" dirty="0"/>
              <a:t>雙線性內插</a:t>
            </a:r>
            <a:r>
              <a:rPr lang="en-US" altLang="zh-TW" dirty="0"/>
              <a:t>(Bilinear interpolation)</a:t>
            </a:r>
            <a:endParaRPr lang="zh-TW" altLang="en-US" dirty="0"/>
          </a:p>
        </p:txBody>
      </p: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70BA752F-A171-4F19-6BD3-3404A56631C2}"/>
              </a:ext>
            </a:extLst>
          </p:cNvPr>
          <p:cNvCxnSpPr>
            <a:cxnSpLocks/>
          </p:cNvCxnSpPr>
          <p:nvPr/>
        </p:nvCxnSpPr>
        <p:spPr>
          <a:xfrm>
            <a:off x="1723881" y="2535972"/>
            <a:ext cx="0" cy="3363178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748B1EBC-034B-61DE-4185-A6E07A0D0F14}"/>
              </a:ext>
            </a:extLst>
          </p:cNvPr>
          <p:cNvCxnSpPr>
            <a:cxnSpLocks/>
          </p:cNvCxnSpPr>
          <p:nvPr/>
        </p:nvCxnSpPr>
        <p:spPr>
          <a:xfrm>
            <a:off x="4278313" y="2535972"/>
            <a:ext cx="0" cy="3381651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7C42DC48-F4F4-07B3-6BA0-AA3184669E1F}"/>
              </a:ext>
            </a:extLst>
          </p:cNvPr>
          <p:cNvCxnSpPr>
            <a:cxnSpLocks/>
          </p:cNvCxnSpPr>
          <p:nvPr/>
        </p:nvCxnSpPr>
        <p:spPr>
          <a:xfrm>
            <a:off x="980931" y="3114047"/>
            <a:ext cx="3945514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AB3E4AAC-F3DE-0604-3DB5-A1A45F6E48F5}"/>
              </a:ext>
            </a:extLst>
          </p:cNvPr>
          <p:cNvCxnSpPr>
            <a:cxnSpLocks/>
          </p:cNvCxnSpPr>
          <p:nvPr/>
        </p:nvCxnSpPr>
        <p:spPr>
          <a:xfrm>
            <a:off x="980931" y="5401800"/>
            <a:ext cx="396398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78D2C59E-86E7-F2D3-7AC0-7EF59A3A3A4B}"/>
              </a:ext>
            </a:extLst>
          </p:cNvPr>
          <p:cNvSpPr txBox="1"/>
          <p:nvPr/>
        </p:nvSpPr>
        <p:spPr>
          <a:xfrm>
            <a:off x="1333501" y="2752227"/>
            <a:ext cx="812799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/>
              <a:t>f(2,3)=</a:t>
            </a:r>
          </a:p>
          <a:p>
            <a:pPr algn="ctr"/>
            <a:r>
              <a:rPr lang="en-US" altLang="zh-TW" sz="2000" dirty="0"/>
              <a:t>20</a:t>
            </a:r>
            <a:endParaRPr lang="zh-TW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4831A676-D029-7CE4-9FBD-58FA214E73B8}"/>
                  </a:ext>
                </a:extLst>
              </p:cNvPr>
              <p:cNvSpPr txBox="1"/>
              <p:nvPr/>
            </p:nvSpPr>
            <p:spPr>
              <a:xfrm>
                <a:off x="2818298" y="4287816"/>
                <a:ext cx="1367147" cy="432792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zh-TW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f(2</a:t>
                </a:r>
                <a14:m>
                  <m:oMath xmlns:m="http://schemas.openxmlformats.org/officeDocument/2006/math">
                    <m:r>
                      <a:rPr lang="en-US" altLang="zh-TW" sz="14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TW" sz="1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US" altLang="zh-TW" sz="1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sz="1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altLang="zh-TW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.6)=?</a:t>
                </a:r>
                <a:endParaRPr lang="zh-TW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4831A676-D029-7CE4-9FBD-58FA214E73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8298" y="4287816"/>
                <a:ext cx="1367147" cy="432792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群組 33">
            <a:extLst>
              <a:ext uri="{FF2B5EF4-FFF2-40B4-BE49-F238E27FC236}">
                <a16:creationId xmlns:a16="http://schemas.microsoft.com/office/drawing/2014/main" id="{37860AD9-2FE9-E8C3-55B6-FA2E30D76C0B}"/>
              </a:ext>
            </a:extLst>
          </p:cNvPr>
          <p:cNvGrpSpPr/>
          <p:nvPr/>
        </p:nvGrpSpPr>
        <p:grpSpPr>
          <a:xfrm>
            <a:off x="1723880" y="2503496"/>
            <a:ext cx="1780165" cy="247353"/>
            <a:chOff x="5866646" y="1457608"/>
            <a:chExt cx="977775" cy="380245"/>
          </a:xfrm>
          <a:effectLst/>
        </p:grpSpPr>
        <p:cxnSp>
          <p:nvCxnSpPr>
            <p:cNvPr id="35" name="直線接點 34">
              <a:extLst>
                <a:ext uri="{FF2B5EF4-FFF2-40B4-BE49-F238E27FC236}">
                  <a16:creationId xmlns:a16="http://schemas.microsoft.com/office/drawing/2014/main" id="{D9D376C7-BF9C-186D-45D1-A0C64AF147D2}"/>
                </a:ext>
              </a:extLst>
            </p:cNvPr>
            <p:cNvCxnSpPr/>
            <p:nvPr/>
          </p:nvCxnSpPr>
          <p:spPr>
            <a:xfrm>
              <a:off x="5866646" y="1457608"/>
              <a:ext cx="0" cy="38024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接點 35">
              <a:extLst>
                <a:ext uri="{FF2B5EF4-FFF2-40B4-BE49-F238E27FC236}">
                  <a16:creationId xmlns:a16="http://schemas.microsoft.com/office/drawing/2014/main" id="{067BA5E8-2F2E-85EF-5E36-B85330B07447}"/>
                </a:ext>
              </a:extLst>
            </p:cNvPr>
            <p:cNvCxnSpPr/>
            <p:nvPr/>
          </p:nvCxnSpPr>
          <p:spPr>
            <a:xfrm>
              <a:off x="6844421" y="1457608"/>
              <a:ext cx="0" cy="38024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接點 36">
              <a:extLst>
                <a:ext uri="{FF2B5EF4-FFF2-40B4-BE49-F238E27FC236}">
                  <a16:creationId xmlns:a16="http://schemas.microsoft.com/office/drawing/2014/main" id="{9EFF37EA-A784-DC0A-8DCC-64C22910A142}"/>
                </a:ext>
              </a:extLst>
            </p:cNvPr>
            <p:cNvCxnSpPr/>
            <p:nvPr/>
          </p:nvCxnSpPr>
          <p:spPr>
            <a:xfrm>
              <a:off x="5866646" y="1629624"/>
              <a:ext cx="97777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6AA706AD-926C-4908-1543-FF14F949299D}"/>
              </a:ext>
            </a:extLst>
          </p:cNvPr>
          <p:cNvSpPr txBox="1"/>
          <p:nvPr/>
        </p:nvSpPr>
        <p:spPr>
          <a:xfrm>
            <a:off x="2193151" y="2284968"/>
            <a:ext cx="7777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/>
              <a:t>b=0.7</a:t>
            </a:r>
            <a:endParaRPr lang="zh-TW" altLang="en-US" sz="2000" dirty="0"/>
          </a:p>
        </p:txBody>
      </p:sp>
      <p:grpSp>
        <p:nvGrpSpPr>
          <p:cNvPr id="39" name="群組 38">
            <a:extLst>
              <a:ext uri="{FF2B5EF4-FFF2-40B4-BE49-F238E27FC236}">
                <a16:creationId xmlns:a16="http://schemas.microsoft.com/office/drawing/2014/main" id="{0F1C85DC-2148-4EBE-2469-9ABC44FEDDCF}"/>
              </a:ext>
            </a:extLst>
          </p:cNvPr>
          <p:cNvGrpSpPr/>
          <p:nvPr/>
        </p:nvGrpSpPr>
        <p:grpSpPr>
          <a:xfrm rot="5400000">
            <a:off x="349941" y="3656353"/>
            <a:ext cx="1412394" cy="323655"/>
            <a:chOff x="5866646" y="1457608"/>
            <a:chExt cx="977775" cy="380245"/>
          </a:xfrm>
        </p:grpSpPr>
        <p:cxnSp>
          <p:nvCxnSpPr>
            <p:cNvPr id="40" name="直線接點 39">
              <a:extLst>
                <a:ext uri="{FF2B5EF4-FFF2-40B4-BE49-F238E27FC236}">
                  <a16:creationId xmlns:a16="http://schemas.microsoft.com/office/drawing/2014/main" id="{4D2E6B11-1668-1331-CB69-D894A7D1BF77}"/>
                </a:ext>
              </a:extLst>
            </p:cNvPr>
            <p:cNvCxnSpPr/>
            <p:nvPr/>
          </p:nvCxnSpPr>
          <p:spPr>
            <a:xfrm>
              <a:off x="5866646" y="1457608"/>
              <a:ext cx="0" cy="38024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接點 40">
              <a:extLst>
                <a:ext uri="{FF2B5EF4-FFF2-40B4-BE49-F238E27FC236}">
                  <a16:creationId xmlns:a16="http://schemas.microsoft.com/office/drawing/2014/main" id="{56FC3528-FF75-EA32-4B05-3C268B6AB921}"/>
                </a:ext>
              </a:extLst>
            </p:cNvPr>
            <p:cNvCxnSpPr/>
            <p:nvPr/>
          </p:nvCxnSpPr>
          <p:spPr>
            <a:xfrm>
              <a:off x="6844421" y="1457608"/>
              <a:ext cx="0" cy="38024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接點 41">
              <a:extLst>
                <a:ext uri="{FF2B5EF4-FFF2-40B4-BE49-F238E27FC236}">
                  <a16:creationId xmlns:a16="http://schemas.microsoft.com/office/drawing/2014/main" id="{F95CC1F8-4645-9863-0DE2-C498327AB642}"/>
                </a:ext>
              </a:extLst>
            </p:cNvPr>
            <p:cNvCxnSpPr/>
            <p:nvPr/>
          </p:nvCxnSpPr>
          <p:spPr>
            <a:xfrm>
              <a:off x="5866646" y="1629624"/>
              <a:ext cx="97777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3" name="直線接點 42">
            <a:extLst>
              <a:ext uri="{FF2B5EF4-FFF2-40B4-BE49-F238E27FC236}">
                <a16:creationId xmlns:a16="http://schemas.microsoft.com/office/drawing/2014/main" id="{30FEF023-5804-5120-585C-8EB99A35D2EE}"/>
              </a:ext>
            </a:extLst>
          </p:cNvPr>
          <p:cNvCxnSpPr>
            <a:cxnSpLocks/>
            <a:endCxn id="33" idx="2"/>
          </p:cNvCxnSpPr>
          <p:nvPr/>
        </p:nvCxnSpPr>
        <p:spPr>
          <a:xfrm>
            <a:off x="1724025" y="4504212"/>
            <a:ext cx="1094273" cy="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>
            <a:extLst>
              <a:ext uri="{FF2B5EF4-FFF2-40B4-BE49-F238E27FC236}">
                <a16:creationId xmlns:a16="http://schemas.microsoft.com/office/drawing/2014/main" id="{B13E8638-4676-2A6F-EBEE-A228D50C7F9A}"/>
              </a:ext>
            </a:extLst>
          </p:cNvPr>
          <p:cNvCxnSpPr>
            <a:cxnSpLocks/>
            <a:stCxn id="33" idx="0"/>
          </p:cNvCxnSpPr>
          <p:nvPr/>
        </p:nvCxnSpPr>
        <p:spPr>
          <a:xfrm flipV="1">
            <a:off x="3501872" y="3152775"/>
            <a:ext cx="0" cy="1135041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25D84D87-ECBE-71B7-E8A1-C43F77FB63FA}"/>
              </a:ext>
            </a:extLst>
          </p:cNvPr>
          <p:cNvSpPr txBox="1"/>
          <p:nvPr/>
        </p:nvSpPr>
        <p:spPr>
          <a:xfrm>
            <a:off x="1016006" y="3738850"/>
            <a:ext cx="705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a=0.6</a:t>
            </a:r>
            <a:endParaRPr lang="zh-TW" altLang="en-US" dirty="0"/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FC3B4767-A330-B54E-CA67-75AFE2A27EE6}"/>
              </a:ext>
            </a:extLst>
          </p:cNvPr>
          <p:cNvSpPr txBox="1"/>
          <p:nvPr/>
        </p:nvSpPr>
        <p:spPr>
          <a:xfrm>
            <a:off x="1328882" y="5028991"/>
            <a:ext cx="812799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標楷體"/>
                <a:cs typeface="+mn-cs"/>
              </a:rPr>
              <a:t>f(2,4)=</a:t>
            </a:r>
          </a:p>
          <a:p>
            <a:pPr algn="ctr"/>
            <a:r>
              <a:rPr lang="en-US" altLang="zh-TW" sz="2000" dirty="0"/>
              <a:t>70</a:t>
            </a:r>
            <a:endParaRPr lang="zh-TW" altLang="en-US" sz="2000" dirty="0"/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D51B22A4-3721-C835-2F86-5A823BD724A4}"/>
              </a:ext>
            </a:extLst>
          </p:cNvPr>
          <p:cNvSpPr txBox="1"/>
          <p:nvPr/>
        </p:nvSpPr>
        <p:spPr>
          <a:xfrm>
            <a:off x="3891973" y="2770699"/>
            <a:ext cx="812799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標楷體"/>
                <a:cs typeface="+mn-cs"/>
              </a:rPr>
              <a:t>f(</a:t>
            </a:r>
            <a:r>
              <a:rPr lang="en-US" altLang="zh-TW" sz="1600" dirty="0">
                <a:latin typeface="Times New Roman"/>
                <a:ea typeface="標楷體"/>
              </a:rPr>
              <a:t>3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標楷體"/>
                <a:cs typeface="+mn-cs"/>
              </a:rPr>
              <a:t>,3)=</a:t>
            </a:r>
            <a:endParaRPr lang="en-US" altLang="zh-TW" sz="2000" dirty="0"/>
          </a:p>
          <a:p>
            <a:pPr algn="ctr"/>
            <a:r>
              <a:rPr lang="en-US" altLang="zh-TW" sz="2000" dirty="0"/>
              <a:t>30</a:t>
            </a:r>
            <a:endParaRPr lang="zh-TW" altLang="en-US" sz="2000" dirty="0"/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F90D280D-05CB-EA88-91D8-23646E8F9434}"/>
              </a:ext>
            </a:extLst>
          </p:cNvPr>
          <p:cNvSpPr txBox="1"/>
          <p:nvPr/>
        </p:nvSpPr>
        <p:spPr>
          <a:xfrm>
            <a:off x="3878119" y="5056700"/>
            <a:ext cx="812799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標楷體"/>
                <a:cs typeface="+mn-cs"/>
              </a:rPr>
              <a:t>f(3,4)=</a:t>
            </a:r>
          </a:p>
          <a:p>
            <a:pPr algn="ctr"/>
            <a:r>
              <a:rPr lang="en-US" altLang="zh-TW" sz="2000" dirty="0"/>
              <a:t>80</a:t>
            </a:r>
            <a:endParaRPr lang="zh-TW" altLang="en-US" sz="2000" dirty="0"/>
          </a:p>
        </p:txBody>
      </p:sp>
      <p:grpSp>
        <p:nvGrpSpPr>
          <p:cNvPr id="49" name="群組 48">
            <a:extLst>
              <a:ext uri="{FF2B5EF4-FFF2-40B4-BE49-F238E27FC236}">
                <a16:creationId xmlns:a16="http://schemas.microsoft.com/office/drawing/2014/main" id="{4165C052-DA97-ACFE-DF20-0D8D25930AB2}"/>
              </a:ext>
            </a:extLst>
          </p:cNvPr>
          <p:cNvGrpSpPr/>
          <p:nvPr/>
        </p:nvGrpSpPr>
        <p:grpSpPr>
          <a:xfrm>
            <a:off x="1710026" y="2147896"/>
            <a:ext cx="2569874" cy="247353"/>
            <a:chOff x="5866646" y="1457608"/>
            <a:chExt cx="977775" cy="380245"/>
          </a:xfrm>
          <a:effectLst/>
        </p:grpSpPr>
        <p:cxnSp>
          <p:nvCxnSpPr>
            <p:cNvPr id="50" name="直線接點 49">
              <a:extLst>
                <a:ext uri="{FF2B5EF4-FFF2-40B4-BE49-F238E27FC236}">
                  <a16:creationId xmlns:a16="http://schemas.microsoft.com/office/drawing/2014/main" id="{E7A85970-BB7C-5D05-7035-09D3B751CAD7}"/>
                </a:ext>
              </a:extLst>
            </p:cNvPr>
            <p:cNvCxnSpPr/>
            <p:nvPr/>
          </p:nvCxnSpPr>
          <p:spPr>
            <a:xfrm>
              <a:off x="5866646" y="1457608"/>
              <a:ext cx="0" cy="38024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接點 50">
              <a:extLst>
                <a:ext uri="{FF2B5EF4-FFF2-40B4-BE49-F238E27FC236}">
                  <a16:creationId xmlns:a16="http://schemas.microsoft.com/office/drawing/2014/main" id="{C6534C3F-D655-F7B9-E4AE-298EE0AF40C7}"/>
                </a:ext>
              </a:extLst>
            </p:cNvPr>
            <p:cNvCxnSpPr/>
            <p:nvPr/>
          </p:nvCxnSpPr>
          <p:spPr>
            <a:xfrm>
              <a:off x="6844421" y="1457608"/>
              <a:ext cx="0" cy="38024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線接點 51">
              <a:extLst>
                <a:ext uri="{FF2B5EF4-FFF2-40B4-BE49-F238E27FC236}">
                  <a16:creationId xmlns:a16="http://schemas.microsoft.com/office/drawing/2014/main" id="{EFD33403-3E8D-F0F5-3A79-E884BE8780EB}"/>
                </a:ext>
              </a:extLst>
            </p:cNvPr>
            <p:cNvCxnSpPr/>
            <p:nvPr/>
          </p:nvCxnSpPr>
          <p:spPr>
            <a:xfrm>
              <a:off x="5866646" y="1629624"/>
              <a:ext cx="97777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8BA7261A-AF08-1399-02D5-631F247E15BF}"/>
              </a:ext>
            </a:extLst>
          </p:cNvPr>
          <p:cNvSpPr txBox="1"/>
          <p:nvPr/>
        </p:nvSpPr>
        <p:spPr>
          <a:xfrm>
            <a:off x="2835080" y="185547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/>
              <a:t>1</a:t>
            </a:r>
            <a:endParaRPr lang="zh-TW" altLang="en-US" sz="2000" dirty="0"/>
          </a:p>
        </p:txBody>
      </p:sp>
      <p:grpSp>
        <p:nvGrpSpPr>
          <p:cNvPr id="54" name="群組 53">
            <a:extLst>
              <a:ext uri="{FF2B5EF4-FFF2-40B4-BE49-F238E27FC236}">
                <a16:creationId xmlns:a16="http://schemas.microsoft.com/office/drawing/2014/main" id="{C30C4AD5-CF87-23B2-98F6-384A42A7C302}"/>
              </a:ext>
            </a:extLst>
          </p:cNvPr>
          <p:cNvGrpSpPr/>
          <p:nvPr/>
        </p:nvGrpSpPr>
        <p:grpSpPr>
          <a:xfrm rot="5400000">
            <a:off x="-533720" y="4096669"/>
            <a:ext cx="2302260" cy="323655"/>
            <a:chOff x="5866646" y="1457608"/>
            <a:chExt cx="977775" cy="380245"/>
          </a:xfrm>
        </p:grpSpPr>
        <p:cxnSp>
          <p:nvCxnSpPr>
            <p:cNvPr id="55" name="直線接點 54">
              <a:extLst>
                <a:ext uri="{FF2B5EF4-FFF2-40B4-BE49-F238E27FC236}">
                  <a16:creationId xmlns:a16="http://schemas.microsoft.com/office/drawing/2014/main" id="{A88E0329-8D97-0FDC-0E11-20B505254A7B}"/>
                </a:ext>
              </a:extLst>
            </p:cNvPr>
            <p:cNvCxnSpPr/>
            <p:nvPr/>
          </p:nvCxnSpPr>
          <p:spPr>
            <a:xfrm>
              <a:off x="5866646" y="1457608"/>
              <a:ext cx="0" cy="38024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線接點 55">
              <a:extLst>
                <a:ext uri="{FF2B5EF4-FFF2-40B4-BE49-F238E27FC236}">
                  <a16:creationId xmlns:a16="http://schemas.microsoft.com/office/drawing/2014/main" id="{BAB37D9B-3B6B-0336-6FDC-0698ED11608C}"/>
                </a:ext>
              </a:extLst>
            </p:cNvPr>
            <p:cNvCxnSpPr/>
            <p:nvPr/>
          </p:nvCxnSpPr>
          <p:spPr>
            <a:xfrm>
              <a:off x="6844421" y="1457608"/>
              <a:ext cx="0" cy="38024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線接點 56">
              <a:extLst>
                <a:ext uri="{FF2B5EF4-FFF2-40B4-BE49-F238E27FC236}">
                  <a16:creationId xmlns:a16="http://schemas.microsoft.com/office/drawing/2014/main" id="{F0E22C35-48F1-6830-D9D7-AF4587E10871}"/>
                </a:ext>
              </a:extLst>
            </p:cNvPr>
            <p:cNvCxnSpPr/>
            <p:nvPr/>
          </p:nvCxnSpPr>
          <p:spPr>
            <a:xfrm>
              <a:off x="5866646" y="1629624"/>
              <a:ext cx="97777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4E775D2A-09EA-585F-F721-1ED203DA77EA}"/>
              </a:ext>
            </a:extLst>
          </p:cNvPr>
          <p:cNvSpPr txBox="1"/>
          <p:nvPr/>
        </p:nvSpPr>
        <p:spPr>
          <a:xfrm>
            <a:off x="216571" y="399369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/>
              <a:t>1</a:t>
            </a:r>
            <a:endParaRPr lang="zh-TW" altLang="en-US" sz="2000" dirty="0"/>
          </a:p>
        </p:txBody>
      </p: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980B1552-7F93-D40C-6784-08B78B8E3C49}"/>
              </a:ext>
            </a:extLst>
          </p:cNvPr>
          <p:cNvSpPr txBox="1"/>
          <p:nvPr/>
        </p:nvSpPr>
        <p:spPr>
          <a:xfrm>
            <a:off x="5038725" y="1215509"/>
            <a:ext cx="69723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sz="2400" dirty="0"/>
              <a:t>利用雙線性內插法，計算 </a:t>
            </a:r>
            <a:r>
              <a:rPr lang="en-US" altLang="zh-TW" sz="2400" dirty="0"/>
              <a:t>f(2.7, 3.6) </a:t>
            </a:r>
            <a:r>
              <a:rPr lang="zh-TW" altLang="en-US" sz="2400" dirty="0"/>
              <a:t>的影像強度。</a:t>
            </a:r>
            <a:endParaRPr lang="en-US" altLang="zh-TW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TW" sz="2400" dirty="0"/>
              <a:t>Use bilinear interpolation to compute f(2.7, 3.6) given the four corner values.</a:t>
            </a:r>
            <a:endParaRPr lang="zh-TW" altLang="en-US" sz="2400" dirty="0"/>
          </a:p>
        </p:txBody>
      </p:sp>
      <p:sp>
        <p:nvSpPr>
          <p:cNvPr id="66" name="文字方塊 65">
            <a:extLst>
              <a:ext uri="{FF2B5EF4-FFF2-40B4-BE49-F238E27FC236}">
                <a16:creationId xmlns:a16="http://schemas.microsoft.com/office/drawing/2014/main" id="{A7F199A0-8BDD-9E0B-3BEB-8C97C45DF3B9}"/>
              </a:ext>
            </a:extLst>
          </p:cNvPr>
          <p:cNvSpPr txBox="1"/>
          <p:nvPr/>
        </p:nvSpPr>
        <p:spPr>
          <a:xfrm>
            <a:off x="4510232" y="1165225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Q:</a:t>
            </a:r>
            <a:endParaRPr lang="zh-TW" alt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7A85F661-9C6B-2A3A-9891-13C080CA9208}"/>
              </a:ext>
            </a:extLst>
          </p:cNvPr>
          <p:cNvSpPr txBox="1"/>
          <p:nvPr/>
        </p:nvSpPr>
        <p:spPr>
          <a:xfrm>
            <a:off x="5153025" y="2600325"/>
            <a:ext cx="6799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Sol: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416258A1-0B58-9C05-4E6F-E71561E0AB10}"/>
              </a:ext>
            </a:extLst>
          </p:cNvPr>
          <p:cNvSpPr txBox="1"/>
          <p:nvPr/>
        </p:nvSpPr>
        <p:spPr>
          <a:xfrm>
            <a:off x="6886575" y="4152900"/>
            <a:ext cx="3486150" cy="16891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400" dirty="0">
                <a:solidFill>
                  <a:srgbClr val="163E64"/>
                </a:solidFill>
              </a:rPr>
              <a:t>0.3×20</a:t>
            </a:r>
            <a:r>
              <a:rPr lang="zh-TW" altLang="en-US" sz="2400" dirty="0">
                <a:solidFill>
                  <a:srgbClr val="163E64"/>
                </a:solidFill>
              </a:rPr>
              <a:t> </a:t>
            </a:r>
            <a:r>
              <a:rPr lang="en-US" altLang="zh-TW" sz="2400" dirty="0">
                <a:solidFill>
                  <a:srgbClr val="163E64"/>
                </a:solidFill>
              </a:rPr>
              <a:t>+</a:t>
            </a:r>
            <a:r>
              <a:rPr lang="zh-TW" altLang="en-US" sz="2400" dirty="0">
                <a:solidFill>
                  <a:srgbClr val="163E64"/>
                </a:solidFill>
              </a:rPr>
              <a:t> </a:t>
            </a:r>
            <a:r>
              <a:rPr lang="en-US" altLang="zh-TW" sz="2400" dirty="0">
                <a:solidFill>
                  <a:srgbClr val="163E64"/>
                </a:solidFill>
              </a:rPr>
              <a:t>0.7×30</a:t>
            </a:r>
            <a:r>
              <a:rPr lang="zh-TW" altLang="en-US" sz="2400" dirty="0">
                <a:solidFill>
                  <a:srgbClr val="163E64"/>
                </a:solidFill>
              </a:rPr>
              <a:t> </a:t>
            </a:r>
            <a:r>
              <a:rPr lang="en-US" altLang="zh-TW" sz="2400" dirty="0">
                <a:solidFill>
                  <a:srgbClr val="163E64"/>
                </a:solidFill>
              </a:rPr>
              <a:t>=</a:t>
            </a:r>
            <a:r>
              <a:rPr lang="zh-TW" altLang="en-US" sz="2400" dirty="0">
                <a:solidFill>
                  <a:srgbClr val="163E64"/>
                </a:solidFill>
              </a:rPr>
              <a:t> </a:t>
            </a:r>
            <a:r>
              <a:rPr lang="en-US" altLang="zh-TW" sz="2400" dirty="0">
                <a:solidFill>
                  <a:srgbClr val="163E64"/>
                </a:solidFill>
              </a:rPr>
              <a:t>27</a:t>
            </a:r>
          </a:p>
          <a:p>
            <a:pPr>
              <a:lnSpc>
                <a:spcPct val="150000"/>
              </a:lnSpc>
            </a:pPr>
            <a:r>
              <a:rPr lang="en-US" altLang="zh-TW" sz="2400" dirty="0">
                <a:solidFill>
                  <a:srgbClr val="163E64"/>
                </a:solidFill>
              </a:rPr>
              <a:t>0.3×70</a:t>
            </a:r>
            <a:r>
              <a:rPr lang="zh-TW" altLang="en-US" sz="2400" dirty="0">
                <a:solidFill>
                  <a:srgbClr val="163E64"/>
                </a:solidFill>
              </a:rPr>
              <a:t> </a:t>
            </a:r>
            <a:r>
              <a:rPr lang="en-US" altLang="zh-TW" sz="2400" dirty="0">
                <a:solidFill>
                  <a:srgbClr val="163E64"/>
                </a:solidFill>
              </a:rPr>
              <a:t>+</a:t>
            </a:r>
            <a:r>
              <a:rPr lang="zh-TW" altLang="en-US" sz="2400" dirty="0">
                <a:solidFill>
                  <a:srgbClr val="163E64"/>
                </a:solidFill>
              </a:rPr>
              <a:t> </a:t>
            </a:r>
            <a:r>
              <a:rPr lang="en-US" altLang="zh-TW" sz="2400" dirty="0">
                <a:solidFill>
                  <a:srgbClr val="163E64"/>
                </a:solidFill>
              </a:rPr>
              <a:t>0.7×80</a:t>
            </a:r>
            <a:r>
              <a:rPr lang="zh-TW" altLang="en-US" sz="2400" dirty="0">
                <a:solidFill>
                  <a:srgbClr val="163E64"/>
                </a:solidFill>
              </a:rPr>
              <a:t> </a:t>
            </a:r>
            <a:r>
              <a:rPr lang="en-US" altLang="zh-TW" sz="2400" dirty="0">
                <a:solidFill>
                  <a:srgbClr val="163E64"/>
                </a:solidFill>
              </a:rPr>
              <a:t>=</a:t>
            </a:r>
            <a:r>
              <a:rPr lang="zh-TW" altLang="en-US" sz="2400" dirty="0">
                <a:solidFill>
                  <a:srgbClr val="163E64"/>
                </a:solidFill>
              </a:rPr>
              <a:t> </a:t>
            </a:r>
            <a:r>
              <a:rPr lang="en-US" altLang="zh-TW" sz="2400" dirty="0">
                <a:solidFill>
                  <a:srgbClr val="163E64"/>
                </a:solidFill>
              </a:rPr>
              <a:t>77</a:t>
            </a:r>
          </a:p>
          <a:p>
            <a:pPr>
              <a:lnSpc>
                <a:spcPct val="150000"/>
              </a:lnSpc>
            </a:pPr>
            <a:r>
              <a:rPr lang="en-US" altLang="zh-TW" sz="2400" dirty="0">
                <a:solidFill>
                  <a:srgbClr val="163E64"/>
                </a:solidFill>
              </a:rPr>
              <a:t>0.4×27</a:t>
            </a:r>
            <a:r>
              <a:rPr lang="zh-TW" altLang="en-US" sz="2400" dirty="0">
                <a:solidFill>
                  <a:srgbClr val="163E64"/>
                </a:solidFill>
              </a:rPr>
              <a:t> </a:t>
            </a:r>
            <a:r>
              <a:rPr lang="en-US" altLang="zh-TW" sz="2400" dirty="0">
                <a:solidFill>
                  <a:srgbClr val="163E64"/>
                </a:solidFill>
              </a:rPr>
              <a:t>+</a:t>
            </a:r>
            <a:r>
              <a:rPr lang="zh-TW" altLang="en-US" sz="2400" dirty="0">
                <a:solidFill>
                  <a:srgbClr val="163E64"/>
                </a:solidFill>
              </a:rPr>
              <a:t> </a:t>
            </a:r>
            <a:r>
              <a:rPr lang="en-US" altLang="zh-TW" sz="2400" dirty="0">
                <a:solidFill>
                  <a:srgbClr val="163E64"/>
                </a:solidFill>
              </a:rPr>
              <a:t>0.6×77</a:t>
            </a:r>
            <a:r>
              <a:rPr lang="zh-TW" altLang="en-US" sz="2400" dirty="0">
                <a:solidFill>
                  <a:srgbClr val="163E64"/>
                </a:solidFill>
              </a:rPr>
              <a:t> </a:t>
            </a:r>
            <a:r>
              <a:rPr lang="en-US" altLang="zh-TW" sz="2400" dirty="0">
                <a:solidFill>
                  <a:srgbClr val="163E64"/>
                </a:solidFill>
              </a:rPr>
              <a:t>=</a:t>
            </a:r>
            <a:r>
              <a:rPr lang="zh-TW" altLang="en-US" sz="2400" dirty="0">
                <a:solidFill>
                  <a:srgbClr val="163E64"/>
                </a:solidFill>
              </a:rPr>
              <a:t>  </a:t>
            </a:r>
            <a:r>
              <a:rPr lang="en-US" altLang="zh-TW" sz="2400" dirty="0">
                <a:solidFill>
                  <a:srgbClr val="163E64"/>
                </a:solidFill>
              </a:rPr>
              <a:t>57</a:t>
            </a:r>
            <a:endParaRPr lang="zh-TW" altLang="en-US" sz="2400" dirty="0">
              <a:solidFill>
                <a:srgbClr val="163E64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4D199DEA-2A9F-BC64-2C08-DEB0D570B753}"/>
                  </a:ext>
                </a:extLst>
              </p:cNvPr>
              <p:cNvSpPr txBox="1"/>
              <p:nvPr/>
            </p:nvSpPr>
            <p:spPr>
              <a:xfrm>
                <a:off x="5999249" y="3720786"/>
                <a:ext cx="3465591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TW" altLang="en-US" sz="20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2000" i="1" smtClean="0">
                              <a:solidFill>
                                <a:srgbClr val="163E6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solidFill>
                                <a:srgbClr val="163E64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zh-TW" sz="2000" b="0" i="1" smtClean="0">
                              <a:solidFill>
                                <a:srgbClr val="163E64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zh-TW" altLang="en-US" sz="2000" i="1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b="0" i="1" smtClean="0">
                          <a:solidFill>
                            <a:srgbClr val="163E64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altLang="zh-TW" sz="20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4D199DEA-2A9F-BC64-2C08-DEB0D570B7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9249" y="3720786"/>
                <a:ext cx="3465591" cy="307777"/>
              </a:xfrm>
              <a:prstGeom prst="rect">
                <a:avLst/>
              </a:prstGeom>
              <a:blipFill>
                <a:blip r:embed="rId3"/>
                <a:stretch>
                  <a:fillRect b="-196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DC902D52-2834-F969-EEA0-5BA9B14D51AD}"/>
                  </a:ext>
                </a:extLst>
              </p:cNvPr>
              <p:cNvSpPr txBox="1"/>
              <p:nvPr/>
            </p:nvSpPr>
            <p:spPr>
              <a:xfrm>
                <a:off x="6011366" y="2750812"/>
                <a:ext cx="3465591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TW" altLang="en-US" sz="20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2000" i="1" smtClean="0">
                              <a:solidFill>
                                <a:srgbClr val="163E6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solidFill>
                                <a:srgbClr val="163E64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zh-TW" sz="2000" i="1">
                              <a:solidFill>
                                <a:srgbClr val="163E64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zh-TW" altLang="en-US" sz="2000" i="1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i="1" smtClean="0">
                          <a:solidFill>
                            <a:srgbClr val="163E64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sz="20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DC902D52-2834-F969-EEA0-5BA9B14D51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1366" y="2750812"/>
                <a:ext cx="3465591" cy="307777"/>
              </a:xfrm>
              <a:prstGeom prst="rect">
                <a:avLst/>
              </a:prstGeom>
              <a:blipFill>
                <a:blip r:embed="rId4"/>
                <a:stretch>
                  <a:fillRect b="-176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字方塊 72">
                <a:extLst>
                  <a:ext uri="{FF2B5EF4-FFF2-40B4-BE49-F238E27FC236}">
                    <a16:creationId xmlns:a16="http://schemas.microsoft.com/office/drawing/2014/main" id="{2E85C0DD-1497-A56B-B800-2A62E2B4B186}"/>
                  </a:ext>
                </a:extLst>
              </p:cNvPr>
              <p:cNvSpPr txBox="1"/>
              <p:nvPr/>
            </p:nvSpPr>
            <p:spPr>
              <a:xfrm>
                <a:off x="6023437" y="3230719"/>
                <a:ext cx="3465591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zh-TW" altLang="en-US" sz="20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2000" i="1" smtClean="0">
                              <a:solidFill>
                                <a:srgbClr val="163E6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solidFill>
                                <a:srgbClr val="163E64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zh-TW" sz="2000" i="1">
                              <a:solidFill>
                                <a:srgbClr val="163E64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zh-TW" altLang="en-US" sz="2000" i="1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i="1" smtClean="0">
                          <a:solidFill>
                            <a:srgbClr val="163E64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TW" altLang="en-US" sz="2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文字方塊 72">
                <a:extLst>
                  <a:ext uri="{FF2B5EF4-FFF2-40B4-BE49-F238E27FC236}">
                    <a16:creationId xmlns:a16="http://schemas.microsoft.com/office/drawing/2014/main" id="{2E85C0DD-1497-A56B-B800-2A62E2B4B1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3437" y="3230719"/>
                <a:ext cx="3465591" cy="307777"/>
              </a:xfrm>
              <a:prstGeom prst="rect">
                <a:avLst/>
              </a:prstGeom>
              <a:blipFill>
                <a:blip r:embed="rId5"/>
                <a:stretch>
                  <a:fillRect b="-18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矩形 73">
            <a:extLst>
              <a:ext uri="{FF2B5EF4-FFF2-40B4-BE49-F238E27FC236}">
                <a16:creationId xmlns:a16="http://schemas.microsoft.com/office/drawing/2014/main" id="{1307EE32-29E6-532F-CAC3-4399512C480F}"/>
              </a:ext>
            </a:extLst>
          </p:cNvPr>
          <p:cNvSpPr/>
          <p:nvPr/>
        </p:nvSpPr>
        <p:spPr>
          <a:xfrm>
            <a:off x="6010275" y="2628900"/>
            <a:ext cx="3619500" cy="1504950"/>
          </a:xfrm>
          <a:prstGeom prst="rect">
            <a:avLst/>
          </a:prstGeom>
          <a:noFill/>
          <a:ln>
            <a:solidFill>
              <a:srgbClr val="163E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rgbClr val="163E64"/>
                </a:solidFill>
              </a:ln>
            </a:endParaRPr>
          </a:p>
        </p:txBody>
      </p:sp>
      <p:sp>
        <p:nvSpPr>
          <p:cNvPr id="75" name="文字方塊 74">
            <a:extLst>
              <a:ext uri="{FF2B5EF4-FFF2-40B4-BE49-F238E27FC236}">
                <a16:creationId xmlns:a16="http://schemas.microsoft.com/office/drawing/2014/main" id="{6D0F21B9-D076-6C1E-508D-E135E18B6DEA}"/>
              </a:ext>
            </a:extLst>
          </p:cNvPr>
          <p:cNvSpPr txBox="1"/>
          <p:nvPr/>
        </p:nvSpPr>
        <p:spPr>
          <a:xfrm>
            <a:off x="5314950" y="5886450"/>
            <a:ext cx="9973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Ans:   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77" name="文字方塊 76">
            <a:extLst>
              <a:ext uri="{FF2B5EF4-FFF2-40B4-BE49-F238E27FC236}">
                <a16:creationId xmlns:a16="http://schemas.microsoft.com/office/drawing/2014/main" id="{29CB4650-B4A5-E3A9-AA5B-FBF5D626F44E}"/>
              </a:ext>
            </a:extLst>
          </p:cNvPr>
          <p:cNvSpPr txBox="1"/>
          <p:nvPr/>
        </p:nvSpPr>
        <p:spPr>
          <a:xfrm>
            <a:off x="6105525" y="5901809"/>
            <a:ext cx="21240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dirty="0">
                <a:solidFill>
                  <a:srgbClr val="163E64"/>
                </a:solidFill>
              </a:rPr>
              <a:t>f(2.7, 3.6) = 57</a:t>
            </a:r>
            <a:endParaRPr lang="zh-TW" altLang="en-US" sz="2400" dirty="0">
              <a:solidFill>
                <a:srgbClr val="163E64"/>
              </a:solidFill>
            </a:endParaRPr>
          </a:p>
        </p:txBody>
      </p:sp>
      <p:sp>
        <p:nvSpPr>
          <p:cNvPr id="78" name="文字方塊 77">
            <a:extLst>
              <a:ext uri="{FF2B5EF4-FFF2-40B4-BE49-F238E27FC236}">
                <a16:creationId xmlns:a16="http://schemas.microsoft.com/office/drawing/2014/main" id="{5F94A37D-FB72-ADC3-C0F6-AF324A3D938F}"/>
              </a:ext>
            </a:extLst>
          </p:cNvPr>
          <p:cNvSpPr txBox="1"/>
          <p:nvPr/>
        </p:nvSpPr>
        <p:spPr>
          <a:xfrm>
            <a:off x="8143875" y="596265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>
                <a:solidFill>
                  <a:srgbClr val="FF0000"/>
                </a:solidFill>
              </a:rPr>
              <a:t>#</a:t>
            </a:r>
            <a:endParaRPr lang="zh-TW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79461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15EEC1F-90C5-2E8D-6ABD-B8FBD9311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7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E9C5245-878A-46C3-234A-20C3F5924A69}"/>
              </a:ext>
            </a:extLst>
          </p:cNvPr>
          <p:cNvSpPr txBox="1"/>
          <p:nvPr/>
        </p:nvSpPr>
        <p:spPr>
          <a:xfrm>
            <a:off x="1" y="24148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en-US" altLang="zh-TW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2-D </a:t>
            </a:r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雙線性內插法 </a:t>
            </a:r>
            <a:r>
              <a:rPr lang="zh-TW" altLang="en-US"/>
              <a:t>整理</a:t>
            </a:r>
            <a:endParaRPr lang="zh-TW" altLang="en-US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5CB96294-8BC2-EE8E-0398-2B19FC1B10F6}"/>
                  </a:ext>
                </a:extLst>
              </p:cNvPr>
              <p:cNvSpPr txBox="1"/>
              <p:nvPr/>
            </p:nvSpPr>
            <p:spPr>
              <a:xfrm>
                <a:off x="976937" y="1541170"/>
                <a:ext cx="3863494" cy="9612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TW" altLang="en-US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原始圖像尺寸</a:t>
                </a:r>
                <a:r>
                  <a:rPr lang="en-US" altLang="zh-TW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:</a:t>
                </a:r>
                <a:r>
                  <a:rPr lang="zh-TW" altLang="en-US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寬度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zh-TW" altLang="en-US" sz="20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, </a:t>
                </a:r>
                <a:r>
                  <a:rPr lang="zh-TW" altLang="en-US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高度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zh-TW" altLang="en-US" sz="2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TW" sz="200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TW" altLang="en-US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目標圖像尺寸</a:t>
                </a:r>
                <a:r>
                  <a:rPr lang="en-US" altLang="zh-TW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:</a:t>
                </a:r>
                <a:r>
                  <a:rPr lang="zh-TW" altLang="en-US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寬度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zh-TW" altLang="en-US" sz="20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, </a:t>
                </a:r>
                <a:r>
                  <a:rPr lang="zh-TW" altLang="en-US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高度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zh-TW" altLang="en-US" sz="20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zh-TW" altLang="en-US" sz="200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5CB96294-8BC2-EE8E-0398-2B19FC1B10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937" y="1541170"/>
                <a:ext cx="3863494" cy="961289"/>
              </a:xfrm>
              <a:prstGeom prst="rect">
                <a:avLst/>
              </a:prstGeom>
              <a:blipFill>
                <a:blip r:embed="rId2"/>
                <a:stretch>
                  <a:fillRect l="-1420" b="-101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A58E6DCD-69E1-7347-5C65-7513DE831C9F}"/>
                  </a:ext>
                </a:extLst>
              </p:cNvPr>
              <p:cNvSpPr txBox="1"/>
              <p:nvPr/>
            </p:nvSpPr>
            <p:spPr>
              <a:xfrm>
                <a:off x="1379569" y="2712187"/>
                <a:ext cx="1388264" cy="6285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zh-TW" altLang="en-US" sz="20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sSub>
                            <m:sSubPr>
                              <m:ctrlP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zh-TW" altLang="en-US" sz="20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zh-TW" altLang="en-US" sz="20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A58E6DCD-69E1-7347-5C65-7513DE831C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9569" y="2712187"/>
                <a:ext cx="1388264" cy="6285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1B98B181-267E-5662-CEEA-661C87359B24}"/>
                  </a:ext>
                </a:extLst>
              </p:cNvPr>
              <p:cNvSpPr txBox="1"/>
              <p:nvPr/>
            </p:nvSpPr>
            <p:spPr>
              <a:xfrm>
                <a:off x="3296639" y="2715366"/>
                <a:ext cx="1357871" cy="6346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zh-TW" altLang="en-US" sz="20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sSub>
                            <m:sSubPr>
                              <m:ctrlP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zh-TW" altLang="en-US" sz="20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zh-TW" altLang="en-US" sz="20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1B98B181-267E-5662-CEEA-661C87359B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6639" y="2715366"/>
                <a:ext cx="1357871" cy="63466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9414DBD4-250E-5DF5-BE39-54D1D587CDE1}"/>
                  </a:ext>
                </a:extLst>
              </p:cNvPr>
              <p:cNvSpPr txBox="1"/>
              <p:nvPr/>
            </p:nvSpPr>
            <p:spPr>
              <a:xfrm>
                <a:off x="751716" y="4257705"/>
                <a:ext cx="4796140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28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要算目標圖</a:t>
                </a:r>
                <a:r>
                  <a:rPr lang="en-US" altLang="zh-TW" sz="28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F(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800" i="1" dirty="0" err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TW" sz="2800" i="1" dirty="0" err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TW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TW" sz="2800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TW" sz="28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</a:t>
                </a:r>
                <a:r>
                  <a:rPr lang="en-US" altLang="zh-TW" sz="2800" err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的值</a:t>
                </a:r>
                <a:endParaRPr lang="en-US" altLang="zh-TW" sz="280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r>
                  <a:rPr lang="zh-TW" altLang="en-US" sz="28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先算映射到原圖的</a:t>
                </a:r>
                <a:r>
                  <a:rPr lang="en-US" altLang="zh-TW" sz="28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f(</a:t>
                </a:r>
                <a:r>
                  <a:rPr lang="en-US" altLang="zh-TW" sz="2800" i="1" err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x,y</a:t>
                </a:r>
                <a:r>
                  <a:rPr lang="en-US" altLang="zh-TW" sz="28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9414DBD4-250E-5DF5-BE39-54D1D587CD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716" y="4257705"/>
                <a:ext cx="4796140" cy="954107"/>
              </a:xfrm>
              <a:prstGeom prst="rect">
                <a:avLst/>
              </a:prstGeom>
              <a:blipFill>
                <a:blip r:embed="rId5"/>
                <a:stretch>
                  <a:fillRect l="-2541" t="-6369" b="-16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365D31FA-5A6F-DE04-CF1D-FCB5B1C513FB}"/>
                  </a:ext>
                </a:extLst>
              </p:cNvPr>
              <p:cNvSpPr txBox="1"/>
              <p:nvPr/>
            </p:nvSpPr>
            <p:spPr>
              <a:xfrm>
                <a:off x="719678" y="5203263"/>
                <a:ext cx="2189006" cy="9880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altLang="zh-TW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800" i="1" dirty="0" err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TW" sz="2800" i="1" dirty="0" err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TW" sz="28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2800" dirty="0"/>
                            <m:t>×</m:t>
                          </m:r>
                          <m:r>
                            <a:rPr lang="en-US" altLang="zh-TW" sz="28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zh-TW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TW" sz="280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altLang="zh-TW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8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zh-TW" sz="2800" i="1" dirty="0" err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TW" sz="28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2800" dirty="0"/>
                            <m:t>×</m:t>
                          </m:r>
                          <m:r>
                            <a:rPr lang="en-US" altLang="zh-TW" sz="28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zh-TW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800"/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365D31FA-5A6F-DE04-CF1D-FCB5B1C513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678" y="5203263"/>
                <a:ext cx="2189006" cy="9880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8AC27998-BF60-3681-8277-D3B6D3A9B50D}"/>
                  </a:ext>
                </a:extLst>
              </p:cNvPr>
              <p:cNvSpPr txBox="1"/>
              <p:nvPr/>
            </p:nvSpPr>
            <p:spPr>
              <a:xfrm>
                <a:off x="6598773" y="1662255"/>
                <a:ext cx="1533526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TW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4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​ =⌊x⌋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TW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4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​ =⌊y⌋</a:t>
                </a:r>
                <a:endParaRPr lang="zh-TW" altLang="en-US" sz="240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8AC27998-BF60-3681-8277-D3B6D3A9B5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8773" y="1662255"/>
                <a:ext cx="1533526" cy="830997"/>
              </a:xfrm>
              <a:prstGeom prst="rect">
                <a:avLst/>
              </a:prstGeom>
              <a:blipFill>
                <a:blip r:embed="rId7"/>
                <a:stretch>
                  <a:fillRect l="-1190" t="-6618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BA518E37-F1B1-59EE-B428-5E03FD64CEAE}"/>
                  </a:ext>
                </a:extLst>
              </p:cNvPr>
              <p:cNvSpPr txBox="1"/>
              <p:nvPr/>
            </p:nvSpPr>
            <p:spPr>
              <a:xfrm>
                <a:off x="8006747" y="1662255"/>
                <a:ext cx="1533525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TW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4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​ =⌊x⌋+1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TW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4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​ =⌊y⌋+1</a:t>
                </a:r>
                <a:endParaRPr lang="zh-TW" altLang="en-US" sz="240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BA518E37-F1B1-59EE-B428-5E03FD64CE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6747" y="1662255"/>
                <a:ext cx="1533525" cy="830997"/>
              </a:xfrm>
              <a:prstGeom prst="rect">
                <a:avLst/>
              </a:prstGeom>
              <a:blipFill>
                <a:blip r:embed="rId8"/>
                <a:stretch>
                  <a:fillRect l="-1190" t="-6618" r="-3175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E21FF5EA-6335-9F16-1814-84AE13CEDF7A}"/>
              </a:ext>
            </a:extLst>
          </p:cNvPr>
          <p:cNvCxnSpPr>
            <a:cxnSpLocks/>
          </p:cNvCxnSpPr>
          <p:nvPr/>
        </p:nvCxnSpPr>
        <p:spPr>
          <a:xfrm>
            <a:off x="7123691" y="2538858"/>
            <a:ext cx="0" cy="3042077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C9034E76-09B8-FBAE-A560-6033224D8C23}"/>
              </a:ext>
            </a:extLst>
          </p:cNvPr>
          <p:cNvCxnSpPr>
            <a:cxnSpLocks/>
          </p:cNvCxnSpPr>
          <p:nvPr/>
        </p:nvCxnSpPr>
        <p:spPr>
          <a:xfrm>
            <a:off x="10647941" y="2538858"/>
            <a:ext cx="0" cy="3042077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2C5FA52B-BEDA-190A-D225-2449A9E37A8B}"/>
              </a:ext>
            </a:extLst>
          </p:cNvPr>
          <p:cNvCxnSpPr>
            <a:cxnSpLocks/>
          </p:cNvCxnSpPr>
          <p:nvPr/>
        </p:nvCxnSpPr>
        <p:spPr>
          <a:xfrm>
            <a:off x="6380741" y="3116933"/>
            <a:ext cx="4667250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EF6F002E-307E-FF2B-2195-74866C0B2E8D}"/>
              </a:ext>
            </a:extLst>
          </p:cNvPr>
          <p:cNvCxnSpPr>
            <a:cxnSpLocks/>
          </p:cNvCxnSpPr>
          <p:nvPr/>
        </p:nvCxnSpPr>
        <p:spPr>
          <a:xfrm>
            <a:off x="6380741" y="5136831"/>
            <a:ext cx="5172075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40488EB3-0130-67D6-0229-0DFFBB99EDAB}"/>
                  </a:ext>
                </a:extLst>
              </p:cNvPr>
              <p:cNvSpPr txBox="1"/>
              <p:nvPr/>
            </p:nvSpPr>
            <p:spPr>
              <a:xfrm>
                <a:off x="6549303" y="2912131"/>
                <a:ext cx="1494768" cy="40011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TW" sz="2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000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TW" sz="2000"/>
                  <a:t>f(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TW" alt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000"/>
                  <a:t>,</a:t>
                </a:r>
                <a:r>
                  <a:rPr lang="zh-TW" altLang="en-US" sz="200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2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TW" altLang="en-U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000"/>
                  <a:t>)</a:t>
                </a:r>
                <a:endParaRPr lang="zh-TW" altLang="en-US" sz="2000"/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40488EB3-0130-67D6-0229-0DFFBB99ED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9303" y="2912131"/>
                <a:ext cx="1494768" cy="400110"/>
              </a:xfrm>
              <a:prstGeom prst="rect">
                <a:avLst/>
              </a:prstGeom>
              <a:blipFill>
                <a:blip r:embed="rId9"/>
                <a:stretch>
                  <a:fillRect l="-806" t="-7463" r="-4435" b="-2537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AAC6865F-9E2D-AE76-8952-30C165E78C94}"/>
                  </a:ext>
                </a:extLst>
              </p:cNvPr>
              <p:cNvSpPr txBox="1"/>
              <p:nvPr/>
            </p:nvSpPr>
            <p:spPr>
              <a:xfrm>
                <a:off x="10061813" y="2897712"/>
                <a:ext cx="1562800" cy="40011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TW" sz="20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00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000"/>
                  <a:t>f(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TW" alt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000"/>
                  <a:t>,</a:t>
                </a:r>
                <a:r>
                  <a:rPr lang="zh-TW" altLang="en-US" sz="200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2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TW" altLang="en-U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000"/>
                  <a:t>)</a:t>
                </a:r>
                <a:endParaRPr lang="zh-TW" altLang="en-US" sz="2000"/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AAC6865F-9E2D-AE76-8952-30C165E78C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1813" y="2897712"/>
                <a:ext cx="1562800" cy="400110"/>
              </a:xfrm>
              <a:prstGeom prst="rect">
                <a:avLst/>
              </a:prstGeom>
              <a:blipFill>
                <a:blip r:embed="rId10"/>
                <a:stretch>
                  <a:fillRect l="-775" t="-5882" r="-4264" b="-2352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6645B058-64AE-9673-EB41-16915D9CF8FE}"/>
                  </a:ext>
                </a:extLst>
              </p:cNvPr>
              <p:cNvSpPr txBox="1"/>
              <p:nvPr/>
            </p:nvSpPr>
            <p:spPr>
              <a:xfrm>
                <a:off x="6549303" y="4936776"/>
                <a:ext cx="1562800" cy="40011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TW" sz="2000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TW" sz="200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000"/>
                  <a:t>f(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TW" alt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000"/>
                  <a:t>,</a:t>
                </a:r>
                <a:r>
                  <a:rPr lang="zh-TW" altLang="en-US" sz="200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20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TW" altLang="en-U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000"/>
                  <a:t>)</a:t>
                </a:r>
                <a:endParaRPr lang="zh-TW" altLang="en-US" sz="2000"/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6645B058-64AE-9673-EB41-16915D9CF8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9303" y="4936776"/>
                <a:ext cx="1562800" cy="400110"/>
              </a:xfrm>
              <a:prstGeom prst="rect">
                <a:avLst/>
              </a:prstGeom>
              <a:blipFill>
                <a:blip r:embed="rId11"/>
                <a:stretch>
                  <a:fillRect l="-772" t="-7463" r="-4247" b="-2537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1BA31517-4DDA-DFA3-04CC-61E226ECD8D8}"/>
                  </a:ext>
                </a:extLst>
              </p:cNvPr>
              <p:cNvSpPr txBox="1"/>
              <p:nvPr/>
            </p:nvSpPr>
            <p:spPr>
              <a:xfrm>
                <a:off x="10055851" y="4933701"/>
                <a:ext cx="1568763" cy="40011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TW" sz="2000" b="0" i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TW" sz="200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000"/>
                  <a:t>f(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TW" alt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000"/>
                  <a:t>,</a:t>
                </a:r>
                <a:r>
                  <a:rPr lang="zh-TW" altLang="en-US" sz="200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20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TW" altLang="en-U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000"/>
                  <a:t>)</a:t>
                </a:r>
                <a:endParaRPr lang="zh-TW" altLang="en-US" sz="2000"/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1BA31517-4DDA-DFA3-04CC-61E226ECD8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5851" y="4933701"/>
                <a:ext cx="1568763" cy="400110"/>
              </a:xfrm>
              <a:prstGeom prst="rect">
                <a:avLst/>
              </a:prstGeom>
              <a:blipFill>
                <a:blip r:embed="rId12"/>
                <a:stretch>
                  <a:fillRect l="-772" t="-5882" r="-4247" b="-2352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C9C31411-16D3-48D8-2C23-DC9CBC9872ED}"/>
                  </a:ext>
                </a:extLst>
              </p:cNvPr>
              <p:cNvSpPr txBox="1"/>
              <p:nvPr/>
            </p:nvSpPr>
            <p:spPr>
              <a:xfrm>
                <a:off x="7709820" y="3810410"/>
                <a:ext cx="1367147" cy="519351"/>
              </a:xfrm>
              <a:prstGeom prst="ellipse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altLang="zh-TW" sz="18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F(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1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1800" i="1" dirty="0" err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TW" sz="1800" i="1" dirty="0" err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sz="1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TW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TW" sz="1800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TW" sz="18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</a:t>
                </a:r>
                <a:endParaRPr lang="zh-TW" altLang="en-US"/>
              </a:p>
            </p:txBody>
          </p:sp>
        </mc:Choice>
        <mc:Fallback xmlns="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C9C31411-16D3-48D8-2C23-DC9CBC9872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9820" y="3810410"/>
                <a:ext cx="1367147" cy="519351"/>
              </a:xfrm>
              <a:prstGeom prst="ellipse">
                <a:avLst/>
              </a:prstGeom>
              <a:blipFill>
                <a:blip r:embed="rId13"/>
                <a:stretch>
                  <a:fillRect b="-47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2" name="群組 41">
            <a:extLst>
              <a:ext uri="{FF2B5EF4-FFF2-40B4-BE49-F238E27FC236}">
                <a16:creationId xmlns:a16="http://schemas.microsoft.com/office/drawing/2014/main" id="{F99FDCB1-904D-8DD9-D21B-EA21DD808224}"/>
              </a:ext>
            </a:extLst>
          </p:cNvPr>
          <p:cNvGrpSpPr/>
          <p:nvPr/>
        </p:nvGrpSpPr>
        <p:grpSpPr>
          <a:xfrm>
            <a:off x="7123690" y="2626455"/>
            <a:ext cx="1269703" cy="247353"/>
            <a:chOff x="5866646" y="1457608"/>
            <a:chExt cx="977775" cy="380245"/>
          </a:xfrm>
          <a:effectLst/>
        </p:grpSpPr>
        <p:cxnSp>
          <p:nvCxnSpPr>
            <p:cNvPr id="43" name="直線接點 42">
              <a:extLst>
                <a:ext uri="{FF2B5EF4-FFF2-40B4-BE49-F238E27FC236}">
                  <a16:creationId xmlns:a16="http://schemas.microsoft.com/office/drawing/2014/main" id="{E0034430-9C47-BC6A-251E-216E2DB1631A}"/>
                </a:ext>
              </a:extLst>
            </p:cNvPr>
            <p:cNvCxnSpPr/>
            <p:nvPr/>
          </p:nvCxnSpPr>
          <p:spPr>
            <a:xfrm>
              <a:off x="5866646" y="1457608"/>
              <a:ext cx="0" cy="38024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線接點 43">
              <a:extLst>
                <a:ext uri="{FF2B5EF4-FFF2-40B4-BE49-F238E27FC236}">
                  <a16:creationId xmlns:a16="http://schemas.microsoft.com/office/drawing/2014/main" id="{A818020B-DB5A-4EF6-5837-3BDEB614A863}"/>
                </a:ext>
              </a:extLst>
            </p:cNvPr>
            <p:cNvCxnSpPr/>
            <p:nvPr/>
          </p:nvCxnSpPr>
          <p:spPr>
            <a:xfrm>
              <a:off x="6844421" y="1457608"/>
              <a:ext cx="0" cy="38024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線接點 44">
              <a:extLst>
                <a:ext uri="{FF2B5EF4-FFF2-40B4-BE49-F238E27FC236}">
                  <a16:creationId xmlns:a16="http://schemas.microsoft.com/office/drawing/2014/main" id="{01D3A9C7-639B-AF4A-7F18-CBF341E604B0}"/>
                </a:ext>
              </a:extLst>
            </p:cNvPr>
            <p:cNvCxnSpPr/>
            <p:nvPr/>
          </p:nvCxnSpPr>
          <p:spPr>
            <a:xfrm>
              <a:off x="5866646" y="1629624"/>
              <a:ext cx="977775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D6AC6AE8-D8D4-4B49-6B32-BEB54EA96270}"/>
              </a:ext>
            </a:extLst>
          </p:cNvPr>
          <p:cNvSpPr txBox="1"/>
          <p:nvPr/>
        </p:nvSpPr>
        <p:spPr>
          <a:xfrm>
            <a:off x="7565252" y="2426400"/>
            <a:ext cx="328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>
                <a:solidFill>
                  <a:srgbClr val="FF0000"/>
                </a:solidFill>
              </a:rPr>
              <a:t>b</a:t>
            </a:r>
            <a:endParaRPr lang="zh-TW" altLang="en-US" sz="2000">
              <a:solidFill>
                <a:srgbClr val="FF0000"/>
              </a:solidFill>
            </a:endParaRPr>
          </a:p>
        </p:txBody>
      </p:sp>
      <p:grpSp>
        <p:nvGrpSpPr>
          <p:cNvPr id="47" name="群組 46">
            <a:extLst>
              <a:ext uri="{FF2B5EF4-FFF2-40B4-BE49-F238E27FC236}">
                <a16:creationId xmlns:a16="http://schemas.microsoft.com/office/drawing/2014/main" id="{5C40488C-4FDD-63B5-061B-02E12B267C35}"/>
              </a:ext>
            </a:extLst>
          </p:cNvPr>
          <p:cNvGrpSpPr/>
          <p:nvPr/>
        </p:nvGrpSpPr>
        <p:grpSpPr>
          <a:xfrm rot="5400000">
            <a:off x="5969794" y="3439196"/>
            <a:ext cx="972308" cy="323655"/>
            <a:chOff x="5866646" y="1457608"/>
            <a:chExt cx="977775" cy="380245"/>
          </a:xfrm>
        </p:grpSpPr>
        <p:cxnSp>
          <p:nvCxnSpPr>
            <p:cNvPr id="48" name="直線接點 47">
              <a:extLst>
                <a:ext uri="{FF2B5EF4-FFF2-40B4-BE49-F238E27FC236}">
                  <a16:creationId xmlns:a16="http://schemas.microsoft.com/office/drawing/2014/main" id="{019ED5CA-D735-5312-7C78-C58CBC3440F4}"/>
                </a:ext>
              </a:extLst>
            </p:cNvPr>
            <p:cNvCxnSpPr/>
            <p:nvPr/>
          </p:nvCxnSpPr>
          <p:spPr>
            <a:xfrm>
              <a:off x="5866646" y="1457608"/>
              <a:ext cx="0" cy="38024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接點 48">
              <a:extLst>
                <a:ext uri="{FF2B5EF4-FFF2-40B4-BE49-F238E27FC236}">
                  <a16:creationId xmlns:a16="http://schemas.microsoft.com/office/drawing/2014/main" id="{59884F75-DBE2-8EA6-F493-07C2474190C0}"/>
                </a:ext>
              </a:extLst>
            </p:cNvPr>
            <p:cNvCxnSpPr/>
            <p:nvPr/>
          </p:nvCxnSpPr>
          <p:spPr>
            <a:xfrm>
              <a:off x="6844421" y="1457608"/>
              <a:ext cx="0" cy="38024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線接點 49">
              <a:extLst>
                <a:ext uri="{FF2B5EF4-FFF2-40B4-BE49-F238E27FC236}">
                  <a16:creationId xmlns:a16="http://schemas.microsoft.com/office/drawing/2014/main" id="{4A16E1C4-F3E7-D150-B43C-B5CB32B4CCE9}"/>
                </a:ext>
              </a:extLst>
            </p:cNvPr>
            <p:cNvCxnSpPr/>
            <p:nvPr/>
          </p:nvCxnSpPr>
          <p:spPr>
            <a:xfrm>
              <a:off x="5866646" y="1629624"/>
              <a:ext cx="977775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2" name="直線接點 51">
            <a:extLst>
              <a:ext uri="{FF2B5EF4-FFF2-40B4-BE49-F238E27FC236}">
                <a16:creationId xmlns:a16="http://schemas.microsoft.com/office/drawing/2014/main" id="{8802DDE9-38DE-04F2-B1C8-645DE94C6CEF}"/>
              </a:ext>
            </a:extLst>
          </p:cNvPr>
          <p:cNvCxnSpPr>
            <a:endCxn id="41" idx="2"/>
          </p:cNvCxnSpPr>
          <p:nvPr/>
        </p:nvCxnSpPr>
        <p:spPr>
          <a:xfrm>
            <a:off x="7108130" y="4070085"/>
            <a:ext cx="601690" cy="1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>
            <a:extLst>
              <a:ext uri="{FF2B5EF4-FFF2-40B4-BE49-F238E27FC236}">
                <a16:creationId xmlns:a16="http://schemas.microsoft.com/office/drawing/2014/main" id="{B4BF4DDE-F135-31A5-4974-119D8815AE99}"/>
              </a:ext>
            </a:extLst>
          </p:cNvPr>
          <p:cNvCxnSpPr>
            <a:cxnSpLocks/>
            <a:stCxn id="41" idx="0"/>
          </p:cNvCxnSpPr>
          <p:nvPr/>
        </p:nvCxnSpPr>
        <p:spPr>
          <a:xfrm flipV="1">
            <a:off x="8393394" y="3111129"/>
            <a:ext cx="0" cy="699281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D7F98740-B77A-8480-0D55-F168EE76B305}"/>
              </a:ext>
            </a:extLst>
          </p:cNvPr>
          <p:cNvSpPr txBox="1"/>
          <p:nvPr/>
        </p:nvSpPr>
        <p:spPr>
          <a:xfrm>
            <a:off x="6112170" y="3451368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>
                <a:solidFill>
                  <a:srgbClr val="FF0000"/>
                </a:solidFill>
              </a:rPr>
              <a:t>a</a:t>
            </a:r>
            <a:endParaRPr lang="zh-TW" altLang="en-US" sz="200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0DBF7BA7-C127-DA5A-1245-DDBF728D1A16}"/>
                  </a:ext>
                </a:extLst>
              </p:cNvPr>
              <p:cNvSpPr txBox="1"/>
              <p:nvPr/>
            </p:nvSpPr>
            <p:spPr>
              <a:xfrm>
                <a:off x="3987682" y="5826530"/>
                <a:ext cx="7971602" cy="46166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altLang="zh-TW" sz="24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F(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 dirty="0" err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TW" sz="2400" i="1" dirty="0" err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TW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TW" sz="2400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TW" sz="24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</a:t>
                </a:r>
                <a:r>
                  <a:rPr lang="zh-TW" altLang="en-US" sz="2400"/>
                  <a:t> </a:t>
                </a:r>
                <a:r>
                  <a:rPr lang="en-US" altLang="zh-TW" sz="2400"/>
                  <a:t>=</a:t>
                </a:r>
                <a:r>
                  <a:rPr lang="zh-TW" altLang="en-US" sz="2400"/>
                  <a:t> </a:t>
                </a:r>
                <a:r>
                  <a:rPr lang="en-US" altLang="zh-TW" sz="2400"/>
                  <a:t>(</a:t>
                </a:r>
                <a:r>
                  <a:rPr lang="en-US" altLang="zh-TW" sz="2400">
                    <a:solidFill>
                      <a:srgbClr val="FF0000"/>
                    </a:solidFill>
                  </a:rPr>
                  <a:t>1−b</a:t>
                </a:r>
                <a:r>
                  <a:rPr lang="en-US" altLang="zh-TW" sz="2400"/>
                  <a:t>)×[(</a:t>
                </a:r>
                <a:r>
                  <a:rPr lang="en-US" altLang="zh-TW" sz="2400">
                    <a:solidFill>
                      <a:srgbClr val="FF0000"/>
                    </a:solidFill>
                  </a:rPr>
                  <a:t>1−a</a:t>
                </a:r>
                <a:r>
                  <a:rPr lang="en-US" altLang="zh-TW" sz="2400"/>
                  <a:t>)×</a:t>
                </a:r>
                <a:r>
                  <a:rPr lang="zh-TW" altLang="en-US" sz="240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TW" sz="24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400"/>
                  <a:t>+ </a:t>
                </a:r>
                <a:r>
                  <a:rPr lang="en-US" altLang="zh-TW" sz="2400">
                    <a:solidFill>
                      <a:srgbClr val="FF0000"/>
                    </a:solidFill>
                  </a:rPr>
                  <a:t>a</a:t>
                </a:r>
                <a:r>
                  <a:rPr lang="en-US" altLang="zh-TW" sz="2400"/>
                  <a:t>×</a:t>
                </a:r>
                <a:r>
                  <a:rPr lang="zh-TW" altLang="en-US" sz="240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TW" sz="2400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TW" sz="2400"/>
                  <a:t>] + </a:t>
                </a:r>
                <a:r>
                  <a:rPr lang="en-US" altLang="zh-TW" sz="2400">
                    <a:solidFill>
                      <a:srgbClr val="FF0000"/>
                    </a:solidFill>
                  </a:rPr>
                  <a:t>b</a:t>
                </a:r>
                <a:r>
                  <a:rPr lang="en-US" altLang="zh-TW" sz="2400"/>
                  <a:t>×[(</a:t>
                </a:r>
                <a:r>
                  <a:rPr lang="en-US" altLang="zh-TW" sz="2400">
                    <a:solidFill>
                      <a:srgbClr val="FF0000"/>
                    </a:solidFill>
                  </a:rPr>
                  <a:t>1−a</a:t>
                </a:r>
                <a:r>
                  <a:rPr lang="en-US" altLang="zh-TW" sz="2400"/>
                  <a:t>)×</a:t>
                </a:r>
                <a:r>
                  <a:rPr lang="zh-TW" altLang="en-US" sz="240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TW" sz="24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400"/>
                  <a:t>+</a:t>
                </a:r>
                <a:r>
                  <a:rPr lang="en-US" altLang="zh-TW" sz="2400">
                    <a:solidFill>
                      <a:srgbClr val="FF0000"/>
                    </a:solidFill>
                  </a:rPr>
                  <a:t> a </a:t>
                </a:r>
                <a:r>
                  <a:rPr lang="en-US" altLang="zh-TW" sz="2400"/>
                  <a:t>×</a:t>
                </a:r>
                <a:r>
                  <a:rPr lang="zh-TW" altLang="en-US" sz="240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TW" sz="2400" b="0" i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400"/>
                  <a:t>]</a:t>
                </a:r>
                <a:endParaRPr lang="zh-TW" altLang="en-US" sz="2400"/>
              </a:p>
            </p:txBody>
          </p:sp>
        </mc:Choice>
        <mc:Fallback xmlns="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0DBF7BA7-C127-DA5A-1245-DDBF728D1A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7682" y="5826530"/>
                <a:ext cx="7971602" cy="461665"/>
              </a:xfrm>
              <a:prstGeom prst="rect">
                <a:avLst/>
              </a:prstGeom>
              <a:blipFill>
                <a:blip r:embed="rId14"/>
                <a:stretch>
                  <a:fillRect l="-1147" t="-10526" b="-107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D3789619-ED14-C72D-C4D7-197B97C594E9}"/>
                  </a:ext>
                </a:extLst>
              </p:cNvPr>
              <p:cNvSpPr txBox="1"/>
              <p:nvPr/>
            </p:nvSpPr>
            <p:spPr>
              <a:xfrm>
                <a:off x="9768083" y="1662255"/>
                <a:ext cx="1407321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b=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altLang="zh-TW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⌊</m:t>
                    </m:r>
                    <m:r>
                      <m:rPr>
                        <m:nor/>
                      </m:rPr>
                      <a:rPr lang="en-US" altLang="zh-TW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x</m:t>
                    </m:r>
                    <m:r>
                      <m:rPr>
                        <m:nor/>
                      </m:rPr>
                      <a:rPr lang="en-US" altLang="zh-TW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⌋</m:t>
                    </m:r>
                  </m:oMath>
                </a14:m>
                <a:endParaRPr lang="en-US" altLang="zh-TW" sz="2400">
                  <a:solidFill>
                    <a:srgbClr val="FF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r>
                  <a:rPr lang="en-US" altLang="zh-TW" sz="24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a=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TW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altLang="zh-TW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⌊</m:t>
                    </m:r>
                    <m:r>
                      <m:rPr>
                        <m:nor/>
                      </m:rPr>
                      <a:rPr lang="en-US" altLang="zh-TW" sz="2400" b="0" i="0" dirty="0" smtClean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y</m:t>
                    </m:r>
                    <m:r>
                      <m:rPr>
                        <m:nor/>
                      </m:rPr>
                      <a:rPr lang="en-US" altLang="zh-TW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⌋</m:t>
                    </m:r>
                  </m:oMath>
                </a14:m>
                <a:endParaRPr lang="zh-TW" altLang="en-US" sz="2400">
                  <a:solidFill>
                    <a:srgbClr val="FF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D3789619-ED14-C72D-C4D7-197B97C594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8083" y="1662255"/>
                <a:ext cx="1407321" cy="830997"/>
              </a:xfrm>
              <a:prstGeom prst="rect">
                <a:avLst/>
              </a:prstGeom>
              <a:blipFill>
                <a:blip r:embed="rId15"/>
                <a:stretch>
                  <a:fillRect l="-6494" t="-5882" r="-3463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文字方塊 65">
            <a:extLst>
              <a:ext uri="{FF2B5EF4-FFF2-40B4-BE49-F238E27FC236}">
                <a16:creationId xmlns:a16="http://schemas.microsoft.com/office/drawing/2014/main" id="{3E819534-10D3-F419-D7F1-766E1DA911E7}"/>
              </a:ext>
            </a:extLst>
          </p:cNvPr>
          <p:cNvSpPr txBox="1"/>
          <p:nvPr/>
        </p:nvSpPr>
        <p:spPr>
          <a:xfrm>
            <a:off x="454347" y="1133290"/>
            <a:ext cx="3764172" cy="40011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2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Step1:</a:t>
            </a:r>
            <a:r>
              <a:rPr lang="zh-TW" altLang="en-US" sz="2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縮放比例（</a:t>
            </a:r>
            <a:r>
              <a:rPr lang="en-US" altLang="zh-TW" sz="2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Scaling Ratio</a:t>
            </a:r>
            <a:r>
              <a:rPr lang="zh-TW" altLang="en-US" sz="2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F3917F0A-B29C-DD8D-2E23-07D81048A410}"/>
              </a:ext>
            </a:extLst>
          </p:cNvPr>
          <p:cNvSpPr txBox="1"/>
          <p:nvPr/>
        </p:nvSpPr>
        <p:spPr>
          <a:xfrm>
            <a:off x="454347" y="3806580"/>
            <a:ext cx="2121093" cy="40011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2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Step2:</a:t>
            </a:r>
            <a:r>
              <a:rPr lang="zh-TW" altLang="en-US" sz="2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映射到原圖</a:t>
            </a:r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81EA3290-4543-FD87-1256-661892E986F0}"/>
              </a:ext>
            </a:extLst>
          </p:cNvPr>
          <p:cNvSpPr txBox="1"/>
          <p:nvPr/>
        </p:nvSpPr>
        <p:spPr>
          <a:xfrm>
            <a:off x="6248405" y="1135027"/>
            <a:ext cx="2377574" cy="40011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2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Step3:</a:t>
            </a:r>
            <a:r>
              <a:rPr lang="zh-TW" altLang="en-US" sz="2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計算目標圖值</a:t>
            </a:r>
          </a:p>
        </p:txBody>
      </p:sp>
      <p:cxnSp>
        <p:nvCxnSpPr>
          <p:cNvPr id="70" name="直線接點 69">
            <a:extLst>
              <a:ext uri="{FF2B5EF4-FFF2-40B4-BE49-F238E27FC236}">
                <a16:creationId xmlns:a16="http://schemas.microsoft.com/office/drawing/2014/main" id="{50ABE6B9-E30E-CEF7-7767-E33D12AF45DC}"/>
              </a:ext>
            </a:extLst>
          </p:cNvPr>
          <p:cNvCxnSpPr/>
          <p:nvPr/>
        </p:nvCxnSpPr>
        <p:spPr>
          <a:xfrm>
            <a:off x="5466375" y="1133290"/>
            <a:ext cx="0" cy="4564018"/>
          </a:xfrm>
          <a:prstGeom prst="line">
            <a:avLst/>
          </a:prstGeom>
          <a:ln>
            <a:solidFill>
              <a:srgbClr val="0000FF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直線接點 70">
            <a:extLst>
              <a:ext uri="{FF2B5EF4-FFF2-40B4-BE49-F238E27FC236}">
                <a16:creationId xmlns:a16="http://schemas.microsoft.com/office/drawing/2014/main" id="{4CF78A73-4604-4177-198F-B931AAF1A23A}"/>
              </a:ext>
            </a:extLst>
          </p:cNvPr>
          <p:cNvCxnSpPr>
            <a:cxnSpLocks/>
          </p:cNvCxnSpPr>
          <p:nvPr/>
        </p:nvCxnSpPr>
        <p:spPr>
          <a:xfrm>
            <a:off x="271604" y="3651423"/>
            <a:ext cx="5194771" cy="0"/>
          </a:xfrm>
          <a:prstGeom prst="line">
            <a:avLst/>
          </a:prstGeom>
          <a:ln>
            <a:solidFill>
              <a:srgbClr val="0000FF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星形: 五角 3">
            <a:extLst>
              <a:ext uri="{FF2B5EF4-FFF2-40B4-BE49-F238E27FC236}">
                <a16:creationId xmlns:a16="http://schemas.microsoft.com/office/drawing/2014/main" id="{991EAA46-0444-351A-6C1F-E8A90D4A468B}"/>
              </a:ext>
            </a:extLst>
          </p:cNvPr>
          <p:cNvSpPr/>
          <p:nvPr/>
        </p:nvSpPr>
        <p:spPr>
          <a:xfrm>
            <a:off x="899526" y="260335"/>
            <a:ext cx="615820" cy="615820"/>
          </a:xfrm>
          <a:prstGeom prst="star5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3079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15EEC1F-90C5-2E8D-6ABD-B8FBD9311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8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E9C5245-878A-46C3-234A-20C3F5924A69}"/>
              </a:ext>
            </a:extLst>
          </p:cNvPr>
          <p:cNvSpPr txBox="1"/>
          <p:nvPr/>
        </p:nvSpPr>
        <p:spPr>
          <a:xfrm>
            <a:off x="1" y="24148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2-D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雙線性內插法 </a:t>
            </a:r>
            <a:r>
              <a:rPr lang="zh-TW" altLang="en-US" dirty="0"/>
              <a:t>範例</a:t>
            </a:r>
            <a:r>
              <a:rPr lang="en-US" altLang="zh-TW" dirty="0"/>
              <a:t>Example</a:t>
            </a:r>
            <a:r>
              <a:rPr lang="zh-TW" altLang="en-US" dirty="0"/>
              <a:t> </a:t>
            </a:r>
            <a:r>
              <a:rPr lang="en-US" altLang="zh-TW" dirty="0"/>
              <a:t>2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22B1CF6-A625-4BA6-3C86-62B61DC638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405437"/>
              </p:ext>
            </p:extLst>
          </p:nvPr>
        </p:nvGraphicFramePr>
        <p:xfrm>
          <a:off x="1852123" y="2607727"/>
          <a:ext cx="2847816" cy="272064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9272">
                  <a:extLst>
                    <a:ext uri="{9D8B030D-6E8A-4147-A177-3AD203B41FA5}">
                      <a16:colId xmlns:a16="http://schemas.microsoft.com/office/drawing/2014/main" val="606005365"/>
                    </a:ext>
                  </a:extLst>
                </a:gridCol>
                <a:gridCol w="949272">
                  <a:extLst>
                    <a:ext uri="{9D8B030D-6E8A-4147-A177-3AD203B41FA5}">
                      <a16:colId xmlns:a16="http://schemas.microsoft.com/office/drawing/2014/main" val="3281305359"/>
                    </a:ext>
                  </a:extLst>
                </a:gridCol>
                <a:gridCol w="949272">
                  <a:extLst>
                    <a:ext uri="{9D8B030D-6E8A-4147-A177-3AD203B41FA5}">
                      <a16:colId xmlns:a16="http://schemas.microsoft.com/office/drawing/2014/main" val="771941262"/>
                    </a:ext>
                  </a:extLst>
                </a:gridCol>
              </a:tblGrid>
              <a:tr h="90688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10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20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30</a:t>
                      </a:r>
                      <a:endParaRPr lang="zh-TW" alt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8973830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60</a:t>
                      </a:r>
                      <a:endParaRPr lang="zh-TW" alt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7379752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70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80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90</a:t>
                      </a:r>
                      <a:endParaRPr lang="zh-TW" alt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1660278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D4166AB7-D54C-910A-330D-AE68F36F5A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9752918"/>
              </p:ext>
            </p:extLst>
          </p:nvPr>
        </p:nvGraphicFramePr>
        <p:xfrm>
          <a:off x="6517926" y="2245588"/>
          <a:ext cx="3789372" cy="36275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7343">
                  <a:extLst>
                    <a:ext uri="{9D8B030D-6E8A-4147-A177-3AD203B41FA5}">
                      <a16:colId xmlns:a16="http://schemas.microsoft.com/office/drawing/2014/main" val="606005365"/>
                    </a:ext>
                  </a:extLst>
                </a:gridCol>
                <a:gridCol w="947343">
                  <a:extLst>
                    <a:ext uri="{9D8B030D-6E8A-4147-A177-3AD203B41FA5}">
                      <a16:colId xmlns:a16="http://schemas.microsoft.com/office/drawing/2014/main" val="3281305359"/>
                    </a:ext>
                  </a:extLst>
                </a:gridCol>
                <a:gridCol w="947343">
                  <a:extLst>
                    <a:ext uri="{9D8B030D-6E8A-4147-A177-3AD203B41FA5}">
                      <a16:colId xmlns:a16="http://schemas.microsoft.com/office/drawing/2014/main" val="771941262"/>
                    </a:ext>
                  </a:extLst>
                </a:gridCol>
                <a:gridCol w="947343">
                  <a:extLst>
                    <a:ext uri="{9D8B030D-6E8A-4147-A177-3AD203B41FA5}">
                      <a16:colId xmlns:a16="http://schemas.microsoft.com/office/drawing/2014/main" val="54997247"/>
                    </a:ext>
                  </a:extLst>
                </a:gridCol>
              </a:tblGrid>
              <a:tr h="90688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8973830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?</a:t>
                      </a:r>
                      <a:endParaRPr lang="zh-TW" altLang="en-US" sz="2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7379752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1660278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1385109"/>
                  </a:ext>
                </a:extLst>
              </a:tr>
            </a:tbl>
          </a:graphicData>
        </a:graphic>
      </p:graphicFrame>
      <p:sp>
        <p:nvSpPr>
          <p:cNvPr id="6" name="箭號: 向右 5">
            <a:extLst>
              <a:ext uri="{FF2B5EF4-FFF2-40B4-BE49-F238E27FC236}">
                <a16:creationId xmlns:a16="http://schemas.microsoft.com/office/drawing/2014/main" id="{93807A60-BA49-FE60-36B0-4029A423E50D}"/>
              </a:ext>
            </a:extLst>
          </p:cNvPr>
          <p:cNvSpPr/>
          <p:nvPr/>
        </p:nvSpPr>
        <p:spPr>
          <a:xfrm>
            <a:off x="5169839" y="3614108"/>
            <a:ext cx="878186" cy="707886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D3C206C0-319C-ABC6-3BF9-C13D91206473}"/>
                  </a:ext>
                </a:extLst>
              </p:cNvPr>
              <p:cNvSpPr txBox="1"/>
              <p:nvPr/>
            </p:nvSpPr>
            <p:spPr>
              <a:xfrm>
                <a:off x="2992581" y="2105891"/>
                <a:ext cx="7120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/>
                  <a:t>3</a:t>
                </a:r>
                <a14:m>
                  <m:oMath xmlns:m="http://schemas.openxmlformats.org/officeDocument/2006/math">
                    <m:r>
                      <a:rPr lang="en-US" altLang="zh-TW" sz="240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zh-TW" sz="2400" dirty="0"/>
                  <a:t>3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D3C206C0-319C-ABC6-3BF9-C13D912064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2581" y="2105891"/>
                <a:ext cx="712054" cy="461665"/>
              </a:xfrm>
              <a:prstGeom prst="rect">
                <a:avLst/>
              </a:prstGeom>
              <a:blipFill>
                <a:blip r:embed="rId2"/>
                <a:stretch>
                  <a:fillRect l="-13675" t="-10526" r="-1196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072660B0-32BA-2D25-5E14-886B70BA3A26}"/>
                  </a:ext>
                </a:extLst>
              </p:cNvPr>
              <p:cNvSpPr txBox="1"/>
              <p:nvPr/>
            </p:nvSpPr>
            <p:spPr>
              <a:xfrm>
                <a:off x="8067963" y="1796472"/>
                <a:ext cx="7120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/>
                  <a:t>4</a:t>
                </a:r>
                <a14:m>
                  <m:oMath xmlns:m="http://schemas.openxmlformats.org/officeDocument/2006/math">
                    <m:r>
                      <a:rPr lang="en-US" altLang="zh-TW" sz="240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zh-TW" sz="2400" dirty="0"/>
                  <a:t>4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072660B0-32BA-2D25-5E14-886B70BA3A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7963" y="1796472"/>
                <a:ext cx="712054" cy="461665"/>
              </a:xfrm>
              <a:prstGeom prst="rect">
                <a:avLst/>
              </a:prstGeom>
              <a:blipFill>
                <a:blip r:embed="rId3"/>
                <a:stretch>
                  <a:fillRect l="-12821" t="-10667" r="-12821" b="-30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星形: 五角 8">
            <a:extLst>
              <a:ext uri="{FF2B5EF4-FFF2-40B4-BE49-F238E27FC236}">
                <a16:creationId xmlns:a16="http://schemas.microsoft.com/office/drawing/2014/main" id="{646A2309-5557-D31E-CCA5-8883C00C8EC2}"/>
              </a:ext>
            </a:extLst>
          </p:cNvPr>
          <p:cNvSpPr/>
          <p:nvPr/>
        </p:nvSpPr>
        <p:spPr>
          <a:xfrm>
            <a:off x="899526" y="260335"/>
            <a:ext cx="615820" cy="615820"/>
          </a:xfrm>
          <a:prstGeom prst="star5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9535C8FA-6833-B4B4-9CA4-1FE74A95A31E}"/>
                  </a:ext>
                </a:extLst>
              </p:cNvPr>
              <p:cNvSpPr txBox="1"/>
              <p:nvPr/>
            </p:nvSpPr>
            <p:spPr>
              <a:xfrm>
                <a:off x="1431635" y="1159318"/>
                <a:ext cx="957810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b="1" dirty="0"/>
                  <a:t>Question: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Using 2-D bilinear interpolation, find the value of the pixel marked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‘?’ </a:t>
                </a:r>
                <a:r>
                  <a:rPr lang="en-US" altLang="zh-TW" dirty="0"/>
                  <a:t>in the </a:t>
                </a:r>
                <a14:m>
                  <m:oMath xmlns:m="http://schemas.openxmlformats.org/officeDocument/2006/math">
                    <m:r>
                      <a:rPr lang="en-US" altLang="zh-TW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zh-TW" i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TW" i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altLang="zh-TW" dirty="0"/>
                  <a:t>image.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9535C8FA-6833-B4B4-9CA4-1FE74A95A3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1635" y="1159318"/>
                <a:ext cx="9578109" cy="369332"/>
              </a:xfrm>
              <a:prstGeom prst="rect">
                <a:avLst/>
              </a:prstGeom>
              <a:blipFill>
                <a:blip r:embed="rId4"/>
                <a:stretch>
                  <a:fillRect l="-573" t="-8197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8298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9ACBA89-DB4A-5A86-1EB7-5F6C2A5BE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9</a:t>
            </a:fld>
            <a:endParaRPr lang="zh-TW" altLang="en-US"/>
          </a:p>
        </p:txBody>
      </p:sp>
      <p:sp>
        <p:nvSpPr>
          <p:cNvPr id="75" name="文字方塊 74">
            <a:extLst>
              <a:ext uri="{FF2B5EF4-FFF2-40B4-BE49-F238E27FC236}">
                <a16:creationId xmlns:a16="http://schemas.microsoft.com/office/drawing/2014/main" id="{951B826E-8AE1-DAEA-FBC8-FCB213EAE88D}"/>
              </a:ext>
            </a:extLst>
          </p:cNvPr>
          <p:cNvSpPr txBox="1"/>
          <p:nvPr/>
        </p:nvSpPr>
        <p:spPr>
          <a:xfrm>
            <a:off x="1" y="24148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Step1:</a:t>
            </a:r>
            <a:r>
              <a:rPr lang="zh-TW" altLang="en-US" dirty="0"/>
              <a:t>計算縮放比例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6798EEA1-B897-88DA-253A-07B30E319C3D}"/>
                  </a:ext>
                </a:extLst>
              </p:cNvPr>
              <p:cNvSpPr txBox="1"/>
              <p:nvPr/>
            </p:nvSpPr>
            <p:spPr>
              <a:xfrm>
                <a:off x="1180906" y="1400605"/>
                <a:ext cx="6340390" cy="13089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TW" altLang="en-US" sz="28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原始圖像尺寸</a:t>
                </a:r>
                <a:r>
                  <a:rPr lang="en-US" altLang="zh-TW" sz="28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:</a:t>
                </a:r>
                <a:r>
                  <a:rPr lang="zh-TW" altLang="en-US" sz="28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寬度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zh-TW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8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= 3 , </a:t>
                </a:r>
                <a:r>
                  <a:rPr lang="zh-TW" altLang="en-US" sz="28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高度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zh-TW" altLang="en-US" sz="28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8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= 3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TW" altLang="en-US" sz="28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目標圖像尺寸</a:t>
                </a:r>
                <a:r>
                  <a:rPr lang="en-US" altLang="zh-TW" sz="28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:</a:t>
                </a:r>
                <a:r>
                  <a:rPr lang="zh-TW" altLang="en-US" sz="28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寬度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zh-TW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8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= 4 , </a:t>
                </a:r>
                <a:r>
                  <a:rPr lang="zh-TW" altLang="en-US" sz="28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高度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zh-TW" altLang="en-US" sz="28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8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= 4</a:t>
                </a:r>
                <a:endParaRPr lang="zh-TW" altLang="en-US" sz="28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6798EEA1-B897-88DA-253A-07B30E319C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0906" y="1400605"/>
                <a:ext cx="6340390" cy="1308948"/>
              </a:xfrm>
              <a:prstGeom prst="rect">
                <a:avLst/>
              </a:prstGeom>
              <a:blipFill>
                <a:blip r:embed="rId2"/>
                <a:stretch>
                  <a:fillRect l="-1731" r="-865" b="-126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0D877AD4-171F-91C1-CE69-69C4D08075C4}"/>
                  </a:ext>
                </a:extLst>
              </p:cNvPr>
              <p:cNvSpPr txBox="1"/>
              <p:nvPr/>
            </p:nvSpPr>
            <p:spPr>
              <a:xfrm>
                <a:off x="1519968" y="3355109"/>
                <a:ext cx="5308569" cy="8799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zh-TW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n-US" altLang="zh-TW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8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TW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66</m:t>
                      </m:r>
                      <m:r>
                        <a:rPr lang="en-US" altLang="zh-TW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0D877AD4-171F-91C1-CE69-69C4D08075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9968" y="3355109"/>
                <a:ext cx="5308569" cy="8799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886F3CE3-45B7-B6D8-B36E-41E8146A9CE3}"/>
                  </a:ext>
                </a:extLst>
              </p:cNvPr>
              <p:cNvSpPr txBox="1"/>
              <p:nvPr/>
            </p:nvSpPr>
            <p:spPr>
              <a:xfrm>
                <a:off x="1519968" y="4818037"/>
                <a:ext cx="3973331" cy="8885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zh-TW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TW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66</m:t>
                      </m:r>
                      <m:r>
                        <a:rPr lang="en-US" altLang="zh-TW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886F3CE3-45B7-B6D8-B36E-41E8146A9C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9968" y="4818037"/>
                <a:ext cx="3973331" cy="88851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字方塊 3">
            <a:extLst>
              <a:ext uri="{FF2B5EF4-FFF2-40B4-BE49-F238E27FC236}">
                <a16:creationId xmlns:a16="http://schemas.microsoft.com/office/drawing/2014/main" id="{D4EE100E-CA10-91EF-780B-6EAA529A1367}"/>
              </a:ext>
            </a:extLst>
          </p:cNvPr>
          <p:cNvSpPr txBox="1"/>
          <p:nvPr/>
        </p:nvSpPr>
        <p:spPr>
          <a:xfrm>
            <a:off x="5879526" y="4998664"/>
            <a:ext cx="251863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這個就是縮放後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Pixel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與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Pixel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間的</a:t>
            </a:r>
            <a:r>
              <a:rPr lang="zh-TW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距離</a:t>
            </a:r>
          </a:p>
        </p:txBody>
      </p:sp>
    </p:spTree>
    <p:extLst>
      <p:ext uri="{BB962C8B-B14F-4D97-AF65-F5344CB8AC3E}">
        <p14:creationId xmlns:p14="http://schemas.microsoft.com/office/powerpoint/2010/main" val="3478620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15EEC1F-90C5-2E8D-6ABD-B8FBD9311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10</a:t>
            </a:fld>
            <a:endParaRPr lang="zh-TW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D4166AB7-D54C-910A-330D-AE68F36F5A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8836415"/>
              </p:ext>
            </p:extLst>
          </p:nvPr>
        </p:nvGraphicFramePr>
        <p:xfrm>
          <a:off x="842554" y="1893628"/>
          <a:ext cx="3789372" cy="36275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7343">
                  <a:extLst>
                    <a:ext uri="{9D8B030D-6E8A-4147-A177-3AD203B41FA5}">
                      <a16:colId xmlns:a16="http://schemas.microsoft.com/office/drawing/2014/main" val="606005365"/>
                    </a:ext>
                  </a:extLst>
                </a:gridCol>
                <a:gridCol w="947343">
                  <a:extLst>
                    <a:ext uri="{9D8B030D-6E8A-4147-A177-3AD203B41FA5}">
                      <a16:colId xmlns:a16="http://schemas.microsoft.com/office/drawing/2014/main" val="3281305359"/>
                    </a:ext>
                  </a:extLst>
                </a:gridCol>
                <a:gridCol w="947343">
                  <a:extLst>
                    <a:ext uri="{9D8B030D-6E8A-4147-A177-3AD203B41FA5}">
                      <a16:colId xmlns:a16="http://schemas.microsoft.com/office/drawing/2014/main" val="771941262"/>
                    </a:ext>
                  </a:extLst>
                </a:gridCol>
                <a:gridCol w="947343">
                  <a:extLst>
                    <a:ext uri="{9D8B030D-6E8A-4147-A177-3AD203B41FA5}">
                      <a16:colId xmlns:a16="http://schemas.microsoft.com/office/drawing/2014/main" val="54997247"/>
                    </a:ext>
                  </a:extLst>
                </a:gridCol>
              </a:tblGrid>
              <a:tr h="90688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8973830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?</a:t>
                      </a:r>
                      <a:endParaRPr lang="zh-TW" altLang="en-US" sz="2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7379752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1660278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1385109"/>
                  </a:ext>
                </a:extLst>
              </a:tr>
            </a:tbl>
          </a:graphicData>
        </a:graphic>
      </p:graphicFrame>
      <p:sp>
        <p:nvSpPr>
          <p:cNvPr id="6" name="箭號: 向右 5">
            <a:extLst>
              <a:ext uri="{FF2B5EF4-FFF2-40B4-BE49-F238E27FC236}">
                <a16:creationId xmlns:a16="http://schemas.microsoft.com/office/drawing/2014/main" id="{93807A60-BA49-FE60-36B0-4029A423E50D}"/>
              </a:ext>
            </a:extLst>
          </p:cNvPr>
          <p:cNvSpPr/>
          <p:nvPr/>
        </p:nvSpPr>
        <p:spPr>
          <a:xfrm rot="19800000">
            <a:off x="4833792" y="2904996"/>
            <a:ext cx="523715" cy="440621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893EF4E-018A-9D7D-F974-316527611A8C}"/>
              </a:ext>
            </a:extLst>
          </p:cNvPr>
          <p:cNvSpPr/>
          <p:nvPr/>
        </p:nvSpPr>
        <p:spPr>
          <a:xfrm>
            <a:off x="1792663" y="2803584"/>
            <a:ext cx="932506" cy="896293"/>
          </a:xfrm>
          <a:prstGeom prst="rect">
            <a:avLst/>
          </a:prstGeom>
          <a:solidFill>
            <a:srgbClr val="BDBD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F(1,1)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D6E9C520-EBEA-A629-71FB-08E3AE7CFA49}"/>
              </a:ext>
            </a:extLst>
          </p:cNvPr>
          <p:cNvGrpSpPr/>
          <p:nvPr/>
        </p:nvGrpSpPr>
        <p:grpSpPr>
          <a:xfrm>
            <a:off x="1294722" y="1579954"/>
            <a:ext cx="977775" cy="155321"/>
            <a:chOff x="5866646" y="1457608"/>
            <a:chExt cx="977775" cy="380245"/>
          </a:xfrm>
        </p:grpSpPr>
        <p:cxnSp>
          <p:nvCxnSpPr>
            <p:cNvPr id="11" name="直線接點 10">
              <a:extLst>
                <a:ext uri="{FF2B5EF4-FFF2-40B4-BE49-F238E27FC236}">
                  <a16:creationId xmlns:a16="http://schemas.microsoft.com/office/drawing/2014/main" id="{7F8F3180-E9E5-4B98-17D4-6ADEE082839F}"/>
                </a:ext>
              </a:extLst>
            </p:cNvPr>
            <p:cNvCxnSpPr/>
            <p:nvPr/>
          </p:nvCxnSpPr>
          <p:spPr>
            <a:xfrm>
              <a:off x="5866646" y="1457608"/>
              <a:ext cx="0" cy="38024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接點 11">
              <a:extLst>
                <a:ext uri="{FF2B5EF4-FFF2-40B4-BE49-F238E27FC236}">
                  <a16:creationId xmlns:a16="http://schemas.microsoft.com/office/drawing/2014/main" id="{0C335191-A9D9-A1EB-0B9A-723594A72593}"/>
                </a:ext>
              </a:extLst>
            </p:cNvPr>
            <p:cNvCxnSpPr/>
            <p:nvPr/>
          </p:nvCxnSpPr>
          <p:spPr>
            <a:xfrm>
              <a:off x="6844421" y="1457608"/>
              <a:ext cx="0" cy="38024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接點 13">
              <a:extLst>
                <a:ext uri="{FF2B5EF4-FFF2-40B4-BE49-F238E27FC236}">
                  <a16:creationId xmlns:a16="http://schemas.microsoft.com/office/drawing/2014/main" id="{E057EA80-DA0B-511C-F6ED-04F74D81A92A}"/>
                </a:ext>
              </a:extLst>
            </p:cNvPr>
            <p:cNvCxnSpPr/>
            <p:nvPr/>
          </p:nvCxnSpPr>
          <p:spPr>
            <a:xfrm>
              <a:off x="5866646" y="1629624"/>
              <a:ext cx="977775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B6C24CA0-76EA-2E8C-ECC6-EF43EDF4F9E5}"/>
              </a:ext>
            </a:extLst>
          </p:cNvPr>
          <p:cNvGrpSpPr/>
          <p:nvPr/>
        </p:nvGrpSpPr>
        <p:grpSpPr>
          <a:xfrm rot="5400000">
            <a:off x="9071" y="2757628"/>
            <a:ext cx="977775" cy="159814"/>
            <a:chOff x="5866646" y="1457608"/>
            <a:chExt cx="977775" cy="380245"/>
          </a:xfrm>
        </p:grpSpPr>
        <p:cxnSp>
          <p:nvCxnSpPr>
            <p:cNvPr id="20" name="直線接點 19">
              <a:extLst>
                <a:ext uri="{FF2B5EF4-FFF2-40B4-BE49-F238E27FC236}">
                  <a16:creationId xmlns:a16="http://schemas.microsoft.com/office/drawing/2014/main" id="{F69F2130-31EF-8A20-3962-713221B0E3D5}"/>
                </a:ext>
              </a:extLst>
            </p:cNvPr>
            <p:cNvCxnSpPr/>
            <p:nvPr/>
          </p:nvCxnSpPr>
          <p:spPr>
            <a:xfrm>
              <a:off x="5866646" y="1457608"/>
              <a:ext cx="0" cy="38024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接點 20">
              <a:extLst>
                <a:ext uri="{FF2B5EF4-FFF2-40B4-BE49-F238E27FC236}">
                  <a16:creationId xmlns:a16="http://schemas.microsoft.com/office/drawing/2014/main" id="{1E157042-57CE-DCCC-4FCA-E38C6A4E2AA3}"/>
                </a:ext>
              </a:extLst>
            </p:cNvPr>
            <p:cNvCxnSpPr/>
            <p:nvPr/>
          </p:nvCxnSpPr>
          <p:spPr>
            <a:xfrm>
              <a:off x="6844421" y="1457608"/>
              <a:ext cx="0" cy="38024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接點 21">
              <a:extLst>
                <a:ext uri="{FF2B5EF4-FFF2-40B4-BE49-F238E27FC236}">
                  <a16:creationId xmlns:a16="http://schemas.microsoft.com/office/drawing/2014/main" id="{AE85925A-9600-0AED-D49D-DD32E4BDDB8A}"/>
                </a:ext>
              </a:extLst>
            </p:cNvPr>
            <p:cNvCxnSpPr/>
            <p:nvPr/>
          </p:nvCxnSpPr>
          <p:spPr>
            <a:xfrm>
              <a:off x="5866646" y="1629624"/>
              <a:ext cx="977775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47C3B97F-1BD6-056D-4A00-51B2DD043923}"/>
              </a:ext>
            </a:extLst>
          </p:cNvPr>
          <p:cNvSpPr txBox="1"/>
          <p:nvPr/>
        </p:nvSpPr>
        <p:spPr>
          <a:xfrm>
            <a:off x="1614471" y="122214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8A8725DB-D5B7-9E80-60DE-2CE4B97E4ED9}"/>
              </a:ext>
            </a:extLst>
          </p:cNvPr>
          <p:cNvSpPr txBox="1"/>
          <p:nvPr/>
        </p:nvSpPr>
        <p:spPr>
          <a:xfrm>
            <a:off x="157134" y="265286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1</a:t>
            </a:r>
            <a:endParaRPr lang="zh-TW" altLang="en-US" dirty="0"/>
          </a:p>
        </p:txBody>
      </p:sp>
      <p:graphicFrame>
        <p:nvGraphicFramePr>
          <p:cNvPr id="31" name="表格 30">
            <a:extLst>
              <a:ext uri="{FF2B5EF4-FFF2-40B4-BE49-F238E27FC236}">
                <a16:creationId xmlns:a16="http://schemas.microsoft.com/office/drawing/2014/main" id="{2FF3E71C-B8C5-C1E1-0259-FD530B550EC9}"/>
              </a:ext>
            </a:extLst>
          </p:cNvPr>
          <p:cNvGraphicFramePr>
            <a:graphicFrameLocks noGrp="1"/>
          </p:cNvGraphicFramePr>
          <p:nvPr/>
        </p:nvGraphicFramePr>
        <p:xfrm>
          <a:off x="5448533" y="1093331"/>
          <a:ext cx="2847816" cy="27206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1954">
                  <a:extLst>
                    <a:ext uri="{9D8B030D-6E8A-4147-A177-3AD203B41FA5}">
                      <a16:colId xmlns:a16="http://schemas.microsoft.com/office/drawing/2014/main" val="606005365"/>
                    </a:ext>
                  </a:extLst>
                </a:gridCol>
                <a:gridCol w="711954">
                  <a:extLst>
                    <a:ext uri="{9D8B030D-6E8A-4147-A177-3AD203B41FA5}">
                      <a16:colId xmlns:a16="http://schemas.microsoft.com/office/drawing/2014/main" val="3281305359"/>
                    </a:ext>
                  </a:extLst>
                </a:gridCol>
                <a:gridCol w="711954">
                  <a:extLst>
                    <a:ext uri="{9D8B030D-6E8A-4147-A177-3AD203B41FA5}">
                      <a16:colId xmlns:a16="http://schemas.microsoft.com/office/drawing/2014/main" val="771941262"/>
                    </a:ext>
                  </a:extLst>
                </a:gridCol>
                <a:gridCol w="711954">
                  <a:extLst>
                    <a:ext uri="{9D8B030D-6E8A-4147-A177-3AD203B41FA5}">
                      <a16:colId xmlns:a16="http://schemas.microsoft.com/office/drawing/2014/main" val="54997247"/>
                    </a:ext>
                  </a:extLst>
                </a:gridCol>
              </a:tblGrid>
              <a:tr h="68016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8973830"/>
                  </a:ext>
                </a:extLst>
              </a:tr>
              <a:tr h="68016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000" i="1" kern="120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f</a:t>
                      </a: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(0.667,0.667)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BD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12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7379752"/>
                  </a:ext>
                </a:extLst>
              </a:tr>
              <a:tr h="68016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12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12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1660278"/>
                  </a:ext>
                </a:extLst>
              </a:tr>
              <a:tr h="68016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1385109"/>
                  </a:ext>
                </a:extLst>
              </a:tr>
            </a:tbl>
          </a:graphicData>
        </a:graphic>
      </p:graphicFrame>
      <p:graphicFrame>
        <p:nvGraphicFramePr>
          <p:cNvPr id="32" name="表格 31">
            <a:extLst>
              <a:ext uri="{FF2B5EF4-FFF2-40B4-BE49-F238E27FC236}">
                <a16:creationId xmlns:a16="http://schemas.microsoft.com/office/drawing/2014/main" id="{913FFCD7-6807-2A53-7D8C-41C90F15D3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6062274"/>
              </p:ext>
            </p:extLst>
          </p:nvPr>
        </p:nvGraphicFramePr>
        <p:xfrm>
          <a:off x="5446322" y="4026514"/>
          <a:ext cx="2847816" cy="272064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9272">
                  <a:extLst>
                    <a:ext uri="{9D8B030D-6E8A-4147-A177-3AD203B41FA5}">
                      <a16:colId xmlns:a16="http://schemas.microsoft.com/office/drawing/2014/main" val="606005365"/>
                    </a:ext>
                  </a:extLst>
                </a:gridCol>
                <a:gridCol w="949272">
                  <a:extLst>
                    <a:ext uri="{9D8B030D-6E8A-4147-A177-3AD203B41FA5}">
                      <a16:colId xmlns:a16="http://schemas.microsoft.com/office/drawing/2014/main" val="3281305359"/>
                    </a:ext>
                  </a:extLst>
                </a:gridCol>
                <a:gridCol w="949272">
                  <a:extLst>
                    <a:ext uri="{9D8B030D-6E8A-4147-A177-3AD203B41FA5}">
                      <a16:colId xmlns:a16="http://schemas.microsoft.com/office/drawing/2014/main" val="771941262"/>
                    </a:ext>
                  </a:extLst>
                </a:gridCol>
              </a:tblGrid>
              <a:tr h="90688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10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20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30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78973830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40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50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60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87379752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70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80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90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21660278"/>
                  </a:ext>
                </a:extLst>
              </a:tr>
            </a:tbl>
          </a:graphicData>
        </a:graphic>
      </p:graphicFrame>
      <p:sp>
        <p:nvSpPr>
          <p:cNvPr id="34" name="箭號: 向右 33">
            <a:extLst>
              <a:ext uri="{FF2B5EF4-FFF2-40B4-BE49-F238E27FC236}">
                <a16:creationId xmlns:a16="http://schemas.microsoft.com/office/drawing/2014/main" id="{52880323-1C29-8EF6-290A-013BD9867B64}"/>
              </a:ext>
            </a:extLst>
          </p:cNvPr>
          <p:cNvSpPr/>
          <p:nvPr/>
        </p:nvSpPr>
        <p:spPr>
          <a:xfrm>
            <a:off x="8410423" y="4760465"/>
            <a:ext cx="523715" cy="440621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箭號: 向右 34">
            <a:extLst>
              <a:ext uri="{FF2B5EF4-FFF2-40B4-BE49-F238E27FC236}">
                <a16:creationId xmlns:a16="http://schemas.microsoft.com/office/drawing/2014/main" id="{27EE7574-10AD-4FFE-6BB7-4C6920C19B48}"/>
              </a:ext>
            </a:extLst>
          </p:cNvPr>
          <p:cNvSpPr/>
          <p:nvPr/>
        </p:nvSpPr>
        <p:spPr>
          <a:xfrm rot="5400000">
            <a:off x="6656246" y="3632106"/>
            <a:ext cx="523715" cy="440621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36" name="表格 35">
            <a:extLst>
              <a:ext uri="{FF2B5EF4-FFF2-40B4-BE49-F238E27FC236}">
                <a16:creationId xmlns:a16="http://schemas.microsoft.com/office/drawing/2014/main" id="{FF7C12D7-F5AD-AF1F-755D-EF1ED141B225}"/>
              </a:ext>
            </a:extLst>
          </p:cNvPr>
          <p:cNvGraphicFramePr>
            <a:graphicFrameLocks noGrp="1"/>
          </p:cNvGraphicFramePr>
          <p:nvPr/>
        </p:nvGraphicFramePr>
        <p:xfrm>
          <a:off x="9161551" y="3497214"/>
          <a:ext cx="2847816" cy="272064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9272">
                  <a:extLst>
                    <a:ext uri="{9D8B030D-6E8A-4147-A177-3AD203B41FA5}">
                      <a16:colId xmlns:a16="http://schemas.microsoft.com/office/drawing/2014/main" val="606005365"/>
                    </a:ext>
                  </a:extLst>
                </a:gridCol>
                <a:gridCol w="949272">
                  <a:extLst>
                    <a:ext uri="{9D8B030D-6E8A-4147-A177-3AD203B41FA5}">
                      <a16:colId xmlns:a16="http://schemas.microsoft.com/office/drawing/2014/main" val="3281305359"/>
                    </a:ext>
                  </a:extLst>
                </a:gridCol>
                <a:gridCol w="949272">
                  <a:extLst>
                    <a:ext uri="{9D8B030D-6E8A-4147-A177-3AD203B41FA5}">
                      <a16:colId xmlns:a16="http://schemas.microsoft.com/office/drawing/2014/main" val="771941262"/>
                    </a:ext>
                  </a:extLst>
                </a:gridCol>
              </a:tblGrid>
              <a:tr h="9068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>
                          <a:solidFill>
                            <a:srgbClr val="FF0000"/>
                          </a:solidFill>
                        </a:rPr>
                        <a:t>f(0,0)</a:t>
                      </a:r>
                      <a:endParaRPr lang="en-US" altLang="zh-TW" sz="2000" dirty="0"/>
                    </a:p>
                    <a:p>
                      <a:pPr algn="ctr"/>
                      <a:r>
                        <a:rPr lang="en-US" altLang="zh-TW" sz="2800" dirty="0"/>
                        <a:t>10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f(1,0)</a:t>
                      </a:r>
                    </a:p>
                    <a:p>
                      <a:pPr algn="ctr"/>
                      <a:r>
                        <a:rPr lang="en-US" altLang="zh-TW" sz="2800" dirty="0"/>
                        <a:t>20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30</a:t>
                      </a:r>
                      <a:endParaRPr lang="zh-TW" alt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8973830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f(0,1)</a:t>
                      </a:r>
                    </a:p>
                    <a:p>
                      <a:pPr algn="ctr"/>
                      <a:r>
                        <a:rPr lang="en-US" altLang="zh-TW" sz="2800" dirty="0"/>
                        <a:t>40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f(1,1)</a:t>
                      </a:r>
                    </a:p>
                    <a:p>
                      <a:pPr algn="ctr"/>
                      <a:r>
                        <a:rPr lang="en-US" altLang="zh-TW" sz="2800" dirty="0"/>
                        <a:t>50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60</a:t>
                      </a:r>
                      <a:endParaRPr lang="zh-TW" alt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7379752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70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80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90</a:t>
                      </a:r>
                      <a:endParaRPr lang="zh-TW" alt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166027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59676E81-A4CB-C7EE-742D-F551F3083FA2}"/>
                  </a:ext>
                </a:extLst>
              </p:cNvPr>
              <p:cNvSpPr txBox="1"/>
              <p:nvPr/>
            </p:nvSpPr>
            <p:spPr>
              <a:xfrm>
                <a:off x="7467442" y="3649775"/>
                <a:ext cx="1466696" cy="58477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TW" altLang="en-US" sz="16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向下取整找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zh-TW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TW" sz="16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altLang="zh-TW" sz="1600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f</a:t>
                </a:r>
                <a:r>
                  <a:rPr lang="en-US" altLang="zh-TW" sz="16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(0,0)</a:t>
                </a:r>
                <a:endParaRPr lang="zh-TW" altLang="en-US" sz="1600" dirty="0">
                  <a:solidFill>
                    <a:srgbClr val="FF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59676E81-A4CB-C7EE-742D-F551F3083F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7442" y="3649775"/>
                <a:ext cx="1466696" cy="584775"/>
              </a:xfrm>
              <a:prstGeom prst="rect">
                <a:avLst/>
              </a:prstGeom>
              <a:blipFill>
                <a:blip r:embed="rId3"/>
                <a:stretch>
                  <a:fillRect t="-2041" b="-1122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文字方塊 39">
            <a:extLst>
              <a:ext uri="{FF2B5EF4-FFF2-40B4-BE49-F238E27FC236}">
                <a16:creationId xmlns:a16="http://schemas.microsoft.com/office/drawing/2014/main" id="{14BB6820-3B9D-D968-1186-92FEDB1A7B19}"/>
              </a:ext>
            </a:extLst>
          </p:cNvPr>
          <p:cNvSpPr txBox="1"/>
          <p:nvPr/>
        </p:nvSpPr>
        <p:spPr>
          <a:xfrm>
            <a:off x="4596337" y="2555067"/>
            <a:ext cx="9316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>
                <a:solidFill>
                  <a:srgbClr val="FF0000"/>
                </a:solidFill>
              </a:rPr>
              <a:t>×0.667</a:t>
            </a:r>
          </a:p>
        </p:txBody>
      </p:sp>
      <p:pic>
        <p:nvPicPr>
          <p:cNvPr id="42" name="圖片 41">
            <a:extLst>
              <a:ext uri="{FF2B5EF4-FFF2-40B4-BE49-F238E27FC236}">
                <a16:creationId xmlns:a16="http://schemas.microsoft.com/office/drawing/2014/main" id="{26AC6163-8098-26D1-4A65-34D7E2FE28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4711" y="1143886"/>
            <a:ext cx="2584858" cy="1566070"/>
          </a:xfrm>
          <a:prstGeom prst="rect">
            <a:avLst/>
          </a:prstGeom>
        </p:spPr>
      </p:pic>
      <p:sp>
        <p:nvSpPr>
          <p:cNvPr id="4" name="橢圓 3">
            <a:extLst>
              <a:ext uri="{FF2B5EF4-FFF2-40B4-BE49-F238E27FC236}">
                <a16:creationId xmlns:a16="http://schemas.microsoft.com/office/drawing/2014/main" id="{793CCA3C-435D-51C8-7CEC-727410241A0B}"/>
              </a:ext>
            </a:extLst>
          </p:cNvPr>
          <p:cNvSpPr/>
          <p:nvPr/>
        </p:nvSpPr>
        <p:spPr>
          <a:xfrm>
            <a:off x="6392399" y="4935895"/>
            <a:ext cx="218528" cy="218528"/>
          </a:xfrm>
          <a:prstGeom prst="ellipse">
            <a:avLst/>
          </a:prstGeom>
          <a:solidFill>
            <a:srgbClr val="7D7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0AD2D75-7089-A3DB-2AB9-65C7ADCD8B8D}"/>
              </a:ext>
            </a:extLst>
          </p:cNvPr>
          <p:cNvSpPr/>
          <p:nvPr/>
        </p:nvSpPr>
        <p:spPr>
          <a:xfrm>
            <a:off x="9652577" y="3949436"/>
            <a:ext cx="941532" cy="899655"/>
          </a:xfrm>
          <a:prstGeom prst="rect">
            <a:avLst/>
          </a:prstGeom>
          <a:noFill/>
          <a:ln w="19050">
            <a:solidFill>
              <a:srgbClr val="F49A9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2B9F673-9076-CF24-E70C-0CAAE205AB8F}"/>
              </a:ext>
            </a:extLst>
          </p:cNvPr>
          <p:cNvSpPr txBox="1"/>
          <p:nvPr/>
        </p:nvSpPr>
        <p:spPr>
          <a:xfrm>
            <a:off x="5620327" y="4022172"/>
            <a:ext cx="63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(0,0)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347AE761-3B35-1E10-0D64-21256EDD9A42}"/>
              </a:ext>
            </a:extLst>
          </p:cNvPr>
          <p:cNvSpPr txBox="1"/>
          <p:nvPr/>
        </p:nvSpPr>
        <p:spPr>
          <a:xfrm>
            <a:off x="6541077" y="4028522"/>
            <a:ext cx="63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(1,0)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0A61FB31-D082-8FD4-2661-00AAC1B9F6F7}"/>
              </a:ext>
            </a:extLst>
          </p:cNvPr>
          <p:cNvSpPr txBox="1"/>
          <p:nvPr/>
        </p:nvSpPr>
        <p:spPr>
          <a:xfrm>
            <a:off x="6074641" y="4692447"/>
            <a:ext cx="8064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100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(0.67,0.67)</a:t>
            </a:r>
            <a:endParaRPr lang="zh-TW" altLang="en-US" sz="1100" dirty="0">
              <a:solidFill>
                <a:srgbClr val="FF0000"/>
              </a:solidFill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9F533F29-C57F-33D3-46E6-B2567F7E6340}"/>
              </a:ext>
            </a:extLst>
          </p:cNvPr>
          <p:cNvSpPr txBox="1"/>
          <p:nvPr/>
        </p:nvSpPr>
        <p:spPr>
          <a:xfrm>
            <a:off x="5612823" y="5437068"/>
            <a:ext cx="63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(0,1)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120EDFAD-C510-B46D-C883-DD1CB7B91018}"/>
              </a:ext>
            </a:extLst>
          </p:cNvPr>
          <p:cNvSpPr txBox="1"/>
          <p:nvPr/>
        </p:nvSpPr>
        <p:spPr>
          <a:xfrm>
            <a:off x="6568787" y="5460159"/>
            <a:ext cx="63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(1,1)</a:t>
            </a:r>
            <a:endParaRPr lang="zh-TW" alt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8A435415-48B8-39CE-5F7D-9F23591B0485}"/>
                  </a:ext>
                </a:extLst>
              </p:cNvPr>
              <p:cNvSpPr txBox="1"/>
              <p:nvPr/>
            </p:nvSpPr>
            <p:spPr>
              <a:xfrm>
                <a:off x="1" y="241484"/>
                <a:ext cx="121920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TW"/>
                </a:defPPr>
                <a:lvl1pPr algn="ctr">
                  <a:defRPr sz="4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defRPr>
                </a:lvl1pPr>
              </a:lstStyle>
              <a:p>
                <a:r>
                  <a:rPr lang="en-US" altLang="zh-TW" dirty="0"/>
                  <a:t>Step2:</a:t>
                </a:r>
                <a:r>
                  <a:rPr lang="zh-TW" altLang="en-US" dirty="0">
                    <a:latin typeface="標楷體" panose="03000509000000000000" pitchFamily="65" charset="-120"/>
                  </a:rPr>
                  <a:t>找鄰近四個點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~</m:t>
                    </m:r>
                    <m:sSub>
                      <m:sSub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zh-TW" altLang="en-US" dirty="0">
                  <a:latin typeface="標楷體" panose="03000509000000000000" pitchFamily="65" charset="-120"/>
                </a:endParaRPr>
              </a:p>
            </p:txBody>
          </p:sp>
        </mc:Choice>
        <mc:Fallback xmlns="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8A435415-48B8-39CE-5F7D-9F23591B04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" y="241484"/>
                <a:ext cx="12192000" cy="707886"/>
              </a:xfrm>
              <a:prstGeom prst="rect">
                <a:avLst/>
              </a:prstGeom>
              <a:blipFill>
                <a:blip r:embed="rId5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文字方塊 26">
            <a:extLst>
              <a:ext uri="{FF2B5EF4-FFF2-40B4-BE49-F238E27FC236}">
                <a16:creationId xmlns:a16="http://schemas.microsoft.com/office/drawing/2014/main" id="{F068B38B-4184-0E7B-1850-12C5A1FBC59C}"/>
              </a:ext>
            </a:extLst>
          </p:cNvPr>
          <p:cNvSpPr txBox="1"/>
          <p:nvPr/>
        </p:nvSpPr>
        <p:spPr>
          <a:xfrm>
            <a:off x="9236364" y="3029527"/>
            <a:ext cx="2565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座標各減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鄰近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個點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C9EC00D8-14A0-CD82-C2CE-C4F5644F1C87}"/>
              </a:ext>
            </a:extLst>
          </p:cNvPr>
          <p:cNvSpPr txBox="1"/>
          <p:nvPr/>
        </p:nvSpPr>
        <p:spPr>
          <a:xfrm>
            <a:off x="554182" y="424872"/>
            <a:ext cx="11272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目標圖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原圖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C35455C0-E7B7-7133-8407-3DB797AC097D}"/>
                  </a:ext>
                </a:extLst>
              </p:cNvPr>
              <p:cNvSpPr txBox="1"/>
              <p:nvPr/>
            </p:nvSpPr>
            <p:spPr>
              <a:xfrm>
                <a:off x="9161551" y="4001451"/>
                <a:ext cx="37664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zh-TW" altLang="en-US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C35455C0-E7B7-7133-8407-3DB797AC09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1551" y="4001451"/>
                <a:ext cx="37664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E60192E2-53EE-CC1A-BAEA-C7BD3E8CB9B4}"/>
                  </a:ext>
                </a:extLst>
              </p:cNvPr>
              <p:cNvSpPr txBox="1"/>
              <p:nvPr/>
            </p:nvSpPr>
            <p:spPr>
              <a:xfrm>
                <a:off x="10082301" y="4001451"/>
                <a:ext cx="37664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E60192E2-53EE-CC1A-BAEA-C7BD3E8CB9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2301" y="4001451"/>
                <a:ext cx="376641" cy="369332"/>
              </a:xfrm>
              <a:prstGeom prst="rect">
                <a:avLst/>
              </a:prstGeom>
              <a:blipFill>
                <a:blip r:embed="rId7"/>
                <a:stretch>
                  <a:fillRect r="-161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E6453B78-F1F9-D63F-95BA-0BF7058C9E04}"/>
                  </a:ext>
                </a:extLst>
              </p:cNvPr>
              <p:cNvSpPr txBox="1"/>
              <p:nvPr/>
            </p:nvSpPr>
            <p:spPr>
              <a:xfrm>
                <a:off x="9161551" y="4973375"/>
                <a:ext cx="37664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E6453B78-F1F9-D63F-95BA-0BF7058C9E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1551" y="4973375"/>
                <a:ext cx="376641" cy="369332"/>
              </a:xfrm>
              <a:prstGeom prst="rect">
                <a:avLst/>
              </a:prstGeom>
              <a:blipFill>
                <a:blip r:embed="rId8"/>
                <a:stretch>
                  <a:fillRect r="-161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074519BC-FA73-6515-F45C-609ACA34A591}"/>
                  </a:ext>
                </a:extLst>
              </p:cNvPr>
              <p:cNvSpPr txBox="1"/>
              <p:nvPr/>
            </p:nvSpPr>
            <p:spPr>
              <a:xfrm>
                <a:off x="10082301" y="4973375"/>
                <a:ext cx="37664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TW" altLang="en-US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074519BC-FA73-6515-F45C-609ACA34A5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2301" y="4973375"/>
                <a:ext cx="376641" cy="369332"/>
              </a:xfrm>
              <a:prstGeom prst="rect">
                <a:avLst/>
              </a:prstGeom>
              <a:blipFill>
                <a:blip r:embed="rId9"/>
                <a:stretch>
                  <a:fillRect r="-161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直線單箭頭接點 48">
            <a:extLst>
              <a:ext uri="{FF2B5EF4-FFF2-40B4-BE49-F238E27FC236}">
                <a16:creationId xmlns:a16="http://schemas.microsoft.com/office/drawing/2014/main" id="{0CBD2527-C5D2-A863-895E-B81A95DEDF47}"/>
              </a:ext>
            </a:extLst>
          </p:cNvPr>
          <p:cNvCxnSpPr>
            <a:cxnSpLocks/>
            <a:stCxn id="4" idx="6"/>
            <a:endCxn id="39" idx="2"/>
          </p:cNvCxnSpPr>
          <p:nvPr/>
        </p:nvCxnSpPr>
        <p:spPr>
          <a:xfrm flipV="1">
            <a:off x="6610927" y="4234550"/>
            <a:ext cx="1589863" cy="8106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直線單箭頭接點 49">
            <a:extLst>
              <a:ext uri="{FF2B5EF4-FFF2-40B4-BE49-F238E27FC236}">
                <a16:creationId xmlns:a16="http://schemas.microsoft.com/office/drawing/2014/main" id="{8C864F68-B9B2-CC2E-F7B4-E50928B459D4}"/>
              </a:ext>
            </a:extLst>
          </p:cNvPr>
          <p:cNvCxnSpPr>
            <a:cxnSpLocks/>
            <a:stCxn id="39" idx="3"/>
          </p:cNvCxnSpPr>
          <p:nvPr/>
        </p:nvCxnSpPr>
        <p:spPr>
          <a:xfrm flipV="1">
            <a:off x="8934138" y="3760265"/>
            <a:ext cx="385347" cy="1818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86125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群組 3">
            <a:extLst>
              <a:ext uri="{FF2B5EF4-FFF2-40B4-BE49-F238E27FC236}">
                <a16:creationId xmlns:a16="http://schemas.microsoft.com/office/drawing/2014/main" id="{D351AC3B-27A1-FBBB-C171-959780006809}"/>
              </a:ext>
            </a:extLst>
          </p:cNvPr>
          <p:cNvGrpSpPr/>
          <p:nvPr/>
        </p:nvGrpSpPr>
        <p:grpSpPr>
          <a:xfrm>
            <a:off x="742769" y="3709896"/>
            <a:ext cx="2083582" cy="206964"/>
            <a:chOff x="721834" y="3107765"/>
            <a:chExt cx="2104085" cy="206964"/>
          </a:xfrm>
          <a:solidFill>
            <a:srgbClr val="7D7DFF"/>
          </a:solidFill>
        </p:grpSpPr>
        <p:sp>
          <p:nvSpPr>
            <p:cNvPr id="5" name="橢圓 4">
              <a:extLst>
                <a:ext uri="{FF2B5EF4-FFF2-40B4-BE49-F238E27FC236}">
                  <a16:creationId xmlns:a16="http://schemas.microsoft.com/office/drawing/2014/main" id="{29F45459-E2E1-954A-1A9D-FA41031696E7}"/>
                </a:ext>
              </a:extLst>
            </p:cNvPr>
            <p:cNvSpPr/>
            <p:nvPr/>
          </p:nvSpPr>
          <p:spPr>
            <a:xfrm>
              <a:off x="721834" y="3107765"/>
              <a:ext cx="214542" cy="206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橢圓 5">
              <a:extLst>
                <a:ext uri="{FF2B5EF4-FFF2-40B4-BE49-F238E27FC236}">
                  <a16:creationId xmlns:a16="http://schemas.microsoft.com/office/drawing/2014/main" id="{4F3F15E3-172B-5C1A-B0F1-1521EDAA1C8C}"/>
                </a:ext>
              </a:extLst>
            </p:cNvPr>
            <p:cNvSpPr/>
            <p:nvPr/>
          </p:nvSpPr>
          <p:spPr>
            <a:xfrm>
              <a:off x="2611377" y="3107765"/>
              <a:ext cx="214542" cy="206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橢圓 6">
              <a:extLst>
                <a:ext uri="{FF2B5EF4-FFF2-40B4-BE49-F238E27FC236}">
                  <a16:creationId xmlns:a16="http://schemas.microsoft.com/office/drawing/2014/main" id="{6BF777F4-A789-436B-A58B-DA3AE83108A5}"/>
                </a:ext>
              </a:extLst>
            </p:cNvPr>
            <p:cNvSpPr/>
            <p:nvPr/>
          </p:nvSpPr>
          <p:spPr>
            <a:xfrm>
              <a:off x="1351682" y="3107765"/>
              <a:ext cx="214542" cy="206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50BE8903-DD3F-9D55-7B24-70E24262DB3B}"/>
                </a:ext>
              </a:extLst>
            </p:cNvPr>
            <p:cNvSpPr/>
            <p:nvPr/>
          </p:nvSpPr>
          <p:spPr>
            <a:xfrm>
              <a:off x="1981530" y="3107765"/>
              <a:ext cx="214542" cy="206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3E31086B-4DA4-EC31-1619-31391C735A47}"/>
              </a:ext>
            </a:extLst>
          </p:cNvPr>
          <p:cNvGrpSpPr/>
          <p:nvPr/>
        </p:nvGrpSpPr>
        <p:grpSpPr>
          <a:xfrm>
            <a:off x="742769" y="2495304"/>
            <a:ext cx="2083582" cy="206964"/>
            <a:chOff x="721834" y="3107765"/>
            <a:chExt cx="2104085" cy="206964"/>
          </a:xfrm>
          <a:solidFill>
            <a:srgbClr val="7D7DFF"/>
          </a:solidFill>
        </p:grpSpPr>
        <p:sp>
          <p:nvSpPr>
            <p:cNvPr id="14" name="橢圓 13">
              <a:extLst>
                <a:ext uri="{FF2B5EF4-FFF2-40B4-BE49-F238E27FC236}">
                  <a16:creationId xmlns:a16="http://schemas.microsoft.com/office/drawing/2014/main" id="{A03A0D23-5F58-F365-0A5D-877AD2F1F047}"/>
                </a:ext>
              </a:extLst>
            </p:cNvPr>
            <p:cNvSpPr/>
            <p:nvPr/>
          </p:nvSpPr>
          <p:spPr>
            <a:xfrm>
              <a:off x="721834" y="3107765"/>
              <a:ext cx="214542" cy="206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橢圓 14">
              <a:extLst>
                <a:ext uri="{FF2B5EF4-FFF2-40B4-BE49-F238E27FC236}">
                  <a16:creationId xmlns:a16="http://schemas.microsoft.com/office/drawing/2014/main" id="{2D470F1C-A40A-CF23-3AC7-2589CD7367F2}"/>
                </a:ext>
              </a:extLst>
            </p:cNvPr>
            <p:cNvSpPr/>
            <p:nvPr/>
          </p:nvSpPr>
          <p:spPr>
            <a:xfrm>
              <a:off x="2611377" y="3107765"/>
              <a:ext cx="214542" cy="206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橢圓 16">
              <a:extLst>
                <a:ext uri="{FF2B5EF4-FFF2-40B4-BE49-F238E27FC236}">
                  <a16:creationId xmlns:a16="http://schemas.microsoft.com/office/drawing/2014/main" id="{00EC2D78-67C9-2316-9189-81AEBDBDDA70}"/>
                </a:ext>
              </a:extLst>
            </p:cNvPr>
            <p:cNvSpPr/>
            <p:nvPr/>
          </p:nvSpPr>
          <p:spPr>
            <a:xfrm>
              <a:off x="1351682" y="3107765"/>
              <a:ext cx="214542" cy="206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2" name="橢圓 21">
              <a:extLst>
                <a:ext uri="{FF2B5EF4-FFF2-40B4-BE49-F238E27FC236}">
                  <a16:creationId xmlns:a16="http://schemas.microsoft.com/office/drawing/2014/main" id="{6B7FC676-5AA5-DAEB-050E-3FF6A609991B}"/>
                </a:ext>
              </a:extLst>
            </p:cNvPr>
            <p:cNvSpPr/>
            <p:nvPr/>
          </p:nvSpPr>
          <p:spPr>
            <a:xfrm>
              <a:off x="1981530" y="3107765"/>
              <a:ext cx="214542" cy="206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F95B1AE1-9351-67FA-6B7B-14670874146A}"/>
              </a:ext>
            </a:extLst>
          </p:cNvPr>
          <p:cNvGrpSpPr/>
          <p:nvPr/>
        </p:nvGrpSpPr>
        <p:grpSpPr>
          <a:xfrm>
            <a:off x="713501" y="4271928"/>
            <a:ext cx="2083582" cy="206964"/>
            <a:chOff x="721834" y="3107765"/>
            <a:chExt cx="2104085" cy="206964"/>
          </a:xfrm>
          <a:solidFill>
            <a:srgbClr val="7D7DFF"/>
          </a:solidFill>
        </p:grpSpPr>
        <p:sp>
          <p:nvSpPr>
            <p:cNvPr id="29" name="橢圓 28">
              <a:extLst>
                <a:ext uri="{FF2B5EF4-FFF2-40B4-BE49-F238E27FC236}">
                  <a16:creationId xmlns:a16="http://schemas.microsoft.com/office/drawing/2014/main" id="{3AA70FF0-6BBC-EEFE-D23A-08622ADD56AE}"/>
                </a:ext>
              </a:extLst>
            </p:cNvPr>
            <p:cNvSpPr/>
            <p:nvPr/>
          </p:nvSpPr>
          <p:spPr>
            <a:xfrm>
              <a:off x="721834" y="3107765"/>
              <a:ext cx="214542" cy="206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0" name="橢圓 39">
              <a:extLst>
                <a:ext uri="{FF2B5EF4-FFF2-40B4-BE49-F238E27FC236}">
                  <a16:creationId xmlns:a16="http://schemas.microsoft.com/office/drawing/2014/main" id="{36BD1A51-5248-CEA4-DEE1-68365448D42E}"/>
                </a:ext>
              </a:extLst>
            </p:cNvPr>
            <p:cNvSpPr/>
            <p:nvPr/>
          </p:nvSpPr>
          <p:spPr>
            <a:xfrm>
              <a:off x="2611377" y="3107765"/>
              <a:ext cx="214542" cy="206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1" name="橢圓 40">
              <a:extLst>
                <a:ext uri="{FF2B5EF4-FFF2-40B4-BE49-F238E27FC236}">
                  <a16:creationId xmlns:a16="http://schemas.microsoft.com/office/drawing/2014/main" id="{38875333-6E80-F566-EA6D-371A87C3C3D8}"/>
                </a:ext>
              </a:extLst>
            </p:cNvPr>
            <p:cNvSpPr/>
            <p:nvPr/>
          </p:nvSpPr>
          <p:spPr>
            <a:xfrm>
              <a:off x="1351682" y="3107765"/>
              <a:ext cx="214542" cy="206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42" name="橢圓 41">
              <a:extLst>
                <a:ext uri="{FF2B5EF4-FFF2-40B4-BE49-F238E27FC236}">
                  <a16:creationId xmlns:a16="http://schemas.microsoft.com/office/drawing/2014/main" id="{C9B5D49E-0E33-8002-029B-AF3ADB64D428}"/>
                </a:ext>
              </a:extLst>
            </p:cNvPr>
            <p:cNvSpPr/>
            <p:nvPr/>
          </p:nvSpPr>
          <p:spPr>
            <a:xfrm>
              <a:off x="1981530" y="3107765"/>
              <a:ext cx="214542" cy="206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aphicFrame>
        <p:nvGraphicFramePr>
          <p:cNvPr id="124" name="表格 123">
            <a:extLst>
              <a:ext uri="{FF2B5EF4-FFF2-40B4-BE49-F238E27FC236}">
                <a16:creationId xmlns:a16="http://schemas.microsoft.com/office/drawing/2014/main" id="{65D7CF1E-A0B3-D294-B69A-10B6F193584D}"/>
              </a:ext>
            </a:extLst>
          </p:cNvPr>
          <p:cNvGraphicFramePr>
            <a:graphicFrameLocks noGrp="1"/>
          </p:cNvGraphicFramePr>
          <p:nvPr/>
        </p:nvGraphicFramePr>
        <p:xfrm>
          <a:off x="3949254" y="2130355"/>
          <a:ext cx="2847816" cy="272064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9272">
                  <a:extLst>
                    <a:ext uri="{9D8B030D-6E8A-4147-A177-3AD203B41FA5}">
                      <a16:colId xmlns:a16="http://schemas.microsoft.com/office/drawing/2014/main" val="606005365"/>
                    </a:ext>
                  </a:extLst>
                </a:gridCol>
                <a:gridCol w="949272">
                  <a:extLst>
                    <a:ext uri="{9D8B030D-6E8A-4147-A177-3AD203B41FA5}">
                      <a16:colId xmlns:a16="http://schemas.microsoft.com/office/drawing/2014/main" val="3281305359"/>
                    </a:ext>
                  </a:extLst>
                </a:gridCol>
                <a:gridCol w="949272">
                  <a:extLst>
                    <a:ext uri="{9D8B030D-6E8A-4147-A177-3AD203B41FA5}">
                      <a16:colId xmlns:a16="http://schemas.microsoft.com/office/drawing/2014/main" val="771941262"/>
                    </a:ext>
                  </a:extLst>
                </a:gridCol>
              </a:tblGrid>
              <a:tr h="90688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10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20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30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78973830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40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50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60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87379752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70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80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90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21660278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96178E2D-BE49-D20D-742C-80DDC128C482}"/>
              </a:ext>
            </a:extLst>
          </p:cNvPr>
          <p:cNvGraphicFramePr>
            <a:graphicFrameLocks noGrp="1"/>
          </p:cNvGraphicFramePr>
          <p:nvPr/>
        </p:nvGraphicFramePr>
        <p:xfrm>
          <a:off x="315589" y="2125629"/>
          <a:ext cx="2847816" cy="27206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1954">
                  <a:extLst>
                    <a:ext uri="{9D8B030D-6E8A-4147-A177-3AD203B41FA5}">
                      <a16:colId xmlns:a16="http://schemas.microsoft.com/office/drawing/2014/main" val="606005365"/>
                    </a:ext>
                  </a:extLst>
                </a:gridCol>
                <a:gridCol w="711954">
                  <a:extLst>
                    <a:ext uri="{9D8B030D-6E8A-4147-A177-3AD203B41FA5}">
                      <a16:colId xmlns:a16="http://schemas.microsoft.com/office/drawing/2014/main" val="3281305359"/>
                    </a:ext>
                  </a:extLst>
                </a:gridCol>
                <a:gridCol w="711954">
                  <a:extLst>
                    <a:ext uri="{9D8B030D-6E8A-4147-A177-3AD203B41FA5}">
                      <a16:colId xmlns:a16="http://schemas.microsoft.com/office/drawing/2014/main" val="771941262"/>
                    </a:ext>
                  </a:extLst>
                </a:gridCol>
                <a:gridCol w="711954">
                  <a:extLst>
                    <a:ext uri="{9D8B030D-6E8A-4147-A177-3AD203B41FA5}">
                      <a16:colId xmlns:a16="http://schemas.microsoft.com/office/drawing/2014/main" val="54997247"/>
                    </a:ext>
                  </a:extLst>
                </a:gridCol>
              </a:tblGrid>
              <a:tr h="68016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78973830"/>
                  </a:ext>
                </a:extLst>
              </a:tr>
              <a:tr h="68016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BD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87379752"/>
                  </a:ext>
                </a:extLst>
              </a:tr>
              <a:tr h="68016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21660278"/>
                  </a:ext>
                </a:extLst>
              </a:tr>
              <a:tr h="68016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21385109"/>
                  </a:ext>
                </a:extLst>
              </a:tr>
            </a:tbl>
          </a:graphicData>
        </a:graphic>
      </p:graphicFrame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15EEC1F-90C5-2E8D-6ABD-B8FBD9311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11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E9C5245-878A-46C3-234A-20C3F5924A69}"/>
              </a:ext>
            </a:extLst>
          </p:cNvPr>
          <p:cNvSpPr txBox="1"/>
          <p:nvPr/>
        </p:nvSpPr>
        <p:spPr>
          <a:xfrm>
            <a:off x="1" y="24148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Step3:</a:t>
            </a:r>
            <a:r>
              <a:rPr lang="zh-TW" altLang="en-US" dirty="0"/>
              <a:t>計算內插值</a:t>
            </a:r>
            <a:r>
              <a:rPr lang="en-US" altLang="zh-TW" dirty="0"/>
              <a:t>(1)</a:t>
            </a:r>
            <a:endParaRPr lang="zh-TW" altLang="en-US" dirty="0"/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02908663-18FD-4ABF-652C-22BCCB9A2539}"/>
              </a:ext>
            </a:extLst>
          </p:cNvPr>
          <p:cNvCxnSpPr>
            <a:cxnSpLocks/>
          </p:cNvCxnSpPr>
          <p:nvPr/>
        </p:nvCxnSpPr>
        <p:spPr>
          <a:xfrm>
            <a:off x="8482587" y="1711598"/>
            <a:ext cx="0" cy="36491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82490A40-D816-2768-4EF9-95EE87E54E3F}"/>
              </a:ext>
            </a:extLst>
          </p:cNvPr>
          <p:cNvCxnSpPr>
            <a:cxnSpLocks/>
          </p:cNvCxnSpPr>
          <p:nvPr/>
        </p:nvCxnSpPr>
        <p:spPr>
          <a:xfrm>
            <a:off x="11330402" y="1585498"/>
            <a:ext cx="0" cy="37752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E2C74D2F-2A24-7DAF-371E-881B1ECFA19B}"/>
              </a:ext>
            </a:extLst>
          </p:cNvPr>
          <p:cNvCxnSpPr>
            <a:cxnSpLocks/>
          </p:cNvCxnSpPr>
          <p:nvPr/>
        </p:nvCxnSpPr>
        <p:spPr>
          <a:xfrm>
            <a:off x="7767363" y="2128706"/>
            <a:ext cx="419175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3B7D188D-5880-57FE-C5AA-F174850624EE}"/>
              </a:ext>
            </a:extLst>
          </p:cNvPr>
          <p:cNvCxnSpPr>
            <a:cxnSpLocks/>
          </p:cNvCxnSpPr>
          <p:nvPr/>
        </p:nvCxnSpPr>
        <p:spPr>
          <a:xfrm>
            <a:off x="7767363" y="4827430"/>
            <a:ext cx="419175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7EC20389-D114-2F84-00D2-A40905692D87}"/>
              </a:ext>
            </a:extLst>
          </p:cNvPr>
          <p:cNvSpPr/>
          <p:nvPr/>
        </p:nvSpPr>
        <p:spPr>
          <a:xfrm>
            <a:off x="8102345" y="1915952"/>
            <a:ext cx="760484" cy="4255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10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0A0901C-9F14-16A6-5696-BF239C0177E4}"/>
              </a:ext>
            </a:extLst>
          </p:cNvPr>
          <p:cNvSpPr/>
          <p:nvPr/>
        </p:nvSpPr>
        <p:spPr>
          <a:xfrm>
            <a:off x="8102345" y="4639966"/>
            <a:ext cx="760484" cy="4255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40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0CD1353-8D49-4223-2685-D8DAA22BAA52}"/>
              </a:ext>
            </a:extLst>
          </p:cNvPr>
          <p:cNvSpPr/>
          <p:nvPr/>
        </p:nvSpPr>
        <p:spPr>
          <a:xfrm>
            <a:off x="10950160" y="1909831"/>
            <a:ext cx="760484" cy="4255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20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5B9A7EC-CAE7-FC67-E534-9C35129C310B}"/>
              </a:ext>
            </a:extLst>
          </p:cNvPr>
          <p:cNvSpPr/>
          <p:nvPr/>
        </p:nvSpPr>
        <p:spPr>
          <a:xfrm>
            <a:off x="10950160" y="4639966"/>
            <a:ext cx="760484" cy="4255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50</a:t>
            </a:r>
            <a:endParaRPr lang="zh-TW" altLang="en-US" dirty="0">
              <a:solidFill>
                <a:schemeClr val="tx1"/>
              </a:solidFill>
            </a:endParaRPr>
          </a:p>
        </p:txBody>
      </p: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1977B750-CD48-06DB-70DC-20DE3E584DDC}"/>
              </a:ext>
            </a:extLst>
          </p:cNvPr>
          <p:cNvGrpSpPr/>
          <p:nvPr/>
        </p:nvGrpSpPr>
        <p:grpSpPr>
          <a:xfrm>
            <a:off x="8482497" y="1531661"/>
            <a:ext cx="1897192" cy="107673"/>
            <a:chOff x="5866646" y="1457608"/>
            <a:chExt cx="977775" cy="380245"/>
          </a:xfrm>
        </p:grpSpPr>
        <p:cxnSp>
          <p:nvCxnSpPr>
            <p:cNvPr id="31" name="直線接點 30">
              <a:extLst>
                <a:ext uri="{FF2B5EF4-FFF2-40B4-BE49-F238E27FC236}">
                  <a16:creationId xmlns:a16="http://schemas.microsoft.com/office/drawing/2014/main" id="{001A6251-C299-BFE0-C507-F961A99F1DFB}"/>
                </a:ext>
              </a:extLst>
            </p:cNvPr>
            <p:cNvCxnSpPr/>
            <p:nvPr/>
          </p:nvCxnSpPr>
          <p:spPr>
            <a:xfrm>
              <a:off x="5866646" y="1457608"/>
              <a:ext cx="0" cy="38024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接點 31">
              <a:extLst>
                <a:ext uri="{FF2B5EF4-FFF2-40B4-BE49-F238E27FC236}">
                  <a16:creationId xmlns:a16="http://schemas.microsoft.com/office/drawing/2014/main" id="{FEFC4404-9A4D-2933-3983-07F6FD513D41}"/>
                </a:ext>
              </a:extLst>
            </p:cNvPr>
            <p:cNvCxnSpPr/>
            <p:nvPr/>
          </p:nvCxnSpPr>
          <p:spPr>
            <a:xfrm>
              <a:off x="6844421" y="1457608"/>
              <a:ext cx="0" cy="38024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接點 32">
              <a:extLst>
                <a:ext uri="{FF2B5EF4-FFF2-40B4-BE49-F238E27FC236}">
                  <a16:creationId xmlns:a16="http://schemas.microsoft.com/office/drawing/2014/main" id="{14748A1F-19BB-9102-481A-AAF043C7C800}"/>
                </a:ext>
              </a:extLst>
            </p:cNvPr>
            <p:cNvCxnSpPr/>
            <p:nvPr/>
          </p:nvCxnSpPr>
          <p:spPr>
            <a:xfrm>
              <a:off x="5866646" y="1629624"/>
              <a:ext cx="977775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7D3C59EA-B68E-52E3-7E9E-DBB0E630F1AB}"/>
              </a:ext>
            </a:extLst>
          </p:cNvPr>
          <p:cNvSpPr txBox="1"/>
          <p:nvPr/>
        </p:nvSpPr>
        <p:spPr>
          <a:xfrm>
            <a:off x="9056920" y="1182951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0.667</a:t>
            </a:r>
            <a:endParaRPr lang="zh-TW" altLang="en-US" dirty="0"/>
          </a:p>
        </p:txBody>
      </p:sp>
      <p:grpSp>
        <p:nvGrpSpPr>
          <p:cNvPr id="35" name="群組 34">
            <a:extLst>
              <a:ext uri="{FF2B5EF4-FFF2-40B4-BE49-F238E27FC236}">
                <a16:creationId xmlns:a16="http://schemas.microsoft.com/office/drawing/2014/main" id="{12A88234-DEE0-FFDE-DBC6-B7E64FF0850B}"/>
              </a:ext>
            </a:extLst>
          </p:cNvPr>
          <p:cNvGrpSpPr/>
          <p:nvPr/>
        </p:nvGrpSpPr>
        <p:grpSpPr>
          <a:xfrm rot="5400000">
            <a:off x="6728689" y="2966658"/>
            <a:ext cx="1806412" cy="118653"/>
            <a:chOff x="5866646" y="1457608"/>
            <a:chExt cx="977775" cy="380245"/>
          </a:xfrm>
        </p:grpSpPr>
        <p:cxnSp>
          <p:nvCxnSpPr>
            <p:cNvPr id="36" name="直線接點 35">
              <a:extLst>
                <a:ext uri="{FF2B5EF4-FFF2-40B4-BE49-F238E27FC236}">
                  <a16:creationId xmlns:a16="http://schemas.microsoft.com/office/drawing/2014/main" id="{EB933CCC-2F15-73B2-20EC-780C6C4F3B1C}"/>
                </a:ext>
              </a:extLst>
            </p:cNvPr>
            <p:cNvCxnSpPr/>
            <p:nvPr/>
          </p:nvCxnSpPr>
          <p:spPr>
            <a:xfrm>
              <a:off x="5866646" y="1457608"/>
              <a:ext cx="0" cy="38024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接點 36">
              <a:extLst>
                <a:ext uri="{FF2B5EF4-FFF2-40B4-BE49-F238E27FC236}">
                  <a16:creationId xmlns:a16="http://schemas.microsoft.com/office/drawing/2014/main" id="{5EBC7DCD-8F38-51D3-CF84-A31B967FC73E}"/>
                </a:ext>
              </a:extLst>
            </p:cNvPr>
            <p:cNvCxnSpPr/>
            <p:nvPr/>
          </p:nvCxnSpPr>
          <p:spPr>
            <a:xfrm>
              <a:off x="6844421" y="1457608"/>
              <a:ext cx="0" cy="38024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接點 37">
              <a:extLst>
                <a:ext uri="{FF2B5EF4-FFF2-40B4-BE49-F238E27FC236}">
                  <a16:creationId xmlns:a16="http://schemas.microsoft.com/office/drawing/2014/main" id="{70D6F3C3-17A0-22DB-9E7B-5D7F8F8DE577}"/>
                </a:ext>
              </a:extLst>
            </p:cNvPr>
            <p:cNvCxnSpPr/>
            <p:nvPr/>
          </p:nvCxnSpPr>
          <p:spPr>
            <a:xfrm>
              <a:off x="5866646" y="1629624"/>
              <a:ext cx="977775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CDBDC2D1-49D8-EE42-8BE3-D346303B7403}"/>
              </a:ext>
            </a:extLst>
          </p:cNvPr>
          <p:cNvSpPr txBox="1"/>
          <p:nvPr/>
        </p:nvSpPr>
        <p:spPr>
          <a:xfrm>
            <a:off x="7683652" y="2898362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0.667</a:t>
            </a:r>
            <a:endParaRPr lang="zh-TW" altLang="en-US" dirty="0"/>
          </a:p>
        </p:txBody>
      </p:sp>
      <p:cxnSp>
        <p:nvCxnSpPr>
          <p:cNvPr id="68" name="直線接點 67">
            <a:extLst>
              <a:ext uri="{FF2B5EF4-FFF2-40B4-BE49-F238E27FC236}">
                <a16:creationId xmlns:a16="http://schemas.microsoft.com/office/drawing/2014/main" id="{C7DDF609-402A-68DF-E07D-0C25B781E81F}"/>
              </a:ext>
            </a:extLst>
          </p:cNvPr>
          <p:cNvCxnSpPr>
            <a:cxnSpLocks/>
          </p:cNvCxnSpPr>
          <p:nvPr/>
        </p:nvCxnSpPr>
        <p:spPr>
          <a:xfrm>
            <a:off x="8482587" y="3958418"/>
            <a:ext cx="2847806" cy="1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直線接點 68">
            <a:extLst>
              <a:ext uri="{FF2B5EF4-FFF2-40B4-BE49-F238E27FC236}">
                <a16:creationId xmlns:a16="http://schemas.microsoft.com/office/drawing/2014/main" id="{79BD6F99-A713-88E6-7214-B11FE3E11175}"/>
              </a:ext>
            </a:extLst>
          </p:cNvPr>
          <p:cNvCxnSpPr>
            <a:cxnSpLocks/>
          </p:cNvCxnSpPr>
          <p:nvPr/>
        </p:nvCxnSpPr>
        <p:spPr>
          <a:xfrm>
            <a:off x="10381797" y="2142833"/>
            <a:ext cx="0" cy="2660624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橢圓 69">
            <a:extLst>
              <a:ext uri="{FF2B5EF4-FFF2-40B4-BE49-F238E27FC236}">
                <a16:creationId xmlns:a16="http://schemas.microsoft.com/office/drawing/2014/main" id="{93F2B105-91B7-C3A1-7C23-C65385E265D3}"/>
              </a:ext>
            </a:extLst>
          </p:cNvPr>
          <p:cNvSpPr/>
          <p:nvPr/>
        </p:nvSpPr>
        <p:spPr>
          <a:xfrm>
            <a:off x="10239212" y="3815828"/>
            <a:ext cx="285180" cy="285180"/>
          </a:xfrm>
          <a:prstGeom prst="ellipse">
            <a:avLst/>
          </a:prstGeom>
          <a:solidFill>
            <a:srgbClr val="7D7D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88" name="表格 87">
            <a:extLst>
              <a:ext uri="{FF2B5EF4-FFF2-40B4-BE49-F238E27FC236}">
                <a16:creationId xmlns:a16="http://schemas.microsoft.com/office/drawing/2014/main" id="{12968CC8-465B-FA4F-C3A3-21D8C01DDFAE}"/>
              </a:ext>
            </a:extLst>
          </p:cNvPr>
          <p:cNvGraphicFramePr>
            <a:graphicFrameLocks noGrp="1"/>
          </p:cNvGraphicFramePr>
          <p:nvPr/>
        </p:nvGraphicFramePr>
        <p:xfrm>
          <a:off x="328137" y="2136994"/>
          <a:ext cx="2838926" cy="272064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9272">
                  <a:extLst>
                    <a:ext uri="{9D8B030D-6E8A-4147-A177-3AD203B41FA5}">
                      <a16:colId xmlns:a16="http://schemas.microsoft.com/office/drawing/2014/main" val="606005365"/>
                    </a:ext>
                  </a:extLst>
                </a:gridCol>
                <a:gridCol w="949272">
                  <a:extLst>
                    <a:ext uri="{9D8B030D-6E8A-4147-A177-3AD203B41FA5}">
                      <a16:colId xmlns:a16="http://schemas.microsoft.com/office/drawing/2014/main" val="3281305359"/>
                    </a:ext>
                  </a:extLst>
                </a:gridCol>
                <a:gridCol w="940382">
                  <a:extLst>
                    <a:ext uri="{9D8B030D-6E8A-4147-A177-3AD203B41FA5}">
                      <a16:colId xmlns:a16="http://schemas.microsoft.com/office/drawing/2014/main" val="771941262"/>
                    </a:ext>
                  </a:extLst>
                </a:gridCol>
              </a:tblGrid>
              <a:tr h="90688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10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20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30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78973830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40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50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60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87379752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70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80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90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21660278"/>
                  </a:ext>
                </a:extLst>
              </a:tr>
            </a:tbl>
          </a:graphicData>
        </a:graphic>
      </p:graphicFrame>
      <p:sp>
        <p:nvSpPr>
          <p:cNvPr id="91" name="箭號: 向右 90">
            <a:extLst>
              <a:ext uri="{FF2B5EF4-FFF2-40B4-BE49-F238E27FC236}">
                <a16:creationId xmlns:a16="http://schemas.microsoft.com/office/drawing/2014/main" id="{64745005-C320-058A-9712-C6A675696B64}"/>
              </a:ext>
            </a:extLst>
          </p:cNvPr>
          <p:cNvSpPr/>
          <p:nvPr/>
        </p:nvSpPr>
        <p:spPr>
          <a:xfrm>
            <a:off x="3476433" y="3211247"/>
            <a:ext cx="549621" cy="499183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2" name="箭號: 向右 91">
            <a:extLst>
              <a:ext uri="{FF2B5EF4-FFF2-40B4-BE49-F238E27FC236}">
                <a16:creationId xmlns:a16="http://schemas.microsoft.com/office/drawing/2014/main" id="{B2F8D87D-F577-09C2-BE92-7C737E0D4FCD}"/>
              </a:ext>
            </a:extLst>
          </p:cNvPr>
          <p:cNvSpPr/>
          <p:nvPr/>
        </p:nvSpPr>
        <p:spPr>
          <a:xfrm>
            <a:off x="6880749" y="3253859"/>
            <a:ext cx="549621" cy="499183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1" name="文字方塊 110">
            <a:extLst>
              <a:ext uri="{FF2B5EF4-FFF2-40B4-BE49-F238E27FC236}">
                <a16:creationId xmlns:a16="http://schemas.microsoft.com/office/drawing/2014/main" id="{3EA7B765-2C0C-26F5-29A2-B548C9AC23DB}"/>
              </a:ext>
            </a:extLst>
          </p:cNvPr>
          <p:cNvSpPr txBox="1"/>
          <p:nvPr/>
        </p:nvSpPr>
        <p:spPr>
          <a:xfrm>
            <a:off x="578227" y="5507773"/>
            <a:ext cx="1016060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800" dirty="0"/>
              <a:t>F(1,1) = (1−0.6667)×[(1−0.6667)×</a:t>
            </a:r>
            <a:r>
              <a:rPr lang="en-US" altLang="zh-TW" sz="2800" dirty="0">
                <a:solidFill>
                  <a:srgbClr val="FF0000"/>
                </a:solidFill>
              </a:rPr>
              <a:t>10</a:t>
            </a:r>
            <a:r>
              <a:rPr lang="en-US" altLang="zh-TW" sz="2800" dirty="0"/>
              <a:t>+0.6667×</a:t>
            </a:r>
            <a:r>
              <a:rPr lang="en-US" altLang="zh-TW" sz="2800" dirty="0">
                <a:solidFill>
                  <a:srgbClr val="FF0000"/>
                </a:solidFill>
              </a:rPr>
              <a:t>40</a:t>
            </a:r>
            <a:r>
              <a:rPr lang="en-US" altLang="zh-TW" sz="2800" dirty="0"/>
              <a:t>]+</a:t>
            </a:r>
          </a:p>
          <a:p>
            <a:r>
              <a:rPr lang="en-US" altLang="zh-TW" sz="2800" dirty="0"/>
              <a:t>                         0.6667×[(1−0.6667)×</a:t>
            </a:r>
            <a:r>
              <a:rPr lang="en-US" altLang="zh-TW" sz="2800" dirty="0">
                <a:solidFill>
                  <a:srgbClr val="FF0000"/>
                </a:solidFill>
              </a:rPr>
              <a:t>20</a:t>
            </a:r>
            <a:r>
              <a:rPr lang="en-US" altLang="zh-TW" sz="2800" dirty="0"/>
              <a:t>+0.6667×</a:t>
            </a:r>
            <a:r>
              <a:rPr lang="en-US" altLang="zh-TW" sz="2800" dirty="0">
                <a:solidFill>
                  <a:srgbClr val="FF0000"/>
                </a:solidFill>
              </a:rPr>
              <a:t>50</a:t>
            </a:r>
            <a:r>
              <a:rPr lang="en-US" altLang="zh-TW" sz="2800" dirty="0"/>
              <a:t>]    =36.6672</a:t>
            </a:r>
            <a:endParaRPr lang="zh-TW" altLang="en-US" sz="2800" dirty="0"/>
          </a:p>
        </p:txBody>
      </p:sp>
      <p:sp>
        <p:nvSpPr>
          <p:cNvPr id="112" name="橢圓 111">
            <a:extLst>
              <a:ext uri="{FF2B5EF4-FFF2-40B4-BE49-F238E27FC236}">
                <a16:creationId xmlns:a16="http://schemas.microsoft.com/office/drawing/2014/main" id="{7AA88566-3674-5463-718B-0941ECED1B0D}"/>
              </a:ext>
            </a:extLst>
          </p:cNvPr>
          <p:cNvSpPr/>
          <p:nvPr/>
        </p:nvSpPr>
        <p:spPr>
          <a:xfrm>
            <a:off x="4951792" y="3069080"/>
            <a:ext cx="214542" cy="206964"/>
          </a:xfrm>
          <a:prstGeom prst="ellipse">
            <a:avLst/>
          </a:prstGeom>
          <a:solidFill>
            <a:srgbClr val="7D7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14" name="表格 113">
            <a:extLst>
              <a:ext uri="{FF2B5EF4-FFF2-40B4-BE49-F238E27FC236}">
                <a16:creationId xmlns:a16="http://schemas.microsoft.com/office/drawing/2014/main" id="{A3A7B793-5FE2-C1ED-480D-EBDC3276BBFF}"/>
              </a:ext>
            </a:extLst>
          </p:cNvPr>
          <p:cNvGraphicFramePr>
            <a:graphicFrameLocks noGrp="1"/>
          </p:cNvGraphicFramePr>
          <p:nvPr/>
        </p:nvGraphicFramePr>
        <p:xfrm>
          <a:off x="4432564" y="2588658"/>
          <a:ext cx="1889350" cy="18040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4675">
                  <a:extLst>
                    <a:ext uri="{9D8B030D-6E8A-4147-A177-3AD203B41FA5}">
                      <a16:colId xmlns:a16="http://schemas.microsoft.com/office/drawing/2014/main" val="2442820666"/>
                    </a:ext>
                  </a:extLst>
                </a:gridCol>
                <a:gridCol w="944675">
                  <a:extLst>
                    <a:ext uri="{9D8B030D-6E8A-4147-A177-3AD203B41FA5}">
                      <a16:colId xmlns:a16="http://schemas.microsoft.com/office/drawing/2014/main" val="574185934"/>
                    </a:ext>
                  </a:extLst>
                </a:gridCol>
              </a:tblGrid>
              <a:tr h="902021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7619669"/>
                  </a:ext>
                </a:extLst>
              </a:tr>
              <a:tr h="902021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9049794"/>
                  </a:ext>
                </a:extLst>
              </a:tr>
            </a:tbl>
          </a:graphicData>
        </a:graphic>
      </p:graphicFrame>
      <p:sp>
        <p:nvSpPr>
          <p:cNvPr id="115" name="橢圓 114">
            <a:extLst>
              <a:ext uri="{FF2B5EF4-FFF2-40B4-BE49-F238E27FC236}">
                <a16:creationId xmlns:a16="http://schemas.microsoft.com/office/drawing/2014/main" id="{C68CDAEA-5C75-4BF7-0811-A127504628A5}"/>
              </a:ext>
            </a:extLst>
          </p:cNvPr>
          <p:cNvSpPr/>
          <p:nvPr/>
        </p:nvSpPr>
        <p:spPr>
          <a:xfrm>
            <a:off x="4345603" y="2495304"/>
            <a:ext cx="214542" cy="206964"/>
          </a:xfrm>
          <a:prstGeom prst="ellipse">
            <a:avLst/>
          </a:prstGeom>
          <a:solidFill>
            <a:srgbClr val="A6A6A6">
              <a:alpha val="6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6" name="橢圓 115">
            <a:extLst>
              <a:ext uri="{FF2B5EF4-FFF2-40B4-BE49-F238E27FC236}">
                <a16:creationId xmlns:a16="http://schemas.microsoft.com/office/drawing/2014/main" id="{723174C1-B78F-067F-419B-65BA40C4DF7D}"/>
              </a:ext>
            </a:extLst>
          </p:cNvPr>
          <p:cNvSpPr/>
          <p:nvPr/>
        </p:nvSpPr>
        <p:spPr>
          <a:xfrm>
            <a:off x="5265891" y="2495304"/>
            <a:ext cx="214542" cy="206964"/>
          </a:xfrm>
          <a:prstGeom prst="ellipse">
            <a:avLst/>
          </a:prstGeom>
          <a:solidFill>
            <a:srgbClr val="A6A6A6">
              <a:alpha val="6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7" name="橢圓 116">
            <a:extLst>
              <a:ext uri="{FF2B5EF4-FFF2-40B4-BE49-F238E27FC236}">
                <a16:creationId xmlns:a16="http://schemas.microsoft.com/office/drawing/2014/main" id="{5BF3D308-5487-CC7D-7B1D-F6C9572A258E}"/>
              </a:ext>
            </a:extLst>
          </p:cNvPr>
          <p:cNvSpPr/>
          <p:nvPr/>
        </p:nvSpPr>
        <p:spPr>
          <a:xfrm>
            <a:off x="6214643" y="2495304"/>
            <a:ext cx="214542" cy="206964"/>
          </a:xfrm>
          <a:prstGeom prst="ellipse">
            <a:avLst/>
          </a:prstGeom>
          <a:solidFill>
            <a:srgbClr val="A6A6A6">
              <a:alpha val="6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8" name="橢圓 117">
            <a:extLst>
              <a:ext uri="{FF2B5EF4-FFF2-40B4-BE49-F238E27FC236}">
                <a16:creationId xmlns:a16="http://schemas.microsoft.com/office/drawing/2014/main" id="{0132E194-F316-0955-0E1C-141F7D9EF7C4}"/>
              </a:ext>
            </a:extLst>
          </p:cNvPr>
          <p:cNvSpPr/>
          <p:nvPr/>
        </p:nvSpPr>
        <p:spPr>
          <a:xfrm>
            <a:off x="4345603" y="3385892"/>
            <a:ext cx="214542" cy="206964"/>
          </a:xfrm>
          <a:prstGeom prst="ellipse">
            <a:avLst/>
          </a:prstGeom>
          <a:solidFill>
            <a:srgbClr val="A6A6A6">
              <a:alpha val="6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9" name="橢圓 118">
            <a:extLst>
              <a:ext uri="{FF2B5EF4-FFF2-40B4-BE49-F238E27FC236}">
                <a16:creationId xmlns:a16="http://schemas.microsoft.com/office/drawing/2014/main" id="{A92188EE-08B5-B308-109D-5E03138DE9B1}"/>
              </a:ext>
            </a:extLst>
          </p:cNvPr>
          <p:cNvSpPr/>
          <p:nvPr/>
        </p:nvSpPr>
        <p:spPr>
          <a:xfrm>
            <a:off x="5265891" y="3385892"/>
            <a:ext cx="214542" cy="206964"/>
          </a:xfrm>
          <a:prstGeom prst="ellipse">
            <a:avLst/>
          </a:prstGeom>
          <a:solidFill>
            <a:srgbClr val="A6A6A6">
              <a:alpha val="6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0" name="橢圓 119">
            <a:extLst>
              <a:ext uri="{FF2B5EF4-FFF2-40B4-BE49-F238E27FC236}">
                <a16:creationId xmlns:a16="http://schemas.microsoft.com/office/drawing/2014/main" id="{512EE4BD-5DC7-D89E-8D3A-39ED69283BC0}"/>
              </a:ext>
            </a:extLst>
          </p:cNvPr>
          <p:cNvSpPr/>
          <p:nvPr/>
        </p:nvSpPr>
        <p:spPr>
          <a:xfrm>
            <a:off x="6214643" y="3385892"/>
            <a:ext cx="214542" cy="206964"/>
          </a:xfrm>
          <a:prstGeom prst="ellipse">
            <a:avLst/>
          </a:prstGeom>
          <a:solidFill>
            <a:srgbClr val="A6A6A6">
              <a:alpha val="6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1" name="橢圓 120">
            <a:extLst>
              <a:ext uri="{FF2B5EF4-FFF2-40B4-BE49-F238E27FC236}">
                <a16:creationId xmlns:a16="http://schemas.microsoft.com/office/drawing/2014/main" id="{1F2404C8-6E58-6F9D-0796-9858AAD65A65}"/>
              </a:ext>
            </a:extLst>
          </p:cNvPr>
          <p:cNvSpPr/>
          <p:nvPr/>
        </p:nvSpPr>
        <p:spPr>
          <a:xfrm>
            <a:off x="4319679" y="4276480"/>
            <a:ext cx="214542" cy="206964"/>
          </a:xfrm>
          <a:prstGeom prst="ellipse">
            <a:avLst/>
          </a:prstGeom>
          <a:solidFill>
            <a:srgbClr val="A6A6A6">
              <a:alpha val="6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2" name="橢圓 121">
            <a:extLst>
              <a:ext uri="{FF2B5EF4-FFF2-40B4-BE49-F238E27FC236}">
                <a16:creationId xmlns:a16="http://schemas.microsoft.com/office/drawing/2014/main" id="{D87363C9-505B-D183-3730-8D04A74D3A1F}"/>
              </a:ext>
            </a:extLst>
          </p:cNvPr>
          <p:cNvSpPr/>
          <p:nvPr/>
        </p:nvSpPr>
        <p:spPr>
          <a:xfrm>
            <a:off x="5239967" y="4276480"/>
            <a:ext cx="214542" cy="206964"/>
          </a:xfrm>
          <a:prstGeom prst="ellipse">
            <a:avLst/>
          </a:prstGeom>
          <a:solidFill>
            <a:srgbClr val="A6A6A6">
              <a:alpha val="6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3" name="橢圓 122">
            <a:extLst>
              <a:ext uri="{FF2B5EF4-FFF2-40B4-BE49-F238E27FC236}">
                <a16:creationId xmlns:a16="http://schemas.microsoft.com/office/drawing/2014/main" id="{C880B522-FEB8-AB88-24D0-0C5956D51CDC}"/>
              </a:ext>
            </a:extLst>
          </p:cNvPr>
          <p:cNvSpPr/>
          <p:nvPr/>
        </p:nvSpPr>
        <p:spPr>
          <a:xfrm>
            <a:off x="6188719" y="4276480"/>
            <a:ext cx="214542" cy="206964"/>
          </a:xfrm>
          <a:prstGeom prst="ellipse">
            <a:avLst/>
          </a:prstGeom>
          <a:solidFill>
            <a:srgbClr val="A6A6A6">
              <a:alpha val="6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6" name="直線接點 95">
            <a:extLst>
              <a:ext uri="{FF2B5EF4-FFF2-40B4-BE49-F238E27FC236}">
                <a16:creationId xmlns:a16="http://schemas.microsoft.com/office/drawing/2014/main" id="{7EE6B607-2175-3993-EE5E-996CF823DF09}"/>
              </a:ext>
            </a:extLst>
          </p:cNvPr>
          <p:cNvCxnSpPr/>
          <p:nvPr/>
        </p:nvCxnSpPr>
        <p:spPr>
          <a:xfrm>
            <a:off x="4420469" y="3179923"/>
            <a:ext cx="954319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直線接點 106">
            <a:extLst>
              <a:ext uri="{FF2B5EF4-FFF2-40B4-BE49-F238E27FC236}">
                <a16:creationId xmlns:a16="http://schemas.microsoft.com/office/drawing/2014/main" id="{AF2E2C05-1EDF-F060-609C-9C600B46949F}"/>
              </a:ext>
            </a:extLst>
          </p:cNvPr>
          <p:cNvCxnSpPr>
            <a:cxnSpLocks/>
          </p:cNvCxnSpPr>
          <p:nvPr/>
        </p:nvCxnSpPr>
        <p:spPr>
          <a:xfrm>
            <a:off x="5059063" y="2592571"/>
            <a:ext cx="0" cy="927298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7" name="群組 186">
            <a:extLst>
              <a:ext uri="{FF2B5EF4-FFF2-40B4-BE49-F238E27FC236}">
                <a16:creationId xmlns:a16="http://schemas.microsoft.com/office/drawing/2014/main" id="{DDE5DCCF-8B82-5951-3426-44CC798DCF09}"/>
              </a:ext>
            </a:extLst>
          </p:cNvPr>
          <p:cNvGrpSpPr/>
          <p:nvPr/>
        </p:nvGrpSpPr>
        <p:grpSpPr>
          <a:xfrm>
            <a:off x="712600" y="2492618"/>
            <a:ext cx="2109506" cy="1988140"/>
            <a:chOff x="4472079" y="2647704"/>
            <a:chExt cx="2109506" cy="1988140"/>
          </a:xfrm>
        </p:grpSpPr>
        <p:sp>
          <p:nvSpPr>
            <p:cNvPr id="178" name="橢圓 177">
              <a:extLst>
                <a:ext uri="{FF2B5EF4-FFF2-40B4-BE49-F238E27FC236}">
                  <a16:creationId xmlns:a16="http://schemas.microsoft.com/office/drawing/2014/main" id="{BDBE5E98-D5FD-84F2-BED2-1B6949514489}"/>
                </a:ext>
              </a:extLst>
            </p:cNvPr>
            <p:cNvSpPr/>
            <p:nvPr/>
          </p:nvSpPr>
          <p:spPr>
            <a:xfrm>
              <a:off x="4498003" y="2647704"/>
              <a:ext cx="214542" cy="206964"/>
            </a:xfrm>
            <a:prstGeom prst="ellipse">
              <a:avLst/>
            </a:prstGeom>
            <a:solidFill>
              <a:srgbClr val="A6A6A6">
                <a:alpha val="6902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9" name="橢圓 178">
              <a:extLst>
                <a:ext uri="{FF2B5EF4-FFF2-40B4-BE49-F238E27FC236}">
                  <a16:creationId xmlns:a16="http://schemas.microsoft.com/office/drawing/2014/main" id="{BD0135CA-C4FD-AFC4-187A-3F03A814998F}"/>
                </a:ext>
              </a:extLst>
            </p:cNvPr>
            <p:cNvSpPr/>
            <p:nvPr/>
          </p:nvSpPr>
          <p:spPr>
            <a:xfrm>
              <a:off x="5418291" y="2647704"/>
              <a:ext cx="214542" cy="206964"/>
            </a:xfrm>
            <a:prstGeom prst="ellipse">
              <a:avLst/>
            </a:prstGeom>
            <a:solidFill>
              <a:srgbClr val="A6A6A6">
                <a:alpha val="6902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0" name="橢圓 179">
              <a:extLst>
                <a:ext uri="{FF2B5EF4-FFF2-40B4-BE49-F238E27FC236}">
                  <a16:creationId xmlns:a16="http://schemas.microsoft.com/office/drawing/2014/main" id="{C4BA33C2-D2B2-5E29-8C6D-C2E2E5E8522A}"/>
                </a:ext>
              </a:extLst>
            </p:cNvPr>
            <p:cNvSpPr/>
            <p:nvPr/>
          </p:nvSpPr>
          <p:spPr>
            <a:xfrm>
              <a:off x="6367043" y="2647704"/>
              <a:ext cx="214542" cy="206964"/>
            </a:xfrm>
            <a:prstGeom prst="ellipse">
              <a:avLst/>
            </a:prstGeom>
            <a:solidFill>
              <a:srgbClr val="A6A6A6">
                <a:alpha val="6902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1" name="橢圓 180">
              <a:extLst>
                <a:ext uri="{FF2B5EF4-FFF2-40B4-BE49-F238E27FC236}">
                  <a16:creationId xmlns:a16="http://schemas.microsoft.com/office/drawing/2014/main" id="{30311E53-54A9-1C4C-9FE0-57BB8E3FD4A6}"/>
                </a:ext>
              </a:extLst>
            </p:cNvPr>
            <p:cNvSpPr/>
            <p:nvPr/>
          </p:nvSpPr>
          <p:spPr>
            <a:xfrm>
              <a:off x="4498003" y="3538292"/>
              <a:ext cx="214542" cy="206964"/>
            </a:xfrm>
            <a:prstGeom prst="ellipse">
              <a:avLst/>
            </a:prstGeom>
            <a:solidFill>
              <a:srgbClr val="A6A6A6">
                <a:alpha val="6902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2" name="橢圓 181">
              <a:extLst>
                <a:ext uri="{FF2B5EF4-FFF2-40B4-BE49-F238E27FC236}">
                  <a16:creationId xmlns:a16="http://schemas.microsoft.com/office/drawing/2014/main" id="{429D5471-DADC-5BE1-2524-FF246EE51302}"/>
                </a:ext>
              </a:extLst>
            </p:cNvPr>
            <p:cNvSpPr/>
            <p:nvPr/>
          </p:nvSpPr>
          <p:spPr>
            <a:xfrm>
              <a:off x="5418291" y="3538292"/>
              <a:ext cx="214542" cy="206964"/>
            </a:xfrm>
            <a:prstGeom prst="ellipse">
              <a:avLst/>
            </a:prstGeom>
            <a:solidFill>
              <a:srgbClr val="A6A6A6">
                <a:alpha val="6902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3" name="橢圓 182">
              <a:extLst>
                <a:ext uri="{FF2B5EF4-FFF2-40B4-BE49-F238E27FC236}">
                  <a16:creationId xmlns:a16="http://schemas.microsoft.com/office/drawing/2014/main" id="{A3C82960-57EB-4FE6-D8A1-A8EA50E88F00}"/>
                </a:ext>
              </a:extLst>
            </p:cNvPr>
            <p:cNvSpPr/>
            <p:nvPr/>
          </p:nvSpPr>
          <p:spPr>
            <a:xfrm>
              <a:off x="6367043" y="3538292"/>
              <a:ext cx="214542" cy="206964"/>
            </a:xfrm>
            <a:prstGeom prst="ellipse">
              <a:avLst/>
            </a:prstGeom>
            <a:solidFill>
              <a:srgbClr val="A6A6A6">
                <a:alpha val="6902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4" name="橢圓 183">
              <a:extLst>
                <a:ext uri="{FF2B5EF4-FFF2-40B4-BE49-F238E27FC236}">
                  <a16:creationId xmlns:a16="http://schemas.microsoft.com/office/drawing/2014/main" id="{C638C8F3-F068-57E7-353A-273FF23188D9}"/>
                </a:ext>
              </a:extLst>
            </p:cNvPr>
            <p:cNvSpPr/>
            <p:nvPr/>
          </p:nvSpPr>
          <p:spPr>
            <a:xfrm>
              <a:off x="4472079" y="4428880"/>
              <a:ext cx="214542" cy="206964"/>
            </a:xfrm>
            <a:prstGeom prst="ellipse">
              <a:avLst/>
            </a:prstGeom>
            <a:solidFill>
              <a:srgbClr val="A6A6A6">
                <a:alpha val="6902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5" name="橢圓 184">
              <a:extLst>
                <a:ext uri="{FF2B5EF4-FFF2-40B4-BE49-F238E27FC236}">
                  <a16:creationId xmlns:a16="http://schemas.microsoft.com/office/drawing/2014/main" id="{3857B950-3E7B-8336-BA89-5CE0D31F5E50}"/>
                </a:ext>
              </a:extLst>
            </p:cNvPr>
            <p:cNvSpPr/>
            <p:nvPr/>
          </p:nvSpPr>
          <p:spPr>
            <a:xfrm>
              <a:off x="5392367" y="4428880"/>
              <a:ext cx="214542" cy="206964"/>
            </a:xfrm>
            <a:prstGeom prst="ellipse">
              <a:avLst/>
            </a:prstGeom>
            <a:solidFill>
              <a:srgbClr val="A6A6A6">
                <a:alpha val="6902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6" name="橢圓 185">
              <a:extLst>
                <a:ext uri="{FF2B5EF4-FFF2-40B4-BE49-F238E27FC236}">
                  <a16:creationId xmlns:a16="http://schemas.microsoft.com/office/drawing/2014/main" id="{1115CD90-BF40-607A-A399-C7066AD0752A}"/>
                </a:ext>
              </a:extLst>
            </p:cNvPr>
            <p:cNvSpPr/>
            <p:nvPr/>
          </p:nvSpPr>
          <p:spPr>
            <a:xfrm>
              <a:off x="6341119" y="4428880"/>
              <a:ext cx="214542" cy="206964"/>
            </a:xfrm>
            <a:prstGeom prst="ellipse">
              <a:avLst/>
            </a:prstGeom>
            <a:solidFill>
              <a:srgbClr val="A6A6A6">
                <a:alpha val="6902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94" name="群組 193">
            <a:extLst>
              <a:ext uri="{FF2B5EF4-FFF2-40B4-BE49-F238E27FC236}">
                <a16:creationId xmlns:a16="http://schemas.microsoft.com/office/drawing/2014/main" id="{85FB3D95-6509-2A0D-25E5-CDC96DFACA86}"/>
              </a:ext>
            </a:extLst>
          </p:cNvPr>
          <p:cNvGrpSpPr/>
          <p:nvPr/>
        </p:nvGrpSpPr>
        <p:grpSpPr>
          <a:xfrm>
            <a:off x="822154" y="1822118"/>
            <a:ext cx="613241" cy="317285"/>
            <a:chOff x="5866646" y="1457608"/>
            <a:chExt cx="977775" cy="380245"/>
          </a:xfrm>
        </p:grpSpPr>
        <p:cxnSp>
          <p:nvCxnSpPr>
            <p:cNvPr id="195" name="直線接點 194">
              <a:extLst>
                <a:ext uri="{FF2B5EF4-FFF2-40B4-BE49-F238E27FC236}">
                  <a16:creationId xmlns:a16="http://schemas.microsoft.com/office/drawing/2014/main" id="{57493713-73CB-1A7E-7837-29024C8E2CE0}"/>
                </a:ext>
              </a:extLst>
            </p:cNvPr>
            <p:cNvCxnSpPr/>
            <p:nvPr/>
          </p:nvCxnSpPr>
          <p:spPr>
            <a:xfrm>
              <a:off x="5866646" y="1457608"/>
              <a:ext cx="0" cy="38024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直線接點 195">
              <a:extLst>
                <a:ext uri="{FF2B5EF4-FFF2-40B4-BE49-F238E27FC236}">
                  <a16:creationId xmlns:a16="http://schemas.microsoft.com/office/drawing/2014/main" id="{6E8CD62F-DB89-5A2A-E936-23FD70879F8B}"/>
                </a:ext>
              </a:extLst>
            </p:cNvPr>
            <p:cNvCxnSpPr/>
            <p:nvPr/>
          </p:nvCxnSpPr>
          <p:spPr>
            <a:xfrm>
              <a:off x="6844421" y="1457608"/>
              <a:ext cx="0" cy="38024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直線接點 196">
              <a:extLst>
                <a:ext uri="{FF2B5EF4-FFF2-40B4-BE49-F238E27FC236}">
                  <a16:creationId xmlns:a16="http://schemas.microsoft.com/office/drawing/2014/main" id="{09AAA74C-D580-E0A3-B762-7D5D1C95231D}"/>
                </a:ext>
              </a:extLst>
            </p:cNvPr>
            <p:cNvCxnSpPr/>
            <p:nvPr/>
          </p:nvCxnSpPr>
          <p:spPr>
            <a:xfrm>
              <a:off x="5866646" y="1629624"/>
              <a:ext cx="977775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8" name="文字方塊 197">
            <a:extLst>
              <a:ext uri="{FF2B5EF4-FFF2-40B4-BE49-F238E27FC236}">
                <a16:creationId xmlns:a16="http://schemas.microsoft.com/office/drawing/2014/main" id="{75332667-A35D-C266-3952-EBFA63AC3DA0}"/>
              </a:ext>
            </a:extLst>
          </p:cNvPr>
          <p:cNvSpPr txBox="1"/>
          <p:nvPr/>
        </p:nvSpPr>
        <p:spPr>
          <a:xfrm>
            <a:off x="827977" y="1673561"/>
            <a:ext cx="6206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>
                <a:solidFill>
                  <a:srgbClr val="FF0000"/>
                </a:solidFill>
              </a:rPr>
              <a:t>0.667</a:t>
            </a:r>
            <a:endParaRPr lang="zh-TW" altLang="en-US" sz="1400" dirty="0">
              <a:solidFill>
                <a:srgbClr val="FF0000"/>
              </a:solidFill>
            </a:endParaRPr>
          </a:p>
        </p:txBody>
      </p:sp>
      <p:sp>
        <p:nvSpPr>
          <p:cNvPr id="204" name="文字方塊 203">
            <a:extLst>
              <a:ext uri="{FF2B5EF4-FFF2-40B4-BE49-F238E27FC236}">
                <a16:creationId xmlns:a16="http://schemas.microsoft.com/office/drawing/2014/main" id="{1621646C-9179-229C-5920-4A41FB343AA6}"/>
              </a:ext>
            </a:extLst>
          </p:cNvPr>
          <p:cNvSpPr txBox="1"/>
          <p:nvPr/>
        </p:nvSpPr>
        <p:spPr>
          <a:xfrm>
            <a:off x="4402432" y="1330852"/>
            <a:ext cx="1965603" cy="646331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1800" dirty="0"/>
              <a:t>0.6667 * 1 = 0.667</a:t>
            </a:r>
          </a:p>
          <a:p>
            <a:r>
              <a:rPr lang="en-US" altLang="zh-TW" sz="1800" dirty="0"/>
              <a:t>0.6667 * 1 = 0.667</a:t>
            </a:r>
            <a:endParaRPr lang="zh-TW" altLang="en-US" dirty="0"/>
          </a:p>
        </p:txBody>
      </p:sp>
      <p:grpSp>
        <p:nvGrpSpPr>
          <p:cNvPr id="206" name="群組 205">
            <a:extLst>
              <a:ext uri="{FF2B5EF4-FFF2-40B4-BE49-F238E27FC236}">
                <a16:creationId xmlns:a16="http://schemas.microsoft.com/office/drawing/2014/main" id="{C6ADEF96-911C-390D-7115-D4E2BEE90F22}"/>
              </a:ext>
            </a:extLst>
          </p:cNvPr>
          <p:cNvGrpSpPr/>
          <p:nvPr/>
        </p:nvGrpSpPr>
        <p:grpSpPr>
          <a:xfrm>
            <a:off x="822154" y="1385068"/>
            <a:ext cx="911394" cy="317285"/>
            <a:chOff x="5866646" y="1457608"/>
            <a:chExt cx="977775" cy="380245"/>
          </a:xfrm>
        </p:grpSpPr>
        <p:cxnSp>
          <p:nvCxnSpPr>
            <p:cNvPr id="207" name="直線接點 206">
              <a:extLst>
                <a:ext uri="{FF2B5EF4-FFF2-40B4-BE49-F238E27FC236}">
                  <a16:creationId xmlns:a16="http://schemas.microsoft.com/office/drawing/2014/main" id="{14B7C905-33B2-D0E2-655A-C2A7C158649A}"/>
                </a:ext>
              </a:extLst>
            </p:cNvPr>
            <p:cNvCxnSpPr/>
            <p:nvPr/>
          </p:nvCxnSpPr>
          <p:spPr>
            <a:xfrm>
              <a:off x="5866646" y="1457608"/>
              <a:ext cx="0" cy="38024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線接點 207">
              <a:extLst>
                <a:ext uri="{FF2B5EF4-FFF2-40B4-BE49-F238E27FC236}">
                  <a16:creationId xmlns:a16="http://schemas.microsoft.com/office/drawing/2014/main" id="{9928FAD5-21C4-5406-20B0-8937F2A4DB60}"/>
                </a:ext>
              </a:extLst>
            </p:cNvPr>
            <p:cNvCxnSpPr/>
            <p:nvPr/>
          </p:nvCxnSpPr>
          <p:spPr>
            <a:xfrm>
              <a:off x="6844421" y="1457608"/>
              <a:ext cx="0" cy="38024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線接點 208">
              <a:extLst>
                <a:ext uri="{FF2B5EF4-FFF2-40B4-BE49-F238E27FC236}">
                  <a16:creationId xmlns:a16="http://schemas.microsoft.com/office/drawing/2014/main" id="{DD2F3844-F2E1-72EF-EC30-87AB48D52F49}"/>
                </a:ext>
              </a:extLst>
            </p:cNvPr>
            <p:cNvCxnSpPr/>
            <p:nvPr/>
          </p:nvCxnSpPr>
          <p:spPr>
            <a:xfrm>
              <a:off x="5866646" y="1629624"/>
              <a:ext cx="97777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0" name="文字方塊 209">
            <a:extLst>
              <a:ext uri="{FF2B5EF4-FFF2-40B4-BE49-F238E27FC236}">
                <a16:creationId xmlns:a16="http://schemas.microsoft.com/office/drawing/2014/main" id="{B4562933-7107-53CC-E445-69608515CE72}"/>
              </a:ext>
            </a:extLst>
          </p:cNvPr>
          <p:cNvSpPr txBox="1"/>
          <p:nvPr/>
        </p:nvSpPr>
        <p:spPr>
          <a:xfrm>
            <a:off x="1094170" y="1107398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/>
              <a:t>1</a:t>
            </a:r>
            <a:endParaRPr lang="zh-TW" altLang="en-US" sz="2000" dirty="0"/>
          </a:p>
        </p:txBody>
      </p:sp>
      <p:grpSp>
        <p:nvGrpSpPr>
          <p:cNvPr id="43" name="群組 42">
            <a:extLst>
              <a:ext uri="{FF2B5EF4-FFF2-40B4-BE49-F238E27FC236}">
                <a16:creationId xmlns:a16="http://schemas.microsoft.com/office/drawing/2014/main" id="{BF333FB7-F58F-58E1-9DC7-2EA1E5A2CC06}"/>
              </a:ext>
            </a:extLst>
          </p:cNvPr>
          <p:cNvGrpSpPr/>
          <p:nvPr/>
        </p:nvGrpSpPr>
        <p:grpSpPr>
          <a:xfrm>
            <a:off x="8482586" y="876127"/>
            <a:ext cx="2847795" cy="317285"/>
            <a:chOff x="5866646" y="1457608"/>
            <a:chExt cx="977775" cy="380245"/>
          </a:xfrm>
        </p:grpSpPr>
        <p:cxnSp>
          <p:nvCxnSpPr>
            <p:cNvPr id="44" name="直線接點 43">
              <a:extLst>
                <a:ext uri="{FF2B5EF4-FFF2-40B4-BE49-F238E27FC236}">
                  <a16:creationId xmlns:a16="http://schemas.microsoft.com/office/drawing/2014/main" id="{305CF0BB-708C-CBEE-3375-6339F521D14F}"/>
                </a:ext>
              </a:extLst>
            </p:cNvPr>
            <p:cNvCxnSpPr/>
            <p:nvPr/>
          </p:nvCxnSpPr>
          <p:spPr>
            <a:xfrm>
              <a:off x="5866646" y="1457608"/>
              <a:ext cx="0" cy="38024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線接點 44">
              <a:extLst>
                <a:ext uri="{FF2B5EF4-FFF2-40B4-BE49-F238E27FC236}">
                  <a16:creationId xmlns:a16="http://schemas.microsoft.com/office/drawing/2014/main" id="{16CEA3CE-D886-D460-C454-C1F6DB49C648}"/>
                </a:ext>
              </a:extLst>
            </p:cNvPr>
            <p:cNvCxnSpPr/>
            <p:nvPr/>
          </p:nvCxnSpPr>
          <p:spPr>
            <a:xfrm>
              <a:off x="6844421" y="1457608"/>
              <a:ext cx="0" cy="38024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線接點 45">
              <a:extLst>
                <a:ext uri="{FF2B5EF4-FFF2-40B4-BE49-F238E27FC236}">
                  <a16:creationId xmlns:a16="http://schemas.microsoft.com/office/drawing/2014/main" id="{038D8480-CC87-853C-838E-11E5F95701C6}"/>
                </a:ext>
              </a:extLst>
            </p:cNvPr>
            <p:cNvCxnSpPr/>
            <p:nvPr/>
          </p:nvCxnSpPr>
          <p:spPr>
            <a:xfrm>
              <a:off x="5866646" y="1629624"/>
              <a:ext cx="97777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DE5EE631-6834-36D0-4086-436C9BB53B95}"/>
              </a:ext>
            </a:extLst>
          </p:cNvPr>
          <p:cNvSpPr txBox="1"/>
          <p:nvPr/>
        </p:nvSpPr>
        <p:spPr>
          <a:xfrm>
            <a:off x="9746029" y="652576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/>
              <a:t>1</a:t>
            </a:r>
            <a:endParaRPr lang="zh-TW" altLang="en-US" sz="2000" dirty="0"/>
          </a:p>
        </p:txBody>
      </p:sp>
      <p:grpSp>
        <p:nvGrpSpPr>
          <p:cNvPr id="48" name="群組 47">
            <a:extLst>
              <a:ext uri="{FF2B5EF4-FFF2-40B4-BE49-F238E27FC236}">
                <a16:creationId xmlns:a16="http://schemas.microsoft.com/office/drawing/2014/main" id="{F89B0D1D-B543-E8E0-F2C3-E82E7066555B}"/>
              </a:ext>
            </a:extLst>
          </p:cNvPr>
          <p:cNvGrpSpPr/>
          <p:nvPr/>
        </p:nvGrpSpPr>
        <p:grpSpPr>
          <a:xfrm>
            <a:off x="740660" y="3102600"/>
            <a:ext cx="2083582" cy="206964"/>
            <a:chOff x="721834" y="3107765"/>
            <a:chExt cx="2104085" cy="206964"/>
          </a:xfrm>
          <a:solidFill>
            <a:srgbClr val="7D7DFF"/>
          </a:solidFill>
        </p:grpSpPr>
        <p:sp>
          <p:nvSpPr>
            <p:cNvPr id="49" name="橢圓 48">
              <a:extLst>
                <a:ext uri="{FF2B5EF4-FFF2-40B4-BE49-F238E27FC236}">
                  <a16:creationId xmlns:a16="http://schemas.microsoft.com/office/drawing/2014/main" id="{5C249663-CE07-64B9-03FE-40D7B404AC68}"/>
                </a:ext>
              </a:extLst>
            </p:cNvPr>
            <p:cNvSpPr/>
            <p:nvPr/>
          </p:nvSpPr>
          <p:spPr>
            <a:xfrm>
              <a:off x="721834" y="3107765"/>
              <a:ext cx="214542" cy="206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0" name="橢圓 49">
              <a:extLst>
                <a:ext uri="{FF2B5EF4-FFF2-40B4-BE49-F238E27FC236}">
                  <a16:creationId xmlns:a16="http://schemas.microsoft.com/office/drawing/2014/main" id="{D7E0328C-4CEE-3129-FFB6-560AF912FCB2}"/>
                </a:ext>
              </a:extLst>
            </p:cNvPr>
            <p:cNvSpPr/>
            <p:nvPr/>
          </p:nvSpPr>
          <p:spPr>
            <a:xfrm>
              <a:off x="2611377" y="3107765"/>
              <a:ext cx="214542" cy="206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1" name="橢圓 50">
              <a:extLst>
                <a:ext uri="{FF2B5EF4-FFF2-40B4-BE49-F238E27FC236}">
                  <a16:creationId xmlns:a16="http://schemas.microsoft.com/office/drawing/2014/main" id="{3AF14273-51CD-52F5-7613-EBF4793768ED}"/>
                </a:ext>
              </a:extLst>
            </p:cNvPr>
            <p:cNvSpPr/>
            <p:nvPr/>
          </p:nvSpPr>
          <p:spPr>
            <a:xfrm>
              <a:off x="1351682" y="3107765"/>
              <a:ext cx="214542" cy="206964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52" name="橢圓 51">
              <a:extLst>
                <a:ext uri="{FF2B5EF4-FFF2-40B4-BE49-F238E27FC236}">
                  <a16:creationId xmlns:a16="http://schemas.microsoft.com/office/drawing/2014/main" id="{1E5A5406-1ED3-D7DB-28B6-91A54E066E1B}"/>
                </a:ext>
              </a:extLst>
            </p:cNvPr>
            <p:cNvSpPr/>
            <p:nvPr/>
          </p:nvSpPr>
          <p:spPr>
            <a:xfrm>
              <a:off x="1981530" y="3107765"/>
              <a:ext cx="214542" cy="206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0687012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50FD1-777D-69EE-E518-C9A6A6E93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7ED8818-710A-0D93-0527-AF59EBBBD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12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0A3D66E6-EE59-7508-620D-72BED685A909}"/>
              </a:ext>
            </a:extLst>
          </p:cNvPr>
          <p:cNvSpPr txBox="1"/>
          <p:nvPr/>
        </p:nvSpPr>
        <p:spPr>
          <a:xfrm>
            <a:off x="1" y="24148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練習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C6748030-DADB-8D2F-47D5-9E35085C1B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5123596"/>
              </p:ext>
            </p:extLst>
          </p:nvPr>
        </p:nvGraphicFramePr>
        <p:xfrm>
          <a:off x="1852123" y="2607727"/>
          <a:ext cx="2847816" cy="272064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9272">
                  <a:extLst>
                    <a:ext uri="{9D8B030D-6E8A-4147-A177-3AD203B41FA5}">
                      <a16:colId xmlns:a16="http://schemas.microsoft.com/office/drawing/2014/main" val="606005365"/>
                    </a:ext>
                  </a:extLst>
                </a:gridCol>
                <a:gridCol w="949272">
                  <a:extLst>
                    <a:ext uri="{9D8B030D-6E8A-4147-A177-3AD203B41FA5}">
                      <a16:colId xmlns:a16="http://schemas.microsoft.com/office/drawing/2014/main" val="3281305359"/>
                    </a:ext>
                  </a:extLst>
                </a:gridCol>
                <a:gridCol w="949272">
                  <a:extLst>
                    <a:ext uri="{9D8B030D-6E8A-4147-A177-3AD203B41FA5}">
                      <a16:colId xmlns:a16="http://schemas.microsoft.com/office/drawing/2014/main" val="771941262"/>
                    </a:ext>
                  </a:extLst>
                </a:gridCol>
              </a:tblGrid>
              <a:tr h="90688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10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20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30</a:t>
                      </a:r>
                      <a:endParaRPr lang="zh-TW" alt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8973830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50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60</a:t>
                      </a:r>
                      <a:endParaRPr lang="zh-TW" alt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7379752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70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80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90</a:t>
                      </a:r>
                      <a:endParaRPr lang="zh-TW" alt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1660278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184FA591-D055-4AA6-7956-0579E48FF6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5856009"/>
              </p:ext>
            </p:extLst>
          </p:nvPr>
        </p:nvGraphicFramePr>
        <p:xfrm>
          <a:off x="6517926" y="2245588"/>
          <a:ext cx="3789372" cy="36275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7343">
                  <a:extLst>
                    <a:ext uri="{9D8B030D-6E8A-4147-A177-3AD203B41FA5}">
                      <a16:colId xmlns:a16="http://schemas.microsoft.com/office/drawing/2014/main" val="606005365"/>
                    </a:ext>
                  </a:extLst>
                </a:gridCol>
                <a:gridCol w="947343">
                  <a:extLst>
                    <a:ext uri="{9D8B030D-6E8A-4147-A177-3AD203B41FA5}">
                      <a16:colId xmlns:a16="http://schemas.microsoft.com/office/drawing/2014/main" val="3281305359"/>
                    </a:ext>
                  </a:extLst>
                </a:gridCol>
                <a:gridCol w="947343">
                  <a:extLst>
                    <a:ext uri="{9D8B030D-6E8A-4147-A177-3AD203B41FA5}">
                      <a16:colId xmlns:a16="http://schemas.microsoft.com/office/drawing/2014/main" val="771941262"/>
                    </a:ext>
                  </a:extLst>
                </a:gridCol>
                <a:gridCol w="947343">
                  <a:extLst>
                    <a:ext uri="{9D8B030D-6E8A-4147-A177-3AD203B41FA5}">
                      <a16:colId xmlns:a16="http://schemas.microsoft.com/office/drawing/2014/main" val="54997247"/>
                    </a:ext>
                  </a:extLst>
                </a:gridCol>
              </a:tblGrid>
              <a:tr h="90688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8973830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7379752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?</a:t>
                      </a:r>
                      <a:endParaRPr lang="zh-TW" altLang="en-US" sz="2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1660278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1385109"/>
                  </a:ext>
                </a:extLst>
              </a:tr>
            </a:tbl>
          </a:graphicData>
        </a:graphic>
      </p:graphicFrame>
      <p:sp>
        <p:nvSpPr>
          <p:cNvPr id="6" name="箭號: 向右 5">
            <a:extLst>
              <a:ext uri="{FF2B5EF4-FFF2-40B4-BE49-F238E27FC236}">
                <a16:creationId xmlns:a16="http://schemas.microsoft.com/office/drawing/2014/main" id="{B520B364-D82D-F23D-C08B-0789686EB5B0}"/>
              </a:ext>
            </a:extLst>
          </p:cNvPr>
          <p:cNvSpPr/>
          <p:nvPr/>
        </p:nvSpPr>
        <p:spPr>
          <a:xfrm>
            <a:off x="5169839" y="3614108"/>
            <a:ext cx="878186" cy="707886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972A0943-05CA-13E8-5BB3-BBCCCB1E0F06}"/>
                  </a:ext>
                </a:extLst>
              </p:cNvPr>
              <p:cNvSpPr txBox="1"/>
              <p:nvPr/>
            </p:nvSpPr>
            <p:spPr>
              <a:xfrm>
                <a:off x="2992581" y="2105891"/>
                <a:ext cx="7120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/>
                  <a:t>3</a:t>
                </a:r>
                <a14:m>
                  <m:oMath xmlns:m="http://schemas.openxmlformats.org/officeDocument/2006/math">
                    <m:r>
                      <a:rPr lang="en-US" altLang="zh-TW" sz="240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zh-TW" sz="2400" dirty="0"/>
                  <a:t>3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972A0943-05CA-13E8-5BB3-BBCCCB1E0F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2581" y="2105891"/>
                <a:ext cx="712054" cy="461665"/>
              </a:xfrm>
              <a:prstGeom prst="rect">
                <a:avLst/>
              </a:prstGeom>
              <a:blipFill>
                <a:blip r:embed="rId2"/>
                <a:stretch>
                  <a:fillRect l="-13675" t="-10526" r="-1196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E5F420B7-310F-2650-48C3-7473025E186E}"/>
                  </a:ext>
                </a:extLst>
              </p:cNvPr>
              <p:cNvSpPr txBox="1"/>
              <p:nvPr/>
            </p:nvSpPr>
            <p:spPr>
              <a:xfrm>
                <a:off x="8067963" y="1796472"/>
                <a:ext cx="7120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/>
                  <a:t>4</a:t>
                </a:r>
                <a14:m>
                  <m:oMath xmlns:m="http://schemas.openxmlformats.org/officeDocument/2006/math">
                    <m:r>
                      <a:rPr lang="en-US" altLang="zh-TW" sz="240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zh-TW" sz="2400" dirty="0"/>
                  <a:t>4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E5F420B7-310F-2650-48C3-7473025E18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7963" y="1796472"/>
                <a:ext cx="712054" cy="461665"/>
              </a:xfrm>
              <a:prstGeom prst="rect">
                <a:avLst/>
              </a:prstGeom>
              <a:blipFill>
                <a:blip r:embed="rId3"/>
                <a:stretch>
                  <a:fillRect l="-12821" t="-10667" r="-12821" b="-30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星形: 五角 8">
            <a:extLst>
              <a:ext uri="{FF2B5EF4-FFF2-40B4-BE49-F238E27FC236}">
                <a16:creationId xmlns:a16="http://schemas.microsoft.com/office/drawing/2014/main" id="{964564F7-6526-D8BB-6F42-97036D3B1F29}"/>
              </a:ext>
            </a:extLst>
          </p:cNvPr>
          <p:cNvSpPr/>
          <p:nvPr/>
        </p:nvSpPr>
        <p:spPr>
          <a:xfrm>
            <a:off x="899526" y="260335"/>
            <a:ext cx="615820" cy="615820"/>
          </a:xfrm>
          <a:prstGeom prst="star5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55C51192-30A8-C891-5DA5-35D7F2DC550F}"/>
                  </a:ext>
                </a:extLst>
              </p:cNvPr>
              <p:cNvSpPr txBox="1"/>
              <p:nvPr/>
            </p:nvSpPr>
            <p:spPr>
              <a:xfrm>
                <a:off x="1431635" y="1159318"/>
                <a:ext cx="957810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b="1" dirty="0"/>
                  <a:t>Question: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Using 2-D bilinear interpolation, find the value of the pixel marked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‘?’ </a:t>
                </a:r>
                <a:r>
                  <a:rPr lang="en-US" altLang="zh-TW" dirty="0"/>
                  <a:t>in the </a:t>
                </a:r>
                <a14:m>
                  <m:oMath xmlns:m="http://schemas.openxmlformats.org/officeDocument/2006/math">
                    <m:r>
                      <a:rPr lang="en-US" altLang="zh-TW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zh-TW" i="0">
                        <a:latin typeface="Cambria Math" panose="02040503050406030204" pitchFamily="18" charset="0"/>
                      </a:rPr>
                      <m:t>×4</m:t>
                    </m:r>
                  </m:oMath>
                </a14:m>
                <a:r>
                  <a:rPr lang="en-US" altLang="zh-TW" dirty="0"/>
                  <a:t>image.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55C51192-30A8-C891-5DA5-35D7F2DC55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1635" y="1159318"/>
                <a:ext cx="9578109" cy="369332"/>
              </a:xfrm>
              <a:prstGeom prst="rect">
                <a:avLst/>
              </a:prstGeom>
              <a:blipFill>
                <a:blip r:embed="rId4"/>
                <a:stretch>
                  <a:fillRect l="-573" t="-8197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字方塊 9">
            <a:extLst>
              <a:ext uri="{FF2B5EF4-FFF2-40B4-BE49-F238E27FC236}">
                <a16:creationId xmlns:a16="http://schemas.microsoft.com/office/drawing/2014/main" id="{A95F77AC-D452-03B6-3711-D66C0F7E8C6E}"/>
              </a:ext>
            </a:extLst>
          </p:cNvPr>
          <p:cNvSpPr txBox="1"/>
          <p:nvPr/>
        </p:nvSpPr>
        <p:spPr>
          <a:xfrm>
            <a:off x="7980219" y="6031345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Ans: 63.36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75197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AA4FB6E-E549-C399-9313-0F0D6F6D7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13</a:t>
            </a:fld>
            <a:endParaRPr lang="zh-TW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DAA160-4129-741D-BF8D-36E0C949B2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444" y="960835"/>
            <a:ext cx="5544960" cy="5760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FD02808C-14B4-0465-CCC6-AC048ABB7C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352"/>
          <a:stretch/>
        </p:blipFill>
        <p:spPr bwMode="auto">
          <a:xfrm>
            <a:off x="6281598" y="1036211"/>
            <a:ext cx="5359363" cy="42785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A200EA41-966C-0DC7-93D6-49D8C55E435F}"/>
              </a:ext>
            </a:extLst>
          </p:cNvPr>
          <p:cNvSpPr txBox="1"/>
          <p:nvPr/>
        </p:nvSpPr>
        <p:spPr>
          <a:xfrm>
            <a:off x="0" y="24148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en-US" altLang="zh-TW"/>
              <a:t>2.5 </a:t>
            </a:r>
            <a:r>
              <a:rPr lang="zh-TW" altLang="en-US"/>
              <a:t>空間運算</a:t>
            </a:r>
            <a:r>
              <a:rPr lang="en-US" altLang="zh-TW"/>
              <a:t>:</a:t>
            </a:r>
            <a:r>
              <a:rPr lang="zh-TW" altLang="en-US"/>
              <a:t> 仿射轉換</a:t>
            </a:r>
          </a:p>
        </p:txBody>
      </p:sp>
    </p:spTree>
    <p:extLst>
      <p:ext uri="{BB962C8B-B14F-4D97-AF65-F5344CB8AC3E}">
        <p14:creationId xmlns:p14="http://schemas.microsoft.com/office/powerpoint/2010/main" val="23805130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8B424B9-ACDA-21CB-660A-2C15E2FB0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14</a:t>
            </a:fld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5620D6C8-DC86-BCD3-1ACE-6CE58B197B7A}"/>
              </a:ext>
            </a:extLst>
          </p:cNvPr>
          <p:cNvSpPr txBox="1"/>
          <p:nvPr/>
        </p:nvSpPr>
        <p:spPr>
          <a:xfrm>
            <a:off x="1" y="24148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 dirty="0"/>
              <a:t>範例一</a:t>
            </a:r>
            <a:r>
              <a:rPr lang="en-US" altLang="zh-TW" dirty="0"/>
              <a:t>:</a:t>
            </a:r>
            <a:r>
              <a:rPr lang="zh-TW" altLang="en-US" dirty="0"/>
              <a:t>仿射轉換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1715CE63-5B82-2E13-A83A-C75001589641}"/>
              </a:ext>
            </a:extLst>
          </p:cNvPr>
          <p:cNvSpPr txBox="1"/>
          <p:nvPr/>
        </p:nvSpPr>
        <p:spPr>
          <a:xfrm>
            <a:off x="1595859" y="1085988"/>
            <a:ext cx="7014741" cy="86177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寫出</a:t>
            </a:r>
            <a:r>
              <a:rPr lang="zh-TW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平移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縮放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旋轉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的仿射矩陣</a:t>
            </a:r>
            <a:endParaRPr lang="en-US" altLang="zh-TW"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寫出</a:t>
            </a:r>
            <a:r>
              <a:rPr lang="zh-TW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反平移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反縮放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反旋轉 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的仿射矩陣</a:t>
            </a:r>
            <a:endParaRPr lang="en-US" altLang="zh-TW"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0211334E-A9FA-E5F8-E9BB-DCC9F9174DA9}"/>
              </a:ext>
            </a:extLst>
          </p:cNvPr>
          <p:cNvSpPr txBox="1"/>
          <p:nvPr/>
        </p:nvSpPr>
        <p:spPr>
          <a:xfrm>
            <a:off x="896432" y="1255265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Q:</a:t>
            </a:r>
            <a:endParaRPr lang="zh-TW" alt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9219AA8-6F9E-D76E-1184-9FF839E067D1}"/>
              </a:ext>
            </a:extLst>
          </p:cNvPr>
          <p:cNvSpPr txBox="1"/>
          <p:nvPr/>
        </p:nvSpPr>
        <p:spPr>
          <a:xfrm>
            <a:off x="9392927" y="1516875"/>
            <a:ext cx="24064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000" dirty="0"/>
              <a:t>(</a:t>
            </a:r>
            <a:r>
              <a:rPr lang="zh-TW" altLang="en-US" sz="2000" dirty="0"/>
              <a:t>可能抽幾個考而已</a:t>
            </a:r>
            <a:r>
              <a:rPr lang="en-US" altLang="zh-TW" sz="2000" dirty="0"/>
              <a:t>)</a:t>
            </a:r>
          </a:p>
          <a:p>
            <a:pPr algn="ctr"/>
            <a:r>
              <a:rPr lang="en-US" altLang="zh-TW" sz="2000" dirty="0"/>
              <a:t>(pick a few to test)</a:t>
            </a:r>
            <a:endParaRPr lang="zh-TW" altLang="en-US" sz="2000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9CA3C48-346F-0AA7-E732-9F80FACC9C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833" y="3171179"/>
            <a:ext cx="2604065" cy="2797985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0DECB84F-EC70-DE62-5136-3A8645C154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3245" y="3171179"/>
            <a:ext cx="2305372" cy="2857899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AD639384-47E3-BBD7-2FCC-6156E5ECC95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172"/>
          <a:stretch>
            <a:fillRect/>
          </a:stretch>
        </p:blipFill>
        <p:spPr>
          <a:xfrm>
            <a:off x="7567476" y="3171179"/>
            <a:ext cx="4410691" cy="2654709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C983956A-DC1E-E912-71AB-E1E30AF22F6F}"/>
              </a:ext>
            </a:extLst>
          </p:cNvPr>
          <p:cNvSpPr txBox="1"/>
          <p:nvPr/>
        </p:nvSpPr>
        <p:spPr>
          <a:xfrm>
            <a:off x="263875" y="3611524"/>
            <a:ext cx="1073020" cy="7078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TW" altLang="en-US" sz="24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平移</a:t>
            </a:r>
            <a:endParaRPr lang="en-US" altLang="zh-TW" sz="2400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en-US" altLang="zh-TW" sz="1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translation</a:t>
            </a:r>
            <a:endParaRPr lang="zh-TW" altLang="en-US" sz="1600" dirty="0">
              <a:solidFill>
                <a:srgbClr val="FF0000"/>
              </a:solidFill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1F39D0F2-23BA-126B-A69E-4FDC74D05D7F}"/>
              </a:ext>
            </a:extLst>
          </p:cNvPr>
          <p:cNvSpPr txBox="1"/>
          <p:nvPr/>
        </p:nvSpPr>
        <p:spPr>
          <a:xfrm>
            <a:off x="263875" y="5516399"/>
            <a:ext cx="1191208" cy="9541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TW" altLang="en-US" sz="24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反平移</a:t>
            </a:r>
            <a:endParaRPr lang="en-US" altLang="zh-TW" sz="2400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en-US" altLang="zh-TW" sz="1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inverse translation</a:t>
            </a:r>
            <a:endParaRPr lang="zh-TW" altLang="en-US" sz="1600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96421254-63DC-4C1F-A699-363DF53FBA9E}"/>
              </a:ext>
            </a:extLst>
          </p:cNvPr>
          <p:cNvSpPr txBox="1"/>
          <p:nvPr/>
        </p:nvSpPr>
        <p:spPr>
          <a:xfrm>
            <a:off x="3671627" y="3611524"/>
            <a:ext cx="1073020" cy="7078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TW" altLang="en-US" sz="24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縮放</a:t>
            </a:r>
            <a:endParaRPr lang="en-US" altLang="zh-TW" sz="2400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en-US" altLang="zh-TW" sz="1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scaling</a:t>
            </a:r>
            <a:endParaRPr lang="zh-TW" altLang="en-US" sz="1600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B1B728CD-FC37-956F-5113-B1158EFF5268}"/>
              </a:ext>
            </a:extLst>
          </p:cNvPr>
          <p:cNvSpPr txBox="1"/>
          <p:nvPr/>
        </p:nvSpPr>
        <p:spPr>
          <a:xfrm>
            <a:off x="3671627" y="5516399"/>
            <a:ext cx="1191208" cy="10156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TW" altLang="en-US" sz="24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反縮放</a:t>
            </a:r>
            <a:endParaRPr lang="en-US" altLang="zh-TW" sz="2400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inverse scaling</a:t>
            </a:r>
            <a:endParaRPr lang="zh-TW" altLang="en-US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EBDC608F-4618-BB2A-C07F-DDA87D5258CC}"/>
              </a:ext>
            </a:extLst>
          </p:cNvPr>
          <p:cNvSpPr txBox="1"/>
          <p:nvPr/>
        </p:nvSpPr>
        <p:spPr>
          <a:xfrm>
            <a:off x="7159862" y="3611524"/>
            <a:ext cx="1073020" cy="7078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TW" altLang="en-US" sz="24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旋轉</a:t>
            </a:r>
            <a:endParaRPr lang="en-US" altLang="zh-TW" sz="2400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en-US" altLang="zh-TW" sz="1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rotation</a:t>
            </a:r>
            <a:endParaRPr lang="zh-TW" altLang="en-US" sz="1600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487EEE48-FD5C-3577-A830-A6FCE8FB00A7}"/>
              </a:ext>
            </a:extLst>
          </p:cNvPr>
          <p:cNvSpPr txBox="1"/>
          <p:nvPr/>
        </p:nvSpPr>
        <p:spPr>
          <a:xfrm>
            <a:off x="7159862" y="5516399"/>
            <a:ext cx="1191208" cy="9541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TW" altLang="en-US" sz="24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反旋轉</a:t>
            </a:r>
            <a:endParaRPr lang="en-US" altLang="zh-TW" sz="2400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en-US" altLang="zh-TW" sz="1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inverse rotation</a:t>
            </a:r>
            <a:endParaRPr lang="zh-TW" altLang="en-US" sz="1600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5D8A4FF3-D066-E76F-9D07-0F3EDBF83224}"/>
              </a:ext>
            </a:extLst>
          </p:cNvPr>
          <p:cNvSpPr txBox="1"/>
          <p:nvPr/>
        </p:nvSpPr>
        <p:spPr>
          <a:xfrm>
            <a:off x="1072559" y="2043083"/>
            <a:ext cx="815541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TW" sz="2400" dirty="0"/>
              <a:t>Write the affine matrices: </a:t>
            </a:r>
            <a:r>
              <a:rPr lang="en-US" altLang="zh-TW" sz="24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translation</a:t>
            </a:r>
            <a:r>
              <a:rPr lang="en-US" altLang="zh-TW" sz="2400" dirty="0"/>
              <a:t>, </a:t>
            </a:r>
            <a:r>
              <a:rPr lang="en-US" altLang="zh-TW" sz="24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scaling</a:t>
            </a:r>
            <a:r>
              <a:rPr lang="en-US" altLang="zh-TW" sz="2400" dirty="0"/>
              <a:t>, </a:t>
            </a:r>
            <a:r>
              <a:rPr lang="en-US" altLang="zh-TW" sz="24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rotation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TW" sz="2400" dirty="0"/>
              <a:t>Write the </a:t>
            </a:r>
            <a:r>
              <a:rPr lang="en-US" altLang="zh-TW" sz="24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inverse affine</a:t>
            </a:r>
            <a:r>
              <a:rPr lang="en-US" altLang="zh-TW" sz="2400" dirty="0"/>
              <a:t> matrices: translation, scaling, rotation</a:t>
            </a:r>
            <a:endParaRPr lang="zh-TW" altLang="en-US" sz="2400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36A5B57F-D07C-698A-BFB3-9880A49EF7C3}"/>
              </a:ext>
            </a:extLst>
          </p:cNvPr>
          <p:cNvSpPr txBox="1"/>
          <p:nvPr/>
        </p:nvSpPr>
        <p:spPr>
          <a:xfrm>
            <a:off x="115974" y="2669837"/>
            <a:ext cx="9605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>
                <a:solidFill>
                  <a:srgbClr val="C00000"/>
                </a:solidFill>
              </a:rPr>
              <a:t>Ans:</a:t>
            </a:r>
            <a:endParaRPr lang="zh-TW" altLang="en-US" sz="3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60135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664B5-B53C-1686-47CD-E8ED6713B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31A67313-B65E-36C6-7EFC-832D1B8B11FB}"/>
                  </a:ext>
                </a:extLst>
              </p:cNvPr>
              <p:cNvSpPr txBox="1"/>
              <p:nvPr/>
            </p:nvSpPr>
            <p:spPr>
              <a:xfrm>
                <a:off x="2682668" y="4792622"/>
                <a:ext cx="5438066" cy="1642629"/>
              </a:xfrm>
              <a:prstGeom prst="rect">
                <a:avLst/>
              </a:prstGeom>
              <a:solidFill>
                <a:srgbClr val="CAEEFB"/>
              </a:solidFill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ar-AE" altLang="zh-TW" i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ar-AE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plcHide m:val="on"/>
                                      <m:mcs>
                                        <m:mc>
                                          <m:mcPr>
                                            <m:count m:val="3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ar-AE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f>
                                          <m:fPr>
                                            <m:ctrlPr>
                                              <a:rPr lang="ar-AE" altLang="zh-TW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ar-AE" altLang="zh-TW" i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num>
                                          <m:den>
                                            <m:r>
                                              <a:rPr lang="ar-AE" altLang="zh-TW" i="0"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den>
                                        </m:f>
                                      </m:e>
                                      <m:e>
                                        <m:r>
                                          <a:rPr lang="ar-AE" altLang="zh-TW" i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ar-AE" altLang="zh-TW" i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ar-AE" altLang="zh-TW" i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f>
                                          <m:fPr>
                                            <m:ctrlPr>
                                              <a:rPr lang="ar-AE" altLang="zh-TW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ar-AE" altLang="zh-TW" i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num>
                                          <m:den>
                                            <m:r>
                                              <a:rPr lang="ar-AE" altLang="zh-TW" i="0">
                                                <a:latin typeface="Cambria Math" panose="02040503050406030204" pitchFamily="18" charset="0"/>
                                              </a:rPr>
                                              <m:t>5</m:t>
                                            </m:r>
                                          </m:den>
                                        </m:f>
                                      </m:e>
                                      <m:e>
                                        <m:r>
                                          <a:rPr lang="ar-AE" altLang="zh-TW" i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ar-AE" altLang="zh-TW" i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ar-AE" altLang="zh-TW" i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ar-AE" altLang="zh-TW" i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e>
                          </m:groupChr>
                        </m:e>
                        <m:lim>
                          <m:sSup>
                            <m:sSup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lim>
                      </m:limLow>
                      <m:limLow>
                        <m:limLow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ar-AE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plcHide m:val="on"/>
                                      <m:mcs>
                                        <m:mc>
                                          <m:mcPr>
                                            <m:count m:val="3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ar-AE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a:rPr lang="ar-AE" altLang="zh-TW" i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ar-AE" altLang="zh-TW" i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ar-AE" altLang="zh-TW" i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e>
                                        <m:r>
                                          <a:rPr lang="ar-AE" altLang="zh-TW" i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ar-AE" altLang="zh-TW" i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e>
                                        <m:r>
                                          <a:rPr lang="ar-AE" altLang="zh-TW" i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ar-AE" altLang="zh-TW" i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ar-AE" altLang="zh-TW" i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ar-AE" altLang="zh-TW" i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ar-AE" altLang="zh-TW" i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e>
                          </m:groupChr>
                        </m:e>
                        <m:lim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ar-AE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altLang="zh-TW" i="0">
                                      <a:latin typeface="Cambria Math" panose="02040503050406030204" pitchFamily="18" charset="0"/>
                                    </a:rPr>
                                    <m:t>90</m:t>
                                  </m:r>
                                </m:e>
                                <m:sup>
                                  <m:r>
                                    <a:rPr lang="ar-AE" altLang="zh-TW" i="0">
                                      <a:latin typeface="Cambria Math" panose="02040503050406030204" pitchFamily="18" charset="0"/>
                                    </a:rPr>
                                    <m:t>∘</m:t>
                                  </m:r>
                                </m:sup>
                              </m:sSup>
                            </m:e>
                          </m:d>
                        </m:lim>
                      </m:limLow>
                      <m:d>
                        <m:dPr>
                          <m:begChr m:val="["/>
                          <m:endChr m:val="]"/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ar-AE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TW" altLang="ar-AE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ar-AE" altLang="zh-TW" i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ar-AE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TW" altLang="ar-AE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ar-AE" altLang="zh-TW" i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ar-AE" altLang="zh-TW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ar-AE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ar-AE" altLang="zh-TW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ar-AE" altLang="zh-TW" i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ar-AE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ar-AE" altLang="zh-TW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ar-AE" altLang="zh-TW" i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ar-AE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TW" altLang="ar-AE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ar-AE" altLang="zh-TW" i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ar-AE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TW" altLang="ar-AE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ar-AE" altLang="zh-TW" i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altLang="zh-TW" dirty="0"/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31A67313-B65E-36C6-7EFC-832D1B8B11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2668" y="4792622"/>
                <a:ext cx="5438066" cy="164262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1909C54-F77F-9512-A38A-065456BB7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25EE10-825B-4D49-8D47-2CB0B2BE83D5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D32CD89-1EF4-9C76-276A-8102E3D784CA}"/>
              </a:ext>
            </a:extLst>
          </p:cNvPr>
          <p:cNvSpPr txBox="1"/>
          <p:nvPr/>
        </p:nvSpPr>
        <p:spPr>
          <a:xfrm>
            <a:off x="497970" y="777772"/>
            <a:ext cx="1124144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影像</a:t>
            </a: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先</a:t>
            </a: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標楷體"/>
                <a:cs typeface="+mn-cs"/>
              </a:rPr>
              <a:t>縮放</a:t>
            </a:r>
            <a:r>
              <a:rPr lang="en-US" altLang="zh-TW" sz="2400" dirty="0">
                <a:solidFill>
                  <a:prstClr val="black"/>
                </a:solidFill>
              </a:rPr>
              <a:t>(</a:t>
            </a:r>
            <a:r>
              <a:rPr lang="en-US" altLang="zh-TW" sz="2400" i="1" dirty="0">
                <a:solidFill>
                  <a:prstClr val="black"/>
                </a:solidFill>
              </a:rPr>
              <a:t>S</a:t>
            </a:r>
            <a:r>
              <a:rPr lang="zh-TW" altLang="en-US" sz="2400" dirty="0">
                <a:solidFill>
                  <a:prstClr val="black"/>
                </a:solidFill>
              </a:rPr>
              <a:t>𝑥</a:t>
            </a:r>
            <a:r>
              <a:rPr lang="en-US" altLang="zh-TW" sz="2400" dirty="0">
                <a:solidFill>
                  <a:prstClr val="black"/>
                </a:solidFill>
              </a:rPr>
              <a:t>=3,</a:t>
            </a:r>
            <a:r>
              <a:rPr lang="en-US" altLang="zh-TW" sz="2400" i="1" dirty="0">
                <a:solidFill>
                  <a:prstClr val="black"/>
                </a:solidFill>
              </a:rPr>
              <a:t>S</a:t>
            </a:r>
            <a:r>
              <a:rPr lang="zh-TW" altLang="en-US" sz="2400" dirty="0">
                <a:solidFill>
                  <a:prstClr val="black"/>
                </a:solidFill>
              </a:rPr>
              <a:t>𝑦</a:t>
            </a:r>
            <a:r>
              <a:rPr lang="en-US" altLang="zh-TW" sz="2400" dirty="0">
                <a:solidFill>
                  <a:prstClr val="black"/>
                </a:solidFill>
              </a:rPr>
              <a:t>=5)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，</a:t>
            </a: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再</a:t>
            </a:r>
            <a:r>
              <a:rPr lang="zh-TW" altLang="en-US" sz="2400" dirty="0">
                <a:solidFill>
                  <a:prstClr val="black"/>
                </a:solidFill>
              </a:rPr>
              <a:t>旋轉 𝜃 </a:t>
            </a:r>
            <a:r>
              <a:rPr lang="en-US" altLang="zh-TW" sz="2400" dirty="0">
                <a:solidFill>
                  <a:prstClr val="black"/>
                </a:solidFill>
              </a:rPr>
              <a:t>= -90</a:t>
            </a: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∘ </a:t>
            </a:r>
          </a:p>
          <a:p>
            <a:pPr marL="342900" lvl="0" indent="-342900">
              <a:buFont typeface="Wingdings" panose="05000000000000000000" pitchFamily="2" charset="2"/>
              <a:buChar char="Ø"/>
              <a:defRPr/>
            </a:pPr>
            <a:r>
              <a:rPr lang="zh-TW" altLang="en-US" sz="2400" dirty="0"/>
              <a:t>請寫出其</a:t>
            </a:r>
            <a:r>
              <a:rPr lang="zh-TW" altLang="en-US" sz="2400" u="sng" dirty="0"/>
              <a:t>仿射矩陣</a:t>
            </a:r>
            <a:r>
              <a:rPr lang="zh-TW" altLang="en-US" sz="2400" dirty="0"/>
              <a:t>與</a:t>
            </a:r>
            <a:r>
              <a:rPr lang="zh-TW" altLang="en-US" sz="2400" u="sng" dirty="0"/>
              <a:t>逆仿射矩陣</a:t>
            </a:r>
            <a:r>
              <a:rPr lang="zh-TW" altLang="en-US" sz="2400" dirty="0"/>
              <a:t>。</a:t>
            </a:r>
            <a:endParaRPr lang="en-US" altLang="zh-TW" sz="2400" dirty="0"/>
          </a:p>
          <a:p>
            <a:pPr marL="342900" lvl="0" indent="-342900">
              <a:lnSpc>
                <a:spcPct val="150000"/>
              </a:lnSpc>
              <a:buClr>
                <a:schemeClr val="accent5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  <a:defRPr/>
            </a:pPr>
            <a:r>
              <a:rPr lang="en-US" altLang="zh-TW" sz="2400" dirty="0"/>
              <a:t>The image is first </a:t>
            </a:r>
            <a:r>
              <a:rPr lang="en-US" altLang="zh-TW" sz="2400" dirty="0">
                <a:solidFill>
                  <a:srgbClr val="FF0000"/>
                </a:solidFill>
              </a:rPr>
              <a:t>scaled</a:t>
            </a:r>
            <a:r>
              <a:rPr lang="en-US" altLang="zh-TW" sz="2400" dirty="0"/>
              <a:t> (</a:t>
            </a:r>
            <a:r>
              <a:rPr lang="en-US" altLang="zh-TW" sz="2400" dirty="0" err="1"/>
              <a:t>Sx</a:t>
            </a:r>
            <a:r>
              <a:rPr lang="en-US" altLang="zh-TW" sz="2400" dirty="0"/>
              <a:t>=3, Sy=5), then </a:t>
            </a:r>
            <a:r>
              <a:rPr lang="en-US" altLang="zh-TW" sz="2400" dirty="0">
                <a:solidFill>
                  <a:srgbClr val="0000FF"/>
                </a:solidFill>
              </a:rPr>
              <a:t>rotated</a:t>
            </a:r>
            <a:r>
              <a:rPr lang="en-US" altLang="zh-TW" sz="2400" dirty="0"/>
              <a:t> -90°.</a:t>
            </a:r>
          </a:p>
          <a:p>
            <a:pPr marL="342900" lvl="0" indent="-342900">
              <a:buClr>
                <a:schemeClr val="accent5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  <a:defRPr/>
            </a:pPr>
            <a:r>
              <a:rPr lang="en-US" altLang="zh-TW" sz="2400" dirty="0"/>
              <a:t>Write its </a:t>
            </a:r>
            <a:r>
              <a:rPr lang="en-US" altLang="zh-TW" sz="2400" u="sng" dirty="0"/>
              <a:t>affine matrix </a:t>
            </a:r>
            <a:r>
              <a:rPr lang="en-US" altLang="zh-TW" sz="2400" dirty="0"/>
              <a:t>and </a:t>
            </a:r>
            <a:r>
              <a:rPr lang="en-US" altLang="zh-TW" sz="2400" u="sng" dirty="0"/>
              <a:t>inverse affine matrix</a:t>
            </a:r>
            <a:r>
              <a:rPr lang="en-US" altLang="zh-TW" sz="2400" dirty="0"/>
              <a:t>.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9F073C9F-BDE8-F898-BB08-39C45B6A2703}"/>
              </a:ext>
            </a:extLst>
          </p:cNvPr>
          <p:cNvSpPr txBox="1"/>
          <p:nvPr/>
        </p:nvSpPr>
        <p:spPr>
          <a:xfrm>
            <a:off x="453454" y="3348015"/>
            <a:ext cx="18977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正向仿射矩陣</a:t>
            </a: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  <a:p>
            <a:pPr lvl="0" algn="ctr">
              <a:defRPr/>
            </a:pPr>
            <a:r>
              <a:rPr lang="en-US" altLang="zh-TW" dirty="0"/>
              <a:t>(affine matrix) 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22005A30-38B3-D709-AB53-0F73ADA96E67}"/>
              </a:ext>
            </a:extLst>
          </p:cNvPr>
          <p:cNvSpPr txBox="1"/>
          <p:nvPr/>
        </p:nvSpPr>
        <p:spPr>
          <a:xfrm>
            <a:off x="246047" y="5287699"/>
            <a:ext cx="23125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逆向仿射矩陣</a:t>
            </a: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  <a:p>
            <a:pPr algn="ctr">
              <a:defRPr/>
            </a:pPr>
            <a:r>
              <a:rPr lang="en-US" altLang="zh-TW" dirty="0"/>
              <a:t>(Inverse affine matrix) </a:t>
            </a:r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1F7F56B2-5121-1CF0-681E-EC9FAE6CCD02}"/>
              </a:ext>
            </a:extLst>
          </p:cNvPr>
          <p:cNvSpPr txBox="1"/>
          <p:nvPr/>
        </p:nvSpPr>
        <p:spPr>
          <a:xfrm>
            <a:off x="4659862" y="2816812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先縮放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S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28D4E629-3E27-E2C1-0D78-0D84D051B59E}"/>
              </a:ext>
            </a:extLst>
          </p:cNvPr>
          <p:cNvSpPr txBox="1"/>
          <p:nvPr/>
        </p:nvSpPr>
        <p:spPr>
          <a:xfrm>
            <a:off x="3661421" y="2821477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再</a:t>
            </a:r>
            <a:r>
              <a:rPr lang="zh-TW" altLang="en-US" dirty="0">
                <a:solidFill>
                  <a:srgbClr val="0000FF"/>
                </a:solidFill>
                <a:latin typeface="Times New Roman"/>
                <a:ea typeface="標楷體"/>
              </a:rPr>
              <a:t>轉</a:t>
            </a:r>
            <a:r>
              <a:rPr lang="en-US" altLang="zh-TW" dirty="0">
                <a:solidFill>
                  <a:srgbClr val="0000FF"/>
                </a:solidFill>
                <a:latin typeface="Times New Roman"/>
                <a:ea typeface="標楷體"/>
              </a:rPr>
              <a:t>R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26B05379-B544-5CD9-DD4C-E7C9D9E5E53A}"/>
              </a:ext>
            </a:extLst>
          </p:cNvPr>
          <p:cNvSpPr txBox="1"/>
          <p:nvPr/>
        </p:nvSpPr>
        <p:spPr>
          <a:xfrm>
            <a:off x="3353644" y="442329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再反縮放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D9E84484-2EA0-BD45-97A5-E919758B91EB}"/>
              </a:ext>
            </a:extLst>
          </p:cNvPr>
          <p:cNvSpPr txBox="1"/>
          <p:nvPr/>
        </p:nvSpPr>
        <p:spPr>
          <a:xfrm>
            <a:off x="4571454" y="442329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先反轉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EAFA03B-48D2-71DF-EEDE-B9E5B08756E2}"/>
              </a:ext>
            </a:extLst>
          </p:cNvPr>
          <p:cNvSpPr txBox="1"/>
          <p:nvPr/>
        </p:nvSpPr>
        <p:spPr>
          <a:xfrm>
            <a:off x="1" y="105779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 dirty="0"/>
              <a:t>範例二</a:t>
            </a:r>
            <a:r>
              <a:rPr lang="en-US" altLang="zh-TW" dirty="0"/>
              <a:t>:</a:t>
            </a:r>
            <a:r>
              <a:rPr lang="zh-TW" altLang="en-US" dirty="0"/>
              <a:t>正逆仿射轉換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24937C2D-D22F-9793-B9F5-A977059A18BC}"/>
                  </a:ext>
                </a:extLst>
              </p:cNvPr>
              <p:cNvSpPr txBox="1"/>
              <p:nvPr/>
            </p:nvSpPr>
            <p:spPr>
              <a:xfrm>
                <a:off x="2684272" y="3252508"/>
                <a:ext cx="5250219" cy="1002775"/>
              </a:xfrm>
              <a:prstGeom prst="rect">
                <a:avLst/>
              </a:prstGeom>
              <a:solidFill>
                <a:srgbClr val="CAEEFB"/>
              </a:solidFill>
            </p:spPr>
            <p:txBody>
              <a:bodyPr wrap="none" lIns="0" tIns="0" rIns="0" bIns="0" rtlCol="0">
                <a:spAutoFit/>
              </a:bodyPr>
              <a:lstStyle>
                <a:defPPr>
                  <a:defRPr lang="zh-TW"/>
                </a:defPPr>
                <a:lvl1pPr marR="0" lvl="0" indent="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b="0" i="1" u="none" strike="noStrike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ar-AE" altLang="zh-TW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ar-AE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TW" altLang="ar-AE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ar-AE" altLang="zh-TW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ar-AE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TW" altLang="ar-AE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ar-AE" altLang="zh-TW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r>
                                  <a:rPr lang="ar-AE" altLang="zh-TW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ar-AE" altLang="zh-TW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ar-AE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plcHide m:val="on"/>
                                      <m:mcs>
                                        <m:mc>
                                          <m:mcPr>
                                            <m:count m:val="3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ar-AE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a:rPr lang="ar-AE" altLang="zh-TW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ar-AE" altLang="zh-TW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e>
                                        <m:r>
                                          <a:rPr lang="ar-AE" altLang="zh-TW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ar-AE" altLang="zh-TW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ar-AE" altLang="zh-TW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e>
                                        <m:r>
                                          <a:rPr lang="ar-AE" altLang="zh-TW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ar-AE" altLang="zh-TW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ar-AE" altLang="zh-TW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ar-AE" altLang="zh-TW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ar-AE" altLang="zh-TW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e>
                          </m:groupChr>
                        </m:e>
                        <m:lim>
                          <m:r>
                            <a:rPr lang="zh-TW" altLang="ar-AE"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altLang="zh-TW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ar-AE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altLang="zh-TW">
                                      <a:latin typeface="Cambria Math" panose="02040503050406030204" pitchFamily="18" charset="0"/>
                                    </a:rPr>
                                    <m:t>90</m:t>
                                  </m:r>
                                </m:e>
                                <m:sup>
                                  <m:r>
                                    <a:rPr lang="ar-AE" altLang="zh-TW">
                                      <a:latin typeface="Cambria Math" panose="02040503050406030204" pitchFamily="18" charset="0"/>
                                    </a:rPr>
                                    <m:t>∘</m:t>
                                  </m:r>
                                </m:sup>
                              </m:sSup>
                            </m:e>
                          </m:d>
                        </m:lim>
                      </m:limLow>
                      <m:limLow>
                        <m:limLow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ar-AE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plcHide m:val="on"/>
                                      <m:mcs>
                                        <m:mc>
                                          <m:mcPr>
                                            <m:count m:val="3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ar-AE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a:rPr lang="ar-AE" altLang="zh-TW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e>
                                      <m:e>
                                        <m:r>
                                          <a:rPr lang="ar-AE" altLang="zh-TW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ar-AE" altLang="zh-TW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ar-AE" altLang="zh-TW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ar-AE" altLang="zh-TW"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e>
                                      <m:e>
                                        <m:r>
                                          <a:rPr lang="ar-AE" altLang="zh-TW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ar-AE" altLang="zh-TW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ar-AE" altLang="zh-TW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ar-AE" altLang="zh-TW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e>
                          </m:groupChr>
                        </m:e>
                        <m:lim>
                          <m:r>
                            <a:rPr lang="zh-TW" altLang="ar-AE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lim>
                      </m:limLow>
                      <m:d>
                        <m:dPr>
                          <m:begChr m:val="["/>
                          <m:endChr m:val="]"/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TW" altLang="ar-AE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zh-TW" altLang="ar-AE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altLang="zh-TW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ar-AE" altLang="zh-TW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 altLang="zh-TW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 altLang="zh-TW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ar-AE" altLang="zh-TW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altLang="zh-TW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 altLang="zh-TW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ar-AE" altLang="zh-TW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 altLang="zh-TW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altLang="zh-TW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 altLang="zh-TW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 altLang="zh-TW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TW" altLang="ar-AE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zh-TW" altLang="ar-AE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altLang="zh-TW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altLang="zh-TW" dirty="0"/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24937C2D-D22F-9793-B9F5-A977059A1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4272" y="3252508"/>
                <a:ext cx="5250219" cy="1002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字方塊 25">
            <a:extLst>
              <a:ext uri="{FF2B5EF4-FFF2-40B4-BE49-F238E27FC236}">
                <a16:creationId xmlns:a16="http://schemas.microsoft.com/office/drawing/2014/main" id="{95AC8AF2-EE6E-318A-303E-D32178031632}"/>
              </a:ext>
            </a:extLst>
          </p:cNvPr>
          <p:cNvSpPr txBox="1"/>
          <p:nvPr/>
        </p:nvSpPr>
        <p:spPr>
          <a:xfrm>
            <a:off x="6546883" y="2883176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C00000"/>
                </a:solidFill>
              </a:rPr>
              <a:t>ANS: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D0E14AB-71D0-7BE2-2E81-024E5FD3B0B0}"/>
              </a:ext>
            </a:extLst>
          </p:cNvPr>
          <p:cNvSpPr/>
          <p:nvPr/>
        </p:nvSpPr>
        <p:spPr>
          <a:xfrm>
            <a:off x="6288833" y="3252508"/>
            <a:ext cx="1259632" cy="78169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EBC7DD07-9431-69EF-0C77-234B16C884DE}"/>
              </a:ext>
            </a:extLst>
          </p:cNvPr>
          <p:cNvSpPr txBox="1"/>
          <p:nvPr/>
        </p:nvSpPr>
        <p:spPr>
          <a:xfrm>
            <a:off x="6604141" y="4423290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C00000"/>
                </a:solidFill>
              </a:rPr>
              <a:t>ANS: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3DA19E5-0916-7285-0D24-4E594C74F6BF}"/>
              </a:ext>
            </a:extLst>
          </p:cNvPr>
          <p:cNvSpPr/>
          <p:nvPr/>
        </p:nvSpPr>
        <p:spPr>
          <a:xfrm>
            <a:off x="6346091" y="4792621"/>
            <a:ext cx="1259632" cy="142447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2" name="圖片 31">
            <a:extLst>
              <a:ext uri="{FF2B5EF4-FFF2-40B4-BE49-F238E27FC236}">
                <a16:creationId xmlns:a16="http://schemas.microsoft.com/office/drawing/2014/main" id="{7D84535C-6D7F-AA7E-734D-F4EB8F46F8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2278" y="3092321"/>
            <a:ext cx="3429479" cy="1371791"/>
          </a:xfrm>
          <a:prstGeom prst="rect">
            <a:avLst/>
          </a:prstGeom>
        </p:spPr>
      </p:pic>
      <p:pic>
        <p:nvPicPr>
          <p:cNvPr id="34" name="圖片 33">
            <a:extLst>
              <a:ext uri="{FF2B5EF4-FFF2-40B4-BE49-F238E27FC236}">
                <a16:creationId xmlns:a16="http://schemas.microsoft.com/office/drawing/2014/main" id="{0B2045E3-3BED-9CC2-DD71-359DA00E8A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1064" y="4899658"/>
            <a:ext cx="3448531" cy="1409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688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F4885-3D06-5D49-1DC3-718483A30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BF54BCF-2C5C-4122-2020-1041B212F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16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6EF7E95-8DF0-B910-869F-D63171361ABC}"/>
              </a:ext>
            </a:extLst>
          </p:cNvPr>
          <p:cNvSpPr txBox="1"/>
          <p:nvPr/>
        </p:nvSpPr>
        <p:spPr>
          <a:xfrm>
            <a:off x="0" y="2253673"/>
            <a:ext cx="12192000" cy="16658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sz="4000" dirty="0"/>
              <a:t>第</a:t>
            </a:r>
            <a:r>
              <a:rPr lang="en-US" altLang="zh-TW" sz="4000" dirty="0"/>
              <a:t>3</a:t>
            </a:r>
            <a:r>
              <a:rPr lang="zh-TW" altLang="en-US" sz="4000" dirty="0"/>
              <a:t>章</a:t>
            </a:r>
            <a:r>
              <a:rPr lang="en-US" altLang="zh-TW" sz="4000" dirty="0"/>
              <a:t>:</a:t>
            </a:r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直方圖等化、相關性、卷積</a:t>
            </a:r>
            <a:endParaRPr lang="en-US" altLang="zh-TW" sz="4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zh-TW" sz="3200" dirty="0"/>
              <a:t>Chapter 3: Histogram Equalization, Correlation, and Convolution</a:t>
            </a:r>
            <a:endParaRPr lang="en-US" altLang="zh-TW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9821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8571B17-172A-5F84-6FE4-086C391DB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17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BFD16C4-4E66-887E-4E8F-E2C2EDADF940}"/>
              </a:ext>
            </a:extLst>
          </p:cNvPr>
          <p:cNvSpPr txBox="1"/>
          <p:nvPr/>
        </p:nvSpPr>
        <p:spPr>
          <a:xfrm>
            <a:off x="0" y="33206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 dirty="0">
                <a:latin typeface="+mj-lt"/>
                <a:ea typeface="標楷體" panose="03000509000000000000" pitchFamily="65" charset="-120"/>
              </a:rPr>
              <a:t>符號定義</a:t>
            </a:r>
            <a:endParaRPr lang="en-US" altLang="zh-TW" sz="4000" dirty="0">
              <a:latin typeface="+mj-lt"/>
              <a:ea typeface="標楷體" panose="03000509000000000000" pitchFamily="65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C59CF6CA-FE3F-4029-1018-A432C62D9B3D}"/>
                  </a:ext>
                </a:extLst>
              </p:cNvPr>
              <p:cNvSpPr txBox="1"/>
              <p:nvPr/>
            </p:nvSpPr>
            <p:spPr>
              <a:xfrm>
                <a:off x="550753" y="1056866"/>
                <a:ext cx="10566903" cy="52386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zh-TW" altLang="ar-AE" sz="240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TW" sz="2400" dirty="0">
                    <a:latin typeface="Cambria Math" panose="02040503050406030204" pitchFamily="18" charset="0"/>
                  </a:rPr>
                  <a:t>= </a:t>
                </a:r>
                <a:r>
                  <a:rPr lang="zh-TW" altLang="en-US" sz="2400" dirty="0">
                    <a:latin typeface="Cambria Math" panose="02040503050406030204" pitchFamily="18" charset="0"/>
                  </a:rPr>
                  <a:t>第幾個灰階 </a:t>
                </a:r>
                <a:r>
                  <a:rPr lang="en-US" altLang="zh-TW" sz="2400" dirty="0">
                    <a:latin typeface="Cambria Math" panose="02040503050406030204" pitchFamily="18" charset="0"/>
                  </a:rPr>
                  <a:t>(which gray level)</a:t>
                </a: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ar-AE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zh-TW" altLang="ar-AE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TW" altLang="ar-AE" sz="2400" dirty="0"/>
                  <a:t>：</a:t>
                </a:r>
                <a:r>
                  <a:rPr lang="zh-TW" altLang="en-US" sz="2400" dirty="0"/>
                  <a:t>原始灰階值 </a:t>
                </a:r>
                <a:r>
                  <a:rPr lang="en-US" altLang="zh-TW" sz="2400" dirty="0"/>
                  <a:t>(original gray level)</a:t>
                </a: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ar-AE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zh-TW" altLang="ar-AE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TW" altLang="ar-AE" sz="2400" dirty="0"/>
                  <a:t>：</a:t>
                </a:r>
                <a:r>
                  <a:rPr lang="zh-TW" altLang="en-US" sz="2400" dirty="0"/>
                  <a:t>該灰階出現的次數 </a:t>
                </a:r>
                <a:r>
                  <a:rPr lang="en-US" altLang="zh-TW" sz="2400" dirty="0"/>
                  <a:t>(number of pixels with gray level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ar-AE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zh-TW" altLang="ar-AE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sz="2400" dirty="0"/>
                  <a:t>)</a:t>
                </a:r>
                <a:endParaRPr lang="ar-AE" altLang="zh-TW" sz="2400" dirty="0"/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zh-TW" altLang="ar-AE" sz="24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TW" altLang="ar-AE" sz="2400" dirty="0"/>
                  <a:t>：</a:t>
                </a:r>
                <a:r>
                  <a:rPr lang="zh-TW" altLang="en-US" sz="2400" dirty="0"/>
                  <a:t>總像素數 </a:t>
                </a:r>
                <a:r>
                  <a:rPr lang="en-US" altLang="zh-TW" sz="2400" dirty="0"/>
                  <a:t>(total number of pixels)</a:t>
                </a: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zh-TW" altLang="en-US" sz="2400" i="1">
                        <a:latin typeface="Cambria Math" panose="02040503050406030204" pitchFamily="18" charset="0"/>
                      </a:rPr>
                      <m:t>𝑃𝑀𝐹</m:t>
                    </m:r>
                    <m:d>
                      <m:dPr>
                        <m:ctrlPr>
                          <a:rPr lang="ar-AE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zh-TW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ar-AE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zh-TW" altLang="ar-AE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zh-TW" altLang="ar-AE" sz="2400" dirty="0"/>
                  <a:t>：</a:t>
                </a:r>
                <a:r>
                  <a:rPr lang="zh-TW" altLang="en-US" sz="2400" dirty="0"/>
                  <a:t>機率質量函數 </a:t>
                </a:r>
                <a:r>
                  <a:rPr lang="en-US" altLang="zh-TW" sz="24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altLang="zh-TW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altLang="zh-TW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ar-AE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zh-TW" altLang="ar-AE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r>
                          <a:rPr lang="zh-TW" altLang="ar-AE" sz="2400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r>
                  <a:rPr lang="ar-AE" altLang="zh-TW" sz="2400" dirty="0"/>
                  <a:t> </a:t>
                </a:r>
                <a:r>
                  <a:rPr lang="en-US" altLang="zh-TW" sz="2400" dirty="0"/>
                  <a:t>(probability of gray level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ar-AE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zh-TW" altLang="ar-AE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sz="2400" dirty="0"/>
                  <a:t>)</a:t>
                </a:r>
                <a:endParaRPr lang="ar-AE" altLang="zh-TW" sz="2400" dirty="0"/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zh-TW" altLang="ar-AE" sz="2400" i="1">
                        <a:latin typeface="Cambria Math" panose="02040503050406030204" pitchFamily="18" charset="0"/>
                      </a:rPr>
                      <m:t>𝐶𝐷𝐹</m:t>
                    </m:r>
                    <m:d>
                      <m:dPr>
                        <m:ctrlPr>
                          <a:rPr lang="ar-AE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zh-TW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ar-AE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zh-TW" altLang="ar-AE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zh-TW" altLang="ar-AE" sz="2400" dirty="0"/>
                  <a:t>：</a:t>
                </a:r>
                <a:r>
                  <a:rPr lang="zh-TW" altLang="en-US" sz="2400" dirty="0"/>
                  <a:t>累積分布函數 </a:t>
                </a:r>
                <a:r>
                  <a:rPr lang="en-US" altLang="zh-TW" sz="2400" dirty="0"/>
                  <a:t>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grow m:val="on"/>
                        <m:ctrlPr>
                          <a:rPr lang="ar-AE" altLang="zh-TW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TW" altLang="ar-AE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 altLang="zh-TW" sz="2400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 altLang="zh-TW" sz="2400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zh-TW" altLang="ar-AE" sz="24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r>
                          <a:rPr lang="zh-TW" altLang="ar-AE" sz="2400" i="1">
                            <a:latin typeface="Cambria Math" panose="02040503050406030204" pitchFamily="18" charset="0"/>
                          </a:rPr>
                          <m:t>𝑃𝑀𝐹</m:t>
                        </m:r>
                        <m:d>
                          <m:dPr>
                            <m:ctrlPr>
                              <a:rPr lang="ar-AE" altLang="zh-TW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sz="24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zh-TW" altLang="ar-AE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400" dirty="0"/>
                  <a:t>(cumulative probability)</a:t>
                </a: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2400" i="0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a:rPr lang="ar-AE" altLang="zh-TW" sz="2400" i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2400" i="0"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</m:oMath>
                </a14:m>
                <a:r>
                  <a:rPr lang="zh-TW" altLang="ar-AE" sz="2400" dirty="0"/>
                  <a:t>：</a:t>
                </a:r>
                <a:r>
                  <a:rPr lang="zh-TW" altLang="en-US" sz="2400" dirty="0"/>
                  <a:t>輸出灰階範圍的最大與最小值</a:t>
                </a:r>
                <a:r>
                  <a:rPr lang="en-US" altLang="zh-TW" sz="2400" dirty="0"/>
                  <a:t>(</a:t>
                </a:r>
                <a:r>
                  <a:rPr lang="de-DE" altLang="zh-TW" sz="2400" dirty="0"/>
                  <a:t>max &amp; min output gray levels)</a:t>
                </a: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ar-AE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zh-TW" altLang="ar-AE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TW" altLang="ar-AE" sz="2400" dirty="0"/>
                  <a:t>：</a:t>
                </a:r>
                <a:r>
                  <a:rPr lang="zh-TW" altLang="en-US" sz="2400" dirty="0"/>
                  <a:t>等化後的新灰階值 </a:t>
                </a:r>
                <a:r>
                  <a:rPr lang="en-US" altLang="zh-TW" sz="2400" dirty="0"/>
                  <a:t>(new gray level after equalization)</a:t>
                </a: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ar-AE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zh-TW" altLang="ar-AE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 altLang="zh-TW" sz="24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TW" altLang="ar-AE" sz="2400" i="1">
                        <a:latin typeface="Cambria Math" panose="02040503050406030204" pitchFamily="18" charset="0"/>
                      </a:rPr>
                      <m:t>𝑟𝑜𝑢𝑛𝑑</m:t>
                    </m:r>
                    <m:r>
                      <a:rPr lang="ar-AE" altLang="zh-TW" sz="2400" i="0">
                        <a:latin typeface="Cambria Math" panose="02040503050406030204" pitchFamily="18" charset="0"/>
                      </a:rPr>
                      <m:t>(</m:t>
                    </m:r>
                    <m:r>
                      <a:rPr lang="zh-TW" altLang="ar-AE" sz="2400" i="1">
                        <a:latin typeface="Cambria Math" panose="02040503050406030204" pitchFamily="18" charset="0"/>
                      </a:rPr>
                      <m:t>𝐶𝐷𝐹</m:t>
                    </m:r>
                    <m:d>
                      <m:dPr>
                        <m:ctrlPr>
                          <a:rPr lang="ar-AE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zh-TW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ar-AE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zh-TW" altLang="ar-AE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 altLang="zh-TW" sz="2400" i="0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ar-AE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zh-TW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2400" i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sub>
                        </m:sSub>
                        <m:r>
                          <a:rPr lang="ar-AE" altLang="zh-TW" sz="2400" i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ar-AE" altLang="zh-TW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2400" i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sub>
                        </m:sSub>
                      </m:e>
                    </m:d>
                    <m:r>
                      <a:rPr lang="ar-AE" altLang="zh-TW" sz="2400" i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2400" i="0"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  <m:r>
                      <a:rPr lang="ar-AE" altLang="zh-TW" sz="2400" i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ar-AE" altLang="zh-TW" sz="2400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C59CF6CA-FE3F-4029-1018-A432C62D9B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753" y="1056866"/>
                <a:ext cx="10566903" cy="5238678"/>
              </a:xfrm>
              <a:prstGeom prst="rect">
                <a:avLst/>
              </a:prstGeom>
              <a:blipFill>
                <a:blip r:embed="rId2"/>
                <a:stretch>
                  <a:fillRect l="-750" b="-139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03153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F6C17-94B5-9DEA-5965-D851EB04D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FDD98BD-5C21-C742-6277-968AA6317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18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88FF0388-2115-438A-B122-FF6E2F7A5A0A}"/>
                  </a:ext>
                </a:extLst>
              </p:cNvPr>
              <p:cNvSpPr txBox="1"/>
              <p:nvPr/>
            </p:nvSpPr>
            <p:spPr>
              <a:xfrm>
                <a:off x="374659" y="956909"/>
                <a:ext cx="11168509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71500" indent="-571500">
                  <a:buFont typeface="Wingdings" panose="05000000000000000000" pitchFamily="2" charset="2"/>
                  <a:buChar char="n"/>
                </a:pPr>
                <a:r>
                  <a:rPr lang="zh-TW" altLang="en-US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一張</a:t>
                </a:r>
                <a:r>
                  <a:rPr lang="en-US" altLang="zh-TW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4</a:t>
                </a:r>
                <a:r>
                  <a:rPr lang="zh-TW" altLang="en-US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階的</a:t>
                </a:r>
                <a:r>
                  <a:rPr lang="en-US" altLang="zh-TW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3×3=9</a:t>
                </a:r>
                <a:r>
                  <a:rPr lang="zh-TW" altLang="en-US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個像素的灰階影像</a:t>
                </a:r>
                <a:endParaRPr lang="en-US" altLang="zh-TW" sz="32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571500" indent="-571500">
                  <a:buFont typeface="Wingdings" panose="05000000000000000000" pitchFamily="2" charset="2"/>
                  <a:buChar char="n"/>
                </a:pPr>
                <a:r>
                  <a:rPr lang="zh-TW" altLang="en-US" sz="3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運用直方圖等化</a:t>
                </a:r>
                <a:r>
                  <a:rPr lang="en-US" altLang="zh-TW" sz="3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(HE)</a:t>
                </a:r>
                <a:r>
                  <a:rPr lang="zh-TW" altLang="en-US" sz="3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，找出轉換後的像素值</a:t>
                </a:r>
                <a:r>
                  <a:rPr lang="en-US" altLang="zh-TW" sz="3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s=T(r)</a:t>
                </a:r>
                <a:r>
                  <a:rPr lang="zh-TW" altLang="en-US" sz="3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。</a:t>
                </a:r>
                <a:endParaRPr lang="en-US" altLang="zh-TW" sz="32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571500" indent="-571500">
                  <a:lnSpc>
                    <a:spcPct val="150000"/>
                  </a:lnSpc>
                  <a:buFont typeface="Wingdings" panose="05000000000000000000" pitchFamily="2" charset="2"/>
                  <a:buChar char="n"/>
                </a:pPr>
                <a:r>
                  <a:rPr lang="en-US" altLang="zh-TW" sz="3200" dirty="0">
                    <a:solidFill>
                      <a:schemeClr val="accent5">
                        <a:lumMod val="75000"/>
                      </a:schemeClr>
                    </a:solidFill>
                  </a:rPr>
                  <a:t>A 4-level grayscale image with </a:t>
                </a:r>
                <a14:m>
                  <m:oMath xmlns:m="http://schemas.openxmlformats.org/officeDocument/2006/math">
                    <m:r>
                      <a:rPr lang="en-US" altLang="zh-TW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3×3=9</m:t>
                    </m:r>
                  </m:oMath>
                </a14:m>
                <a:r>
                  <a:rPr lang="zh-TW" altLang="en-US" sz="3200" dirty="0">
                    <a:solidFill>
                      <a:schemeClr val="accent5">
                        <a:lumMod val="75000"/>
                      </a:schemeClr>
                    </a:solidFill>
                  </a:rPr>
                  <a:t> </a:t>
                </a:r>
                <a:r>
                  <a:rPr lang="en-US" altLang="zh-TW" sz="3200" dirty="0">
                    <a:solidFill>
                      <a:schemeClr val="accent5">
                        <a:lumMod val="75000"/>
                      </a:schemeClr>
                    </a:solidFill>
                  </a:rPr>
                  <a:t>pixels is given.</a:t>
                </a:r>
              </a:p>
              <a:p>
                <a:pPr marL="571500" indent="-571500">
                  <a:buFont typeface="Wingdings" panose="05000000000000000000" pitchFamily="2" charset="2"/>
                  <a:buChar char="n"/>
                </a:pPr>
                <a:r>
                  <a:rPr lang="en-US" altLang="zh-TW" sz="3200" dirty="0">
                    <a:solidFill>
                      <a:schemeClr val="accent5">
                        <a:lumMod val="75000"/>
                      </a:schemeClr>
                    </a:solidFill>
                  </a:rPr>
                  <a:t>Find the equalized values </a:t>
                </a:r>
                <a14:m>
                  <m:oMath xmlns:m="http://schemas.openxmlformats.org/officeDocument/2006/math">
                    <m:r>
                      <a:rPr lang="zh-TW" altLang="en-US" sz="3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TW" sz="3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TW" altLang="en-US" sz="3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ar-AE" altLang="zh-TW" sz="3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ar-AE" sz="3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ar-AE" altLang="zh-TW" sz="3200" dirty="0">
                    <a:solidFill>
                      <a:schemeClr val="accent5">
                        <a:lumMod val="75000"/>
                      </a:schemeClr>
                    </a:solidFill>
                  </a:rPr>
                  <a:t>.</a:t>
                </a:r>
                <a:endParaRPr lang="en-US" altLang="zh-TW" sz="3200" dirty="0">
                  <a:solidFill>
                    <a:schemeClr val="accent5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88FF0388-2115-438A-B122-FF6E2F7A5A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659" y="956909"/>
                <a:ext cx="11168509" cy="2308324"/>
              </a:xfrm>
              <a:prstGeom prst="rect">
                <a:avLst/>
              </a:prstGeom>
              <a:blipFill>
                <a:blip r:embed="rId2"/>
                <a:stretch>
                  <a:fillRect l="-1200" t="-3694" b="-738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字方塊 6">
            <a:extLst>
              <a:ext uri="{FF2B5EF4-FFF2-40B4-BE49-F238E27FC236}">
                <a16:creationId xmlns:a16="http://schemas.microsoft.com/office/drawing/2014/main" id="{40320251-78A8-D41B-0D4B-819FB4A3EF9C}"/>
              </a:ext>
            </a:extLst>
          </p:cNvPr>
          <p:cNvSpPr txBox="1"/>
          <p:nvPr/>
        </p:nvSpPr>
        <p:spPr>
          <a:xfrm>
            <a:off x="0" y="20603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>
                <a:ea typeface="標楷體" panose="03000509000000000000" pitchFamily="65" charset="-120"/>
              </a:rPr>
              <a:t>EX1:</a:t>
            </a:r>
            <a:r>
              <a:rPr lang="zh-TW" altLang="en-US" sz="4000" dirty="0">
                <a:ea typeface="標楷體" panose="03000509000000000000" pitchFamily="65" charset="-120"/>
              </a:rPr>
              <a:t>直方圖等化</a:t>
            </a:r>
            <a:r>
              <a:rPr lang="en-US" altLang="zh-TW" sz="4000" dirty="0">
                <a:ea typeface="標楷體" panose="03000509000000000000" pitchFamily="65" charset="-120"/>
              </a:rPr>
              <a:t>(H</a:t>
            </a:r>
            <a:r>
              <a:rPr lang="en-US" altLang="zh-TW" sz="4000" dirty="0"/>
              <a:t>istogram Equalization</a:t>
            </a:r>
            <a:r>
              <a:rPr lang="en-US" altLang="zh-TW" sz="4000" dirty="0">
                <a:ea typeface="標楷體" panose="03000509000000000000" pitchFamily="65" charset="-120"/>
              </a:rPr>
              <a:t>)</a:t>
            </a:r>
            <a:endParaRPr lang="en-US" altLang="zh-TW" sz="4000" dirty="0">
              <a:solidFill>
                <a:srgbClr val="FF0000"/>
              </a:solidFill>
              <a:latin typeface="+mj-lt"/>
              <a:ea typeface="標楷體" panose="03000509000000000000" pitchFamily="65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6DDFE0A6-D20B-9755-66A7-F180CD9D591F}"/>
                  </a:ext>
                </a:extLst>
              </p:cNvPr>
              <p:cNvSpPr txBox="1"/>
              <p:nvPr/>
            </p:nvSpPr>
            <p:spPr>
              <a:xfrm>
                <a:off x="604321" y="4340358"/>
                <a:ext cx="6097508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71500" indent="-57150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3200" dirty="0">
                    <a:solidFill>
                      <a:schemeClr val="tx1"/>
                    </a:solidFill>
                  </a:rPr>
                  <a:t>= 4  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3200" dirty="0">
                    <a:solidFill>
                      <a:schemeClr val="tx1"/>
                    </a:solidFill>
                  </a:rPr>
                  <a:t>= 2  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TW" sz="3200" dirty="0">
                    <a:solidFill>
                      <a:schemeClr val="tx1"/>
                    </a:solidFill>
                  </a:rPr>
                  <a:t>= 2  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TW" sz="3200" dirty="0">
                    <a:solidFill>
                      <a:schemeClr val="tx1"/>
                    </a:solidFill>
                  </a:rPr>
                  <a:t>= 1</a:t>
                </a: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6DDFE0A6-D20B-9755-66A7-F180CD9D59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321" y="4340358"/>
                <a:ext cx="6097508" cy="584775"/>
              </a:xfrm>
              <a:prstGeom prst="rect">
                <a:avLst/>
              </a:prstGeom>
              <a:blipFill>
                <a:blip r:embed="rId3"/>
                <a:stretch>
                  <a:fillRect t="-14583" b="-322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E65A38B4-3CC6-E8B7-D527-B408EB2D53DE}"/>
                  </a:ext>
                </a:extLst>
              </p:cNvPr>
              <p:cNvSpPr txBox="1"/>
              <p:nvPr/>
            </p:nvSpPr>
            <p:spPr>
              <a:xfrm>
                <a:off x="604321" y="3707110"/>
                <a:ext cx="6097508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71500" indent="-57150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3200" dirty="0">
                    <a:solidFill>
                      <a:schemeClr val="tx1"/>
                    </a:solidFill>
                  </a:rPr>
                  <a:t> = 0  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3200" dirty="0">
                    <a:solidFill>
                      <a:schemeClr val="tx1"/>
                    </a:solidFill>
                  </a:rPr>
                  <a:t>= 1   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TW" sz="3200" dirty="0">
                    <a:solidFill>
                      <a:schemeClr val="tx1"/>
                    </a:solidFill>
                  </a:rPr>
                  <a:t>= 2  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TW" sz="3200" dirty="0">
                    <a:solidFill>
                      <a:schemeClr val="tx1"/>
                    </a:solidFill>
                  </a:rPr>
                  <a:t> = </a:t>
                </a:r>
                <a:r>
                  <a:rPr lang="en-US" altLang="zh-TW" sz="3200" dirty="0"/>
                  <a:t>3</a:t>
                </a:r>
                <a:endParaRPr lang="en-US" altLang="zh-TW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E65A38B4-3CC6-E8B7-D527-B408EB2D53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321" y="3707110"/>
                <a:ext cx="6097508" cy="584775"/>
              </a:xfrm>
              <a:prstGeom prst="rect">
                <a:avLst/>
              </a:prstGeom>
              <a:blipFill>
                <a:blip r:embed="rId4"/>
                <a:stretch>
                  <a:fillRect t="-14583" b="-322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CB2C39E7-0BED-10E6-6BD1-37081004BF37}"/>
              </a:ext>
            </a:extLst>
          </p:cNvPr>
          <p:cNvCxnSpPr/>
          <p:nvPr/>
        </p:nvCxnSpPr>
        <p:spPr>
          <a:xfrm>
            <a:off x="2127565" y="4835049"/>
            <a:ext cx="0" cy="4764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707BEBC5-7B6D-5736-DFC0-5366A25D7BA1}"/>
                  </a:ext>
                </a:extLst>
              </p:cNvPr>
              <p:cNvSpPr txBox="1"/>
              <p:nvPr/>
            </p:nvSpPr>
            <p:spPr>
              <a:xfrm>
                <a:off x="789385" y="5419824"/>
                <a:ext cx="2676359" cy="707886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TW" altLang="en-US" sz="2000" dirty="0"/>
                  <a:t> </a:t>
                </a:r>
                <a:r>
                  <a:rPr lang="en-US" altLang="zh-TW" sz="2000" dirty="0"/>
                  <a:t>:</a:t>
                </a:r>
                <a:r>
                  <a:rPr lang="zh-TW" altLang="en-US" sz="2000" dirty="0"/>
                  <a:t> 總共有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4</a:t>
                </a:r>
                <a:r>
                  <a:rPr lang="zh-TW" altLang="en-US" sz="2000" dirty="0">
                    <a:solidFill>
                      <a:srgbClr val="FF0000"/>
                    </a:solidFill>
                  </a:rPr>
                  <a:t>個 </a:t>
                </a:r>
                <a:endParaRPr lang="en-US" altLang="zh-TW" sz="2000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US" altLang="zh-TW" sz="2000" dirty="0"/>
                  <a:t>(number of pixels = 4)</a:t>
                </a:r>
                <a:r>
                  <a:rPr lang="zh-TW" altLang="en-US" sz="2000" dirty="0"/>
                  <a:t> </a:t>
                </a:r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707BEBC5-7B6D-5736-DFC0-5366A25D7B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385" y="5419824"/>
                <a:ext cx="2676359" cy="707886"/>
              </a:xfrm>
              <a:prstGeom prst="rect">
                <a:avLst/>
              </a:prstGeom>
              <a:blipFill>
                <a:blip r:embed="rId5"/>
                <a:stretch>
                  <a:fillRect t="-4310" b="-146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表格 14">
                <a:extLst>
                  <a:ext uri="{FF2B5EF4-FFF2-40B4-BE49-F238E27FC236}">
                    <a16:creationId xmlns:a16="http://schemas.microsoft.com/office/drawing/2014/main" id="{F57D4E8F-443B-DC55-E769-8CE255C82AE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9255786" y="3707294"/>
              <a:ext cx="2743200" cy="253512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14400">
                      <a:extLst>
                        <a:ext uri="{9D8B030D-6E8A-4147-A177-3AD203B41FA5}">
                          <a16:colId xmlns:a16="http://schemas.microsoft.com/office/drawing/2014/main" val="2795431153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3482286443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751386596"/>
                        </a:ext>
                      </a:extLst>
                    </a:gridCol>
                  </a:tblGrid>
                  <a:tr h="845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3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TW" sz="28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oMath>
                          </a14:m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TW" sz="28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oMath>
                          </a14:m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79931116"/>
                      </a:ext>
                    </a:extLst>
                  </a:tr>
                  <a:tr h="84504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TW" sz="28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oMath>
                          </a14:m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1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2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05600763"/>
                      </a:ext>
                    </a:extLst>
                  </a:tr>
                  <a:tr h="84504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0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1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TW" sz="28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oMath>
                          </a14:m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846515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表格 14">
                <a:extLst>
                  <a:ext uri="{FF2B5EF4-FFF2-40B4-BE49-F238E27FC236}">
                    <a16:creationId xmlns:a16="http://schemas.microsoft.com/office/drawing/2014/main" id="{F57D4E8F-443B-DC55-E769-8CE255C82AE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10057895"/>
                  </p:ext>
                </p:extLst>
              </p:nvPr>
            </p:nvGraphicFramePr>
            <p:xfrm>
              <a:off x="9255786" y="3707294"/>
              <a:ext cx="2743200" cy="253512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14400">
                      <a:extLst>
                        <a:ext uri="{9D8B030D-6E8A-4147-A177-3AD203B41FA5}">
                          <a16:colId xmlns:a16="http://schemas.microsoft.com/office/drawing/2014/main" val="2795431153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3482286443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751386596"/>
                        </a:ext>
                      </a:extLst>
                    </a:gridCol>
                  </a:tblGrid>
                  <a:tr h="845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3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100000" t="-719" r="-100662" b="-201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01333" t="-719" r="-1333" b="-2014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79931116"/>
                      </a:ext>
                    </a:extLst>
                  </a:tr>
                  <a:tr h="845042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667" t="-100719" r="-202000" b="-101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1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2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05600763"/>
                      </a:ext>
                    </a:extLst>
                  </a:tr>
                  <a:tr h="84504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0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1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01333" t="-200719" r="-1333" b="-14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8465154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表格 15">
                <a:extLst>
                  <a:ext uri="{FF2B5EF4-FFF2-40B4-BE49-F238E27FC236}">
                    <a16:creationId xmlns:a16="http://schemas.microsoft.com/office/drawing/2014/main" id="{A70C457B-23DC-6A81-E3CE-C5A5D7C13BF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429596" y="3707110"/>
              <a:ext cx="2743200" cy="253512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14400">
                      <a:extLst>
                        <a:ext uri="{9D8B030D-6E8A-4147-A177-3AD203B41FA5}">
                          <a16:colId xmlns:a16="http://schemas.microsoft.com/office/drawing/2014/main" val="2795431153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3482286443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751386596"/>
                        </a:ext>
                      </a:extLst>
                    </a:gridCol>
                  </a:tblGrid>
                  <a:tr h="845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280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zh-TW" sz="28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280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zh-TW" sz="28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280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zh-TW" sz="28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79931116"/>
                      </a:ext>
                    </a:extLst>
                  </a:tr>
                  <a:tr h="84504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280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zh-TW" sz="28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280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zh-TW" sz="28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280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zh-TW" sz="28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05600763"/>
                      </a:ext>
                    </a:extLst>
                  </a:tr>
                  <a:tr h="84504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280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zh-TW" sz="28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280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zh-TW" sz="28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280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zh-TW" sz="28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846515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表格 15">
                <a:extLst>
                  <a:ext uri="{FF2B5EF4-FFF2-40B4-BE49-F238E27FC236}">
                    <a16:creationId xmlns:a16="http://schemas.microsoft.com/office/drawing/2014/main" id="{A70C457B-23DC-6A81-E3CE-C5A5D7C13BF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51560444"/>
                  </p:ext>
                </p:extLst>
              </p:nvPr>
            </p:nvGraphicFramePr>
            <p:xfrm>
              <a:off x="6429596" y="3707110"/>
              <a:ext cx="2743200" cy="253512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14400">
                      <a:extLst>
                        <a:ext uri="{9D8B030D-6E8A-4147-A177-3AD203B41FA5}">
                          <a16:colId xmlns:a16="http://schemas.microsoft.com/office/drawing/2014/main" val="2795431153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3482286443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751386596"/>
                        </a:ext>
                      </a:extLst>
                    </a:gridCol>
                  </a:tblGrid>
                  <a:tr h="845042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667" t="-719" r="-202000" b="-201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00000" t="-719" r="-100662" b="-201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201333" t="-719" r="-1333" b="-2014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79931116"/>
                      </a:ext>
                    </a:extLst>
                  </a:tr>
                  <a:tr h="845042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667" t="-101449" r="-202000" b="-1028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00000" t="-101449" r="-100662" b="-1028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201333" t="-101449" r="-1333" b="-1028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05600763"/>
                      </a:ext>
                    </a:extLst>
                  </a:tr>
                  <a:tr h="845042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667" t="-200000" r="-202000" b="-21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00000" t="-200000" r="-100662" b="-21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201333" t="-200000" r="-1333" b="-21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8465154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7" name="矩形 16">
            <a:extLst>
              <a:ext uri="{FF2B5EF4-FFF2-40B4-BE49-F238E27FC236}">
                <a16:creationId xmlns:a16="http://schemas.microsoft.com/office/drawing/2014/main" id="{5FD82656-912F-BE3E-79C0-5120752F6CB5}"/>
              </a:ext>
            </a:extLst>
          </p:cNvPr>
          <p:cNvSpPr/>
          <p:nvPr/>
        </p:nvSpPr>
        <p:spPr>
          <a:xfrm>
            <a:off x="1213164" y="3429000"/>
            <a:ext cx="4771177" cy="330924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bg1"/>
              </a:gs>
            </a:gsLst>
            <a:lin ang="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92368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1D5F7-5C14-C01D-6AEB-8A0249CC3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F27AAA3-38A7-CB06-74DE-B8170B02A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19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BE765A27-366E-C561-A5DD-CBFC395E443D}"/>
                  </a:ext>
                </a:extLst>
              </p:cNvPr>
              <p:cNvSpPr txBox="1"/>
              <p:nvPr/>
            </p:nvSpPr>
            <p:spPr>
              <a:xfrm>
                <a:off x="374659" y="956909"/>
                <a:ext cx="11168509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71500" indent="-571500">
                  <a:buFont typeface="Wingdings" panose="05000000000000000000" pitchFamily="2" charset="2"/>
                  <a:buChar char="n"/>
                </a:pPr>
                <a:r>
                  <a:rPr lang="zh-TW" altLang="en-US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一張</a:t>
                </a:r>
                <a:r>
                  <a:rPr lang="en-US" altLang="zh-TW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4</a:t>
                </a:r>
                <a:r>
                  <a:rPr lang="zh-TW" altLang="en-US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階的</a:t>
                </a:r>
                <a:r>
                  <a:rPr lang="en-US" altLang="zh-TW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3×3=9</a:t>
                </a:r>
                <a:r>
                  <a:rPr lang="zh-TW" altLang="en-US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個像素的灰階影像</a:t>
                </a:r>
                <a:endParaRPr lang="en-US" altLang="zh-TW" sz="32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571500" indent="-571500">
                  <a:buFont typeface="Wingdings" panose="05000000000000000000" pitchFamily="2" charset="2"/>
                  <a:buChar char="n"/>
                </a:pPr>
                <a:r>
                  <a:rPr lang="zh-TW" altLang="en-US" sz="3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運用直方圖等化</a:t>
                </a:r>
                <a:r>
                  <a:rPr lang="en-US" altLang="zh-TW" sz="3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(HE)</a:t>
                </a:r>
                <a:r>
                  <a:rPr lang="zh-TW" altLang="en-US" sz="3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，找出轉換後的像素值</a:t>
                </a:r>
                <a:r>
                  <a:rPr lang="en-US" altLang="zh-TW" sz="3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s=T(r)</a:t>
                </a:r>
                <a:r>
                  <a:rPr lang="zh-TW" altLang="en-US" sz="3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。</a:t>
                </a:r>
                <a:endParaRPr lang="en-US" altLang="zh-TW" sz="32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571500" indent="-571500">
                  <a:lnSpc>
                    <a:spcPct val="150000"/>
                  </a:lnSpc>
                  <a:buFont typeface="Wingdings" panose="05000000000000000000" pitchFamily="2" charset="2"/>
                  <a:buChar char="n"/>
                </a:pPr>
                <a:r>
                  <a:rPr lang="en-US" altLang="zh-TW" sz="3200" dirty="0">
                    <a:solidFill>
                      <a:schemeClr val="accent5">
                        <a:lumMod val="75000"/>
                      </a:schemeClr>
                    </a:solidFill>
                  </a:rPr>
                  <a:t>A 4-level grayscale image with </a:t>
                </a:r>
                <a14:m>
                  <m:oMath xmlns:m="http://schemas.openxmlformats.org/officeDocument/2006/math">
                    <m:r>
                      <a:rPr lang="en-US" altLang="zh-TW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3×3=9</m:t>
                    </m:r>
                  </m:oMath>
                </a14:m>
                <a:r>
                  <a:rPr lang="zh-TW" altLang="en-US" sz="3200" dirty="0">
                    <a:solidFill>
                      <a:schemeClr val="accent5">
                        <a:lumMod val="75000"/>
                      </a:schemeClr>
                    </a:solidFill>
                  </a:rPr>
                  <a:t> </a:t>
                </a:r>
                <a:r>
                  <a:rPr lang="en-US" altLang="zh-TW" sz="3200" dirty="0">
                    <a:solidFill>
                      <a:schemeClr val="accent5">
                        <a:lumMod val="75000"/>
                      </a:schemeClr>
                    </a:solidFill>
                  </a:rPr>
                  <a:t>pixels is given.</a:t>
                </a:r>
              </a:p>
              <a:p>
                <a:pPr marL="571500" indent="-571500">
                  <a:buFont typeface="Wingdings" panose="05000000000000000000" pitchFamily="2" charset="2"/>
                  <a:buChar char="n"/>
                </a:pPr>
                <a:r>
                  <a:rPr lang="en-US" altLang="zh-TW" sz="3200" dirty="0">
                    <a:solidFill>
                      <a:schemeClr val="accent5">
                        <a:lumMod val="75000"/>
                      </a:schemeClr>
                    </a:solidFill>
                  </a:rPr>
                  <a:t>Find the equalized values </a:t>
                </a:r>
                <a14:m>
                  <m:oMath xmlns:m="http://schemas.openxmlformats.org/officeDocument/2006/math">
                    <m:r>
                      <a:rPr lang="zh-TW" altLang="en-US" sz="3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TW" sz="3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TW" altLang="en-US" sz="3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ar-AE" altLang="zh-TW" sz="3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ar-AE" sz="3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ar-AE" altLang="zh-TW" sz="3200" dirty="0">
                    <a:solidFill>
                      <a:schemeClr val="accent5">
                        <a:lumMod val="75000"/>
                      </a:schemeClr>
                    </a:solidFill>
                  </a:rPr>
                  <a:t>.</a:t>
                </a:r>
                <a:endParaRPr lang="en-US" altLang="zh-TW" sz="3200" dirty="0">
                  <a:solidFill>
                    <a:schemeClr val="accent5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BE765A27-366E-C561-A5DD-CBFC395E44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659" y="956909"/>
                <a:ext cx="11168509" cy="2308324"/>
              </a:xfrm>
              <a:prstGeom prst="rect">
                <a:avLst/>
              </a:prstGeom>
              <a:blipFill>
                <a:blip r:embed="rId2"/>
                <a:stretch>
                  <a:fillRect l="-1200" t="-3694" b="-738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>
            <a:extLst>
              <a:ext uri="{FF2B5EF4-FFF2-40B4-BE49-F238E27FC236}">
                <a16:creationId xmlns:a16="http://schemas.microsoft.com/office/drawing/2014/main" id="{2F135FA3-0AB3-4E58-E255-E7B7CF9192EE}"/>
              </a:ext>
            </a:extLst>
          </p:cNvPr>
          <p:cNvSpPr/>
          <p:nvPr/>
        </p:nvSpPr>
        <p:spPr>
          <a:xfrm>
            <a:off x="5272631" y="4625878"/>
            <a:ext cx="5392350" cy="173047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D0680D3-BE88-502C-E332-0F1DDB6DA221}"/>
              </a:ext>
            </a:extLst>
          </p:cNvPr>
          <p:cNvSpPr txBox="1"/>
          <p:nvPr/>
        </p:nvSpPr>
        <p:spPr>
          <a:xfrm>
            <a:off x="5405857" y="4751296"/>
            <a:ext cx="21146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/>
              <a:t>會使用到的公式 </a:t>
            </a:r>
            <a:r>
              <a:rPr lang="en-US" altLang="zh-TW" sz="2000"/>
              <a:t>:</a:t>
            </a:r>
            <a:endParaRPr lang="zh-TW" alt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5DBEEDC3-B548-0BB5-9604-2CA1574F1A04}"/>
                  </a:ext>
                </a:extLst>
              </p:cNvPr>
              <p:cNvSpPr txBox="1"/>
              <p:nvPr/>
            </p:nvSpPr>
            <p:spPr>
              <a:xfrm>
                <a:off x="5489358" y="5304491"/>
                <a:ext cx="4918635" cy="723340"/>
              </a:xfrm>
              <a:prstGeom prst="rect">
                <a:avLst/>
              </a:prstGeom>
              <a:solidFill>
                <a:srgbClr val="D9F2D0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𝑃𝑀𝐹</m:t>
                      </m:r>
                      <m:d>
                        <m:dPr>
                          <m:ctrlPr>
                            <a:rPr lang="zh-TW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N</m:t>
                          </m:r>
                        </m:den>
                      </m:f>
                    </m:oMath>
                  </m:oMathPara>
                </a14:m>
                <a:endParaRPr lang="zh-TW" altLang="en-US" sz="2400"/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5DBEEDC3-B548-0BB5-9604-2CA1574F1A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9358" y="5304491"/>
                <a:ext cx="4918635" cy="7233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02EC9559-5232-1D20-20EF-256322F9C03D}"/>
                  </a:ext>
                </a:extLst>
              </p:cNvPr>
              <p:cNvSpPr txBox="1"/>
              <p:nvPr/>
            </p:nvSpPr>
            <p:spPr>
              <a:xfrm>
                <a:off x="1134154" y="3429000"/>
                <a:ext cx="2613018" cy="3168944"/>
              </a:xfrm>
              <a:prstGeom prst="rect">
                <a:avLst/>
              </a:prstGeom>
              <a:solidFill>
                <a:srgbClr val="CAEEFB"/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𝑃𝑀𝐹</m:t>
                        </m:r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2400" dirty="0"/>
                  <a:t> =</a:t>
                </a:r>
                <a:r>
                  <a:rPr lang="zh-TW" altLang="en-US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TW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altLang="zh-TW" sz="2400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</m:oMath>
                </a14:m>
                <a:r>
                  <a:rPr lang="zh-TW" altLang="en-US" sz="2400" dirty="0"/>
                  <a:t> </a:t>
                </a:r>
                <a:r>
                  <a:rPr lang="en-US" altLang="zh-TW" sz="2400" dirty="0"/>
                  <a:t>=</a:t>
                </a:r>
                <a:r>
                  <a:rPr lang="zh-TW" altLang="en-US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altLang="zh-TW" sz="2400" b="0" i="0" smtClean="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lang="en-US" altLang="zh-TW" sz="24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𝑃𝑀𝐹</m:t>
                        </m:r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sz="2400" dirty="0"/>
                  <a:t> </a:t>
                </a:r>
                <a:r>
                  <a:rPr lang="en-US" altLang="zh-TW" sz="24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TW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altLang="zh-TW" sz="2400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</m:oMath>
                </a14:m>
                <a:r>
                  <a:rPr lang="en-US" altLang="zh-TW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zh-TW" sz="240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lang="en-US" altLang="zh-TW" sz="24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𝑃𝑀𝐹</m:t>
                        </m:r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TW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sz="2400" dirty="0"/>
                  <a:t> </a:t>
                </a:r>
                <a:r>
                  <a:rPr lang="en-US" altLang="zh-TW" sz="24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TW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altLang="zh-TW" sz="2400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</m:oMath>
                </a14:m>
                <a:r>
                  <a:rPr lang="zh-TW" altLang="en-US" sz="2400" dirty="0"/>
                  <a:t> </a:t>
                </a:r>
                <a:r>
                  <a:rPr lang="en-US" altLang="zh-TW" sz="2400" dirty="0"/>
                  <a:t>=</a:t>
                </a:r>
                <a:r>
                  <a:rPr lang="zh-TW" altLang="en-US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zh-TW" sz="240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lang="en-US" altLang="zh-TW" sz="24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𝑃𝑀𝐹</m:t>
                        </m:r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TW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sz="2400" dirty="0"/>
                  <a:t> </a:t>
                </a:r>
                <a:r>
                  <a:rPr lang="en-US" altLang="zh-TW" sz="24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TW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altLang="zh-TW" sz="2400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</m:oMath>
                </a14:m>
                <a:r>
                  <a:rPr lang="zh-TW" altLang="en-US" sz="2400" dirty="0"/>
                  <a:t> </a:t>
                </a:r>
                <a:r>
                  <a:rPr lang="en-US" altLang="zh-TW" sz="2400" dirty="0"/>
                  <a:t>=</a:t>
                </a:r>
                <a:r>
                  <a:rPr lang="zh-TW" altLang="en-US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sz="240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lang="en-US" altLang="zh-TW" sz="2400" dirty="0"/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02EC9559-5232-1D20-20EF-256322F9C0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4154" y="3429000"/>
                <a:ext cx="2613018" cy="3168944"/>
              </a:xfrm>
              <a:prstGeom prst="rect">
                <a:avLst/>
              </a:prstGeom>
              <a:blipFill>
                <a:blip r:embed="rId4"/>
                <a:stretch>
                  <a:fillRect b="-77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字方塊 6">
            <a:extLst>
              <a:ext uri="{FF2B5EF4-FFF2-40B4-BE49-F238E27FC236}">
                <a16:creationId xmlns:a16="http://schemas.microsoft.com/office/drawing/2014/main" id="{50992CA5-DC90-CC60-170A-DA22D9B1A98F}"/>
              </a:ext>
            </a:extLst>
          </p:cNvPr>
          <p:cNvSpPr txBox="1"/>
          <p:nvPr/>
        </p:nvSpPr>
        <p:spPr>
          <a:xfrm>
            <a:off x="0" y="20603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>
                <a:ea typeface="標楷體" panose="03000509000000000000" pitchFamily="65" charset="-120"/>
              </a:rPr>
              <a:t>EX1:</a:t>
            </a:r>
            <a:r>
              <a:rPr lang="zh-TW" altLang="en-US" sz="4000" dirty="0">
                <a:ea typeface="標楷體" panose="03000509000000000000" pitchFamily="65" charset="-120"/>
              </a:rPr>
              <a:t>直方圖等化</a:t>
            </a:r>
            <a:r>
              <a:rPr lang="en-US" altLang="zh-TW" sz="4000" dirty="0">
                <a:ea typeface="標楷體" panose="03000509000000000000" pitchFamily="65" charset="-120"/>
              </a:rPr>
              <a:t>(HE) (1/3)</a:t>
            </a:r>
            <a:r>
              <a:rPr lang="zh-TW" altLang="en-US" sz="40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sz="4000" dirty="0">
                <a:solidFill>
                  <a:srgbClr val="FF0000"/>
                </a:solidFill>
                <a:latin typeface="+mj-lt"/>
                <a:ea typeface="標楷體" panose="03000509000000000000" pitchFamily="65" charset="-120"/>
              </a:rPr>
              <a:t>算</a:t>
            </a:r>
            <a:r>
              <a:rPr lang="en-US" altLang="zh-TW" sz="4000" dirty="0">
                <a:solidFill>
                  <a:srgbClr val="FF0000"/>
                </a:solidFill>
                <a:latin typeface="+mj-lt"/>
                <a:ea typeface="標楷體" panose="03000509000000000000" pitchFamily="65" charset="-120"/>
              </a:rPr>
              <a:t>PMF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28E677A7-8387-A957-7E50-097BA323138F}"/>
                  </a:ext>
                </a:extLst>
              </p:cNvPr>
              <p:cNvSpPr txBox="1"/>
              <p:nvPr/>
            </p:nvSpPr>
            <p:spPr>
              <a:xfrm>
                <a:off x="5112946" y="3466545"/>
                <a:ext cx="6097508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71500" indent="-57150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3200" dirty="0">
                    <a:solidFill>
                      <a:schemeClr val="tx1"/>
                    </a:solidFill>
                  </a:rPr>
                  <a:t>= 4  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3200" dirty="0">
                    <a:solidFill>
                      <a:schemeClr val="tx1"/>
                    </a:solidFill>
                  </a:rPr>
                  <a:t>= 2  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TW" sz="3200" dirty="0">
                    <a:solidFill>
                      <a:schemeClr val="tx1"/>
                    </a:solidFill>
                  </a:rPr>
                  <a:t>= 2  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TW" sz="3200" dirty="0">
                    <a:solidFill>
                      <a:schemeClr val="tx1"/>
                    </a:solidFill>
                  </a:rPr>
                  <a:t>= 1</a:t>
                </a: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28E677A7-8387-A957-7E50-097BA32313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946" y="3466545"/>
                <a:ext cx="6097508" cy="584775"/>
              </a:xfrm>
              <a:prstGeom prst="rect">
                <a:avLst/>
              </a:prstGeom>
              <a:blipFill>
                <a:blip r:embed="rId5"/>
                <a:stretch>
                  <a:fillRect t="-14583" b="-322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7448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AD603-664F-4641-1929-C990EBA79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D781488-F6A2-076D-26A3-4585D2390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20</a:t>
            </a:fld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A53EDB23-0602-230A-A2EE-0CD163CFF3C3}"/>
              </a:ext>
            </a:extLst>
          </p:cNvPr>
          <p:cNvSpPr txBox="1"/>
          <p:nvPr/>
        </p:nvSpPr>
        <p:spPr>
          <a:xfrm>
            <a:off x="0" y="33206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>
                <a:ea typeface="標楷體" panose="03000509000000000000" pitchFamily="65" charset="-120"/>
              </a:rPr>
              <a:t>EX1:</a:t>
            </a:r>
            <a:r>
              <a:rPr lang="zh-TW" altLang="en-US" sz="4000" dirty="0">
                <a:ea typeface="標楷體" panose="03000509000000000000" pitchFamily="65" charset="-120"/>
              </a:rPr>
              <a:t>直方圖等化</a:t>
            </a:r>
            <a:r>
              <a:rPr lang="en-US" altLang="zh-TW" sz="4000" dirty="0">
                <a:ea typeface="標楷體" panose="03000509000000000000" pitchFamily="65" charset="-120"/>
              </a:rPr>
              <a:t>(HE) (2/3)</a:t>
            </a:r>
            <a:r>
              <a:rPr lang="zh-TW" altLang="en-US" sz="40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sz="4000" dirty="0">
                <a:solidFill>
                  <a:srgbClr val="FF0000"/>
                </a:solidFill>
                <a:latin typeface="+mj-lt"/>
                <a:ea typeface="標楷體" panose="03000509000000000000" pitchFamily="65" charset="-120"/>
              </a:rPr>
              <a:t>算</a:t>
            </a:r>
            <a:r>
              <a:rPr lang="en-US" altLang="zh-TW" sz="4000" dirty="0">
                <a:solidFill>
                  <a:srgbClr val="FF0000"/>
                </a:solidFill>
                <a:latin typeface="+mj-lt"/>
                <a:ea typeface="標楷體" panose="03000509000000000000" pitchFamily="65" charset="-120"/>
              </a:rPr>
              <a:t>CDF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5BA8052-B128-17E8-60CC-85BC840436BD}"/>
              </a:ext>
            </a:extLst>
          </p:cNvPr>
          <p:cNvSpPr/>
          <p:nvPr/>
        </p:nvSpPr>
        <p:spPr>
          <a:xfrm>
            <a:off x="6557290" y="4372381"/>
            <a:ext cx="5392350" cy="173047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CA789A2-4CF9-A3EC-01C6-AA6C310BBD0E}"/>
              </a:ext>
            </a:extLst>
          </p:cNvPr>
          <p:cNvSpPr txBox="1"/>
          <p:nvPr/>
        </p:nvSpPr>
        <p:spPr>
          <a:xfrm>
            <a:off x="6690516" y="4497799"/>
            <a:ext cx="21146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/>
              <a:t>會使用到的公式 </a:t>
            </a:r>
            <a:r>
              <a:rPr lang="en-US" altLang="zh-TW" sz="2000"/>
              <a:t>:</a:t>
            </a:r>
            <a:endParaRPr lang="zh-TW" alt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53D1209E-47DF-6F45-28AC-79F3662F4197}"/>
                  </a:ext>
                </a:extLst>
              </p:cNvPr>
              <p:cNvSpPr txBox="1"/>
              <p:nvPr/>
            </p:nvSpPr>
            <p:spPr>
              <a:xfrm>
                <a:off x="6774017" y="5050994"/>
                <a:ext cx="4918635" cy="962379"/>
              </a:xfrm>
              <a:prstGeom prst="rect">
                <a:avLst/>
              </a:prstGeom>
              <a:solidFill>
                <a:srgbClr val="D9F2D0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000" i="1">
                          <a:latin typeface="Cambria Math" panose="02040503050406030204" pitchFamily="18" charset="0"/>
                        </a:rPr>
                        <m:t>𝐶𝐷𝐹</m:t>
                      </m:r>
                      <m:d>
                        <m:dPr>
                          <m:ctrlPr>
                            <a:rPr lang="zh-TW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zh-TW" altLang="en-US" sz="20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zh-TW" alt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/>
                              <m:aln/>
                            </m:rPr>
                            <a:rPr lang="en-US" altLang="zh-TW" sz="200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zh-TW" altLang="en-US" sz="20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TW" altLang="en-US" sz="20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𝑃𝑀𝐹</m:t>
                          </m:r>
                          <m:d>
                            <m:dPr>
                              <m:ctrlP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TW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zh-TW" altLang="en-US" sz="2000"/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53D1209E-47DF-6F45-28AC-79F3662F41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4017" y="5050994"/>
                <a:ext cx="4918635" cy="96237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D215DA26-43CB-A953-2828-46C7CA9E3532}"/>
                  </a:ext>
                </a:extLst>
              </p:cNvPr>
              <p:cNvSpPr txBox="1"/>
              <p:nvPr/>
            </p:nvSpPr>
            <p:spPr>
              <a:xfrm>
                <a:off x="915021" y="1728965"/>
                <a:ext cx="4995651" cy="3168944"/>
              </a:xfrm>
              <a:prstGeom prst="rect">
                <a:avLst/>
              </a:prstGeom>
              <a:solidFill>
                <a:srgbClr val="CAEEFB"/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𝐶𝐷𝐹</m:t>
                        </m:r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2400"/>
                  <a:t> =</a:t>
                </a:r>
                <a:r>
                  <a:rPr lang="zh-TW" altLang="en-US" sz="240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TW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altLang="zh-TW" sz="2400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</m:oMath>
                </a14:m>
                <a:r>
                  <a:rPr lang="zh-TW" altLang="en-US" sz="2400"/>
                  <a:t> </a:t>
                </a:r>
                <a:r>
                  <a:rPr lang="en-US" altLang="zh-TW" sz="2400"/>
                  <a:t>=</a:t>
                </a:r>
                <a:r>
                  <a:rPr lang="zh-TW" altLang="en-US" sz="240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altLang="zh-TW" sz="2400" b="0" i="0" smtClean="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lang="en-US" altLang="zh-TW" sz="240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𝐶𝐷𝐹</m:t>
                        </m:r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sz="2400"/>
                  <a:t> </a:t>
                </a:r>
                <a:r>
                  <a:rPr lang="en-US" altLang="zh-TW" sz="240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TW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altLang="zh-TW" sz="2400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TW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altLang="zh-TW" sz="2400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</m:oMath>
                </a14:m>
                <a:r>
                  <a:rPr lang="en-US" altLang="zh-TW" sz="240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US" altLang="zh-TW" sz="240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lang="en-US" altLang="zh-TW" sz="240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𝐶𝐷𝐹</m:t>
                        </m:r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TW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sz="2400"/>
                  <a:t> </a:t>
                </a:r>
                <a:r>
                  <a:rPr lang="en-US" altLang="zh-TW" sz="240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TW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altLang="zh-TW" sz="2400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  <m:r>
                      <a:rPr lang="en-US" altLang="zh-TW" sz="24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TW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altLang="zh-TW" sz="2400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TW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altLang="zh-TW" sz="2400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</m:oMath>
                </a14:m>
                <a:r>
                  <a:rPr lang="zh-TW" altLang="en-US" sz="2400"/>
                  <a:t> </a:t>
                </a:r>
                <a:r>
                  <a:rPr lang="en-US" altLang="zh-TW" sz="2400"/>
                  <a:t>=</a:t>
                </a:r>
                <a:r>
                  <a:rPr lang="zh-TW" altLang="en-US" sz="240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US" altLang="zh-TW" sz="240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lang="en-US" altLang="zh-TW" sz="240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𝐶𝐷𝐹</m:t>
                        </m:r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TW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sz="2400"/>
                  <a:t> </a:t>
                </a:r>
                <a:r>
                  <a:rPr lang="en-US" altLang="zh-TW" sz="240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TW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altLang="zh-TW" sz="2400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  <m:r>
                      <a:rPr lang="en-US" altLang="zh-TW" sz="24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TW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altLang="zh-TW" sz="2400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  <m:r>
                      <a:rPr lang="en-US" altLang="zh-TW" sz="24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TW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altLang="zh-TW" sz="2400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TW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altLang="zh-TW" sz="2400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</m:oMath>
                </a14:m>
                <a:r>
                  <a:rPr lang="zh-TW" altLang="en-US" sz="2400"/>
                  <a:t> </a:t>
                </a:r>
                <a:r>
                  <a:rPr lang="en-US" altLang="zh-TW" sz="2400"/>
                  <a:t>=</a:t>
                </a:r>
                <a:r>
                  <a:rPr lang="zh-TW" altLang="en-US" sz="240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US" altLang="zh-TW" sz="240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lang="en-US" altLang="zh-TW" sz="2400"/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D215DA26-43CB-A953-2828-46C7CA9E35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021" y="1728965"/>
                <a:ext cx="4995651" cy="3168944"/>
              </a:xfrm>
              <a:prstGeom prst="rect">
                <a:avLst/>
              </a:prstGeom>
              <a:blipFill>
                <a:blip r:embed="rId3"/>
                <a:stretch>
                  <a:fillRect b="-11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B3525A0C-188B-DE6C-0638-8D40700ACDD0}"/>
                  </a:ext>
                </a:extLst>
              </p:cNvPr>
              <p:cNvSpPr txBox="1"/>
              <p:nvPr/>
            </p:nvSpPr>
            <p:spPr>
              <a:xfrm>
                <a:off x="8288243" y="1506255"/>
                <a:ext cx="1930444" cy="239982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𝑃𝑀𝐹</m:t>
                        </m:r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dirty="0"/>
                  <a:t> =</a:t>
                </a:r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altLang="zh-TW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=</a:t>
                </a:r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altLang="zh-TW" b="0" i="0" smtClean="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lang="en-US" altLang="zh-TW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𝑃𝑀𝐹</m:t>
                        </m:r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altLang="zh-TW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</m:oMath>
                </a14:m>
                <a:r>
                  <a:rPr lang="en-US" altLang="zh-TW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zh-TW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lang="en-US" altLang="zh-TW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𝑃𝑀𝐹</m:t>
                        </m:r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altLang="zh-TW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=</a:t>
                </a:r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zh-TW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lang="en-US" altLang="zh-TW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𝑃𝑀𝐹</m:t>
                        </m:r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altLang="zh-TW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=</a:t>
                </a:r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lang="en-US" altLang="zh-TW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B3525A0C-188B-DE6C-0638-8D40700ACD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8243" y="1506255"/>
                <a:ext cx="1930444" cy="2399824"/>
              </a:xfrm>
              <a:prstGeom prst="rect">
                <a:avLst/>
              </a:prstGeom>
              <a:blipFill>
                <a:blip r:embed="rId4"/>
                <a:stretch>
                  <a:fillRect b="-25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04709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B8DF411-C442-B3E9-A1CB-A4CAF1581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21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49" name="文字方塊 1048">
                <a:extLst>
                  <a:ext uri="{FF2B5EF4-FFF2-40B4-BE49-F238E27FC236}">
                    <a16:creationId xmlns:a16="http://schemas.microsoft.com/office/drawing/2014/main" id="{CEFC250B-7A3D-EA9E-6DA7-7D94679B9836}"/>
                  </a:ext>
                </a:extLst>
              </p:cNvPr>
              <p:cNvSpPr txBox="1"/>
              <p:nvPr/>
            </p:nvSpPr>
            <p:spPr>
              <a:xfrm>
                <a:off x="417523" y="2060261"/>
                <a:ext cx="7775863" cy="2581732"/>
              </a:xfrm>
              <a:prstGeom prst="rect">
                <a:avLst/>
              </a:prstGeom>
              <a:solidFill>
                <a:srgbClr val="CAEEFB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TW" alt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𝑟𝑜𝑢𝑛𝑑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𝐶𝐷𝐹</m:t>
                          </m:r>
                          <m:d>
                            <m:dPr>
                              <m:ctrlPr>
                                <a:rPr lang="zh-TW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TW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×</m:t>
                          </m:r>
                          <m:d>
                            <m:d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3−0</m:t>
                              </m:r>
                            </m:e>
                          </m:d>
                        </m:e>
                      </m:d>
                      <m:r>
                        <a:rPr lang="en-US" altLang="zh-TW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𝑟𝑜𝑢𝑛𝑑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TW" alt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en-US" altLang="zh-TW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den>
                          </m:f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altLang="zh-TW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𝑟𝑜𝑢𝑛𝑑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1.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33</m:t>
                          </m:r>
                        </m:e>
                      </m:d>
                      <m:r>
                        <a:rPr lang="en-US" altLang="zh-TW" b="0" i="0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altLang="zh-TW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altLang="zh-TW" sz="2400" b="0" dirty="0">
                  <a:latin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TW" alt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𝑟𝑜𝑢𝑛𝑑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𝐶𝐷𝐹</m:t>
                          </m:r>
                          <m:d>
                            <m:dPr>
                              <m:ctrlPr>
                                <a:rPr lang="zh-TW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TW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×</m:t>
                          </m:r>
                          <m:d>
                            <m:d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3−0</m:t>
                              </m:r>
                            </m:e>
                          </m:d>
                        </m:e>
                      </m:d>
                      <m:r>
                        <a:rPr lang="en-US" altLang="zh-TW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𝑟𝑜𝑢𝑛𝑑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TW" alt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en-US" altLang="zh-TW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den>
                          </m:f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altLang="zh-TW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𝑟𝑜𝑢𝑛𝑑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altLang="zh-TW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altLang="zh-TW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altLang="zh-TW" sz="2400" b="0" dirty="0">
                  <a:latin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TW" alt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𝑟𝑜𝑢𝑛𝑑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𝐶𝐷𝐹</m:t>
                          </m:r>
                          <m:d>
                            <m:dPr>
                              <m:ctrlPr>
                                <a:rPr lang="zh-TW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TW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×</m:t>
                          </m:r>
                          <m:d>
                            <m:d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3−0</m:t>
                              </m:r>
                            </m:e>
                          </m:d>
                        </m:e>
                      </m:d>
                      <m:r>
                        <a:rPr lang="en-US" altLang="zh-TW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𝑟𝑜𝑢𝑛𝑑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TW" alt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altLang="zh-TW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den>
                          </m:f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altLang="zh-TW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𝑟𝑜𝑢𝑛𝑑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2.66</m:t>
                          </m:r>
                        </m:e>
                      </m:d>
                      <m:r>
                        <a:rPr lang="en-US" altLang="zh-TW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altLang="zh-TW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altLang="zh-TW" sz="2400" b="0" dirty="0">
                  <a:latin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TW" alt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𝑟𝑜𝑢𝑛𝑑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𝐶𝐷𝐹</m:t>
                          </m:r>
                          <m:d>
                            <m:dPr>
                              <m:ctrlPr>
                                <a:rPr lang="zh-TW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TW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×</m:t>
                          </m:r>
                          <m:d>
                            <m:d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3−0</m:t>
                              </m:r>
                            </m:e>
                          </m:d>
                        </m:e>
                      </m:d>
                      <m:r>
                        <a:rPr lang="en-US" altLang="zh-TW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𝑟𝑜𝑢𝑛𝑑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TW" alt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num>
                            <m:den>
                              <m:r>
                                <a:rPr lang="en-US" altLang="zh-TW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den>
                          </m:f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altLang="zh-TW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𝑟𝑜𝑢𝑛𝑑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altLang="zh-TW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altLang="zh-TW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TW" altLang="en-US" sz="2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49" name="文字方塊 1048">
                <a:extLst>
                  <a:ext uri="{FF2B5EF4-FFF2-40B4-BE49-F238E27FC236}">
                    <a16:creationId xmlns:a16="http://schemas.microsoft.com/office/drawing/2014/main" id="{CEFC250B-7A3D-EA9E-6DA7-7D94679B98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523" y="2060261"/>
                <a:ext cx="7775863" cy="25817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6FCC1C6D-2A90-1FAA-B4E4-CBD324694A14}"/>
                  </a:ext>
                </a:extLst>
              </p:cNvPr>
              <p:cNvSpPr txBox="1"/>
              <p:nvPr/>
            </p:nvSpPr>
            <p:spPr>
              <a:xfrm>
                <a:off x="3021731" y="1279636"/>
                <a:ext cx="6260814" cy="46166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ar-AE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zh-TW" altLang="ar-AE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ar-AE" altLang="zh-TW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ar-AE" sz="2400" i="1">
                          <a:latin typeface="Cambria Math" panose="02040503050406030204" pitchFamily="18" charset="0"/>
                        </a:rPr>
                        <m:t>𝑟𝑜𝑢𝑛𝑑</m:t>
                      </m:r>
                      <m:r>
                        <a:rPr lang="ar-AE" altLang="zh-TW" sz="24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TW" altLang="ar-AE" sz="2400" i="1">
                          <a:latin typeface="Cambria Math" panose="02040503050406030204" pitchFamily="18" charset="0"/>
                        </a:rPr>
                        <m:t>𝐶𝐷𝐹</m:t>
                      </m:r>
                      <m:d>
                        <m:dPr>
                          <m:ctrlPr>
                            <a:rPr lang="ar-AE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sz="2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zh-TW" altLang="ar-AE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ar-AE" altLang="zh-TW" sz="240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ar-AE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 sz="240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sub>
                          </m:sSub>
                          <m:r>
                            <a:rPr lang="ar-AE" altLang="zh-TW" sz="240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 sz="240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sub>
                          </m:sSub>
                        </m:e>
                      </m:d>
                      <m:r>
                        <a:rPr lang="ar-AE" altLang="zh-TW" sz="24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min</m:t>
                          </m:r>
                        </m:sub>
                      </m:sSub>
                      <m:r>
                        <a:rPr lang="ar-AE" altLang="zh-TW" sz="240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6FCC1C6D-2A90-1FAA-B4E4-CBD324694A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1731" y="1279636"/>
                <a:ext cx="6260814" cy="461665"/>
              </a:xfrm>
              <a:prstGeom prst="rect">
                <a:avLst/>
              </a:prstGeom>
              <a:blipFill>
                <a:blip r:embed="rId3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>
            <a:extLst>
              <a:ext uri="{FF2B5EF4-FFF2-40B4-BE49-F238E27FC236}">
                <a16:creationId xmlns:a16="http://schemas.microsoft.com/office/drawing/2014/main" id="{AE7A812D-97F4-FB55-CA7D-A26E71246FAB}"/>
              </a:ext>
            </a:extLst>
          </p:cNvPr>
          <p:cNvSpPr/>
          <p:nvPr/>
        </p:nvSpPr>
        <p:spPr>
          <a:xfrm>
            <a:off x="6539183" y="5279912"/>
            <a:ext cx="5392350" cy="107643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BA4BD99E-426D-0A1C-6EC8-AD23DEA75C29}"/>
              </a:ext>
            </a:extLst>
          </p:cNvPr>
          <p:cNvSpPr txBox="1"/>
          <p:nvPr/>
        </p:nvSpPr>
        <p:spPr>
          <a:xfrm>
            <a:off x="6672575" y="5348967"/>
            <a:ext cx="21146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dirty="0"/>
              <a:t>會使用到的公式 </a:t>
            </a:r>
            <a:r>
              <a:rPr lang="en-US" altLang="zh-TW" sz="2000" dirty="0"/>
              <a:t>:</a:t>
            </a:r>
            <a:endParaRPr lang="zh-TW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2F641190-436F-EEB3-E290-9229EB7937FD}"/>
                  </a:ext>
                </a:extLst>
              </p:cNvPr>
              <p:cNvSpPr txBox="1"/>
              <p:nvPr/>
            </p:nvSpPr>
            <p:spPr>
              <a:xfrm>
                <a:off x="6635235" y="5818131"/>
                <a:ext cx="5294620" cy="400110"/>
              </a:xfrm>
              <a:prstGeom prst="rect">
                <a:avLst/>
              </a:prstGeom>
              <a:solidFill>
                <a:srgbClr val="D9F2D0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ar-AE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zh-TW" altLang="ar-AE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ar-AE" altLang="zh-TW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ar-AE" sz="2000" i="1">
                          <a:latin typeface="Cambria Math" panose="02040503050406030204" pitchFamily="18" charset="0"/>
                        </a:rPr>
                        <m:t>𝑟𝑜𝑢𝑛𝑑</m:t>
                      </m:r>
                      <m:r>
                        <a:rPr lang="ar-AE" altLang="zh-TW" sz="20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TW" altLang="ar-AE" sz="2000" i="1">
                          <a:latin typeface="Cambria Math" panose="02040503050406030204" pitchFamily="18" charset="0"/>
                        </a:rPr>
                        <m:t>𝐶𝐷𝐹</m:t>
                      </m:r>
                      <m:d>
                        <m:dPr>
                          <m:ctrlPr>
                            <a:rPr lang="ar-AE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sz="20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zh-TW" altLang="ar-AE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ar-AE" altLang="zh-TW" sz="200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ar-AE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 sz="200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sub>
                          </m:sSub>
                          <m:r>
                            <a:rPr lang="ar-AE" altLang="zh-TW" sz="200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 sz="200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sub>
                          </m:sSub>
                        </m:e>
                      </m:d>
                      <m:r>
                        <a:rPr lang="ar-AE" altLang="zh-TW" sz="20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2000">
                              <a:latin typeface="Cambria Math" panose="02040503050406030204" pitchFamily="18" charset="0"/>
                            </a:rPr>
                            <m:t>min</m:t>
                          </m:r>
                        </m:sub>
                      </m:sSub>
                      <m:r>
                        <a:rPr lang="ar-AE" altLang="zh-TW" sz="200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2F641190-436F-EEB3-E290-9229EB7937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5235" y="5818131"/>
                <a:ext cx="5294620" cy="400110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F23DE3EC-B0B5-BA7A-BF95-C2D94641CC14}"/>
                  </a:ext>
                </a:extLst>
              </p:cNvPr>
              <p:cNvSpPr txBox="1"/>
              <p:nvPr/>
            </p:nvSpPr>
            <p:spPr>
              <a:xfrm>
                <a:off x="8423778" y="2064667"/>
                <a:ext cx="3608167" cy="265733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𝐶𝐷𝐹</m:t>
                        </m:r>
                        <m:r>
                          <a:rPr lang="en-US" altLang="zh-TW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2000"/>
                  <a:t> =</a:t>
                </a:r>
                <a:r>
                  <a:rPr lang="zh-TW" altLang="en-US" sz="200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TW" alt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altLang="zh-TW" sz="2000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</m:oMath>
                </a14:m>
                <a:r>
                  <a:rPr lang="zh-TW" altLang="en-US" sz="2000"/>
                  <a:t> </a:t>
                </a:r>
                <a:r>
                  <a:rPr lang="en-US" altLang="zh-TW" sz="2000"/>
                  <a:t>=</a:t>
                </a:r>
                <a:r>
                  <a:rPr lang="zh-TW" altLang="en-US" sz="200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altLang="zh-TW" sz="2000" b="0" i="0" smtClean="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lang="en-US" altLang="zh-TW" sz="200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𝐶𝐷𝐹</m:t>
                        </m:r>
                        <m:r>
                          <a:rPr lang="en-US" altLang="zh-TW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sz="2000"/>
                  <a:t> </a:t>
                </a:r>
                <a:r>
                  <a:rPr lang="en-US" altLang="zh-TW" sz="200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TW" alt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altLang="zh-TW" sz="2000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TW" alt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altLang="zh-TW" sz="2000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</m:oMath>
                </a14:m>
                <a:r>
                  <a:rPr lang="en-US" altLang="zh-TW" sz="200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US" altLang="zh-TW" sz="200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lang="en-US" altLang="zh-TW" sz="200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𝐶𝐷𝐹</m:t>
                        </m:r>
                        <m:r>
                          <a:rPr lang="en-US" altLang="zh-TW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TW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sz="2000"/>
                  <a:t> </a:t>
                </a:r>
                <a:r>
                  <a:rPr lang="en-US" altLang="zh-TW" sz="200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TW" alt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altLang="zh-TW" sz="2000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  <m:r>
                      <a:rPr lang="en-US" altLang="zh-TW" sz="20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TW" alt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altLang="zh-TW" sz="2000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TW" alt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altLang="zh-TW" sz="2000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</m:oMath>
                </a14:m>
                <a:r>
                  <a:rPr lang="zh-TW" altLang="en-US" sz="2000"/>
                  <a:t> </a:t>
                </a:r>
                <a:r>
                  <a:rPr lang="en-US" altLang="zh-TW" sz="2000"/>
                  <a:t>=</a:t>
                </a:r>
                <a:r>
                  <a:rPr lang="zh-TW" altLang="en-US" sz="200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US" altLang="zh-TW" sz="200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lang="en-US" altLang="zh-TW" sz="200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𝐶𝐷𝐹</m:t>
                        </m:r>
                        <m:r>
                          <a:rPr lang="en-US" altLang="zh-TW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TW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sz="2000"/>
                  <a:t> </a:t>
                </a:r>
                <a:r>
                  <a:rPr lang="en-US" altLang="zh-TW" sz="200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TW" alt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altLang="zh-TW" sz="2000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  <m:r>
                      <a:rPr lang="en-US" altLang="zh-TW" sz="20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TW" alt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altLang="zh-TW" sz="2000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  <m:r>
                      <a:rPr lang="en-US" altLang="zh-TW" sz="20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TW" alt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altLang="zh-TW" sz="2000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TW" alt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altLang="zh-TW" sz="2000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</m:oMath>
                </a14:m>
                <a:r>
                  <a:rPr lang="zh-TW" altLang="en-US" sz="2000"/>
                  <a:t> </a:t>
                </a:r>
                <a:r>
                  <a:rPr lang="en-US" altLang="zh-TW" sz="2000"/>
                  <a:t>=</a:t>
                </a:r>
                <a:r>
                  <a:rPr lang="zh-TW" altLang="en-US" sz="200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US" altLang="zh-TW" sz="200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lang="en-US" altLang="zh-TW" sz="2000"/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F23DE3EC-B0B5-BA7A-BF95-C2D94641CC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3778" y="2064667"/>
                <a:ext cx="3608167" cy="2657331"/>
              </a:xfrm>
              <a:prstGeom prst="rect">
                <a:avLst/>
              </a:prstGeom>
              <a:blipFill>
                <a:blip r:embed="rId6"/>
                <a:stretch>
                  <a:fillRect b="-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字方塊 3">
            <a:extLst>
              <a:ext uri="{FF2B5EF4-FFF2-40B4-BE49-F238E27FC236}">
                <a16:creationId xmlns:a16="http://schemas.microsoft.com/office/drawing/2014/main" id="{27861EE8-31E5-BD55-409E-56420DCB6C07}"/>
              </a:ext>
            </a:extLst>
          </p:cNvPr>
          <p:cNvSpPr txBox="1"/>
          <p:nvPr/>
        </p:nvSpPr>
        <p:spPr>
          <a:xfrm>
            <a:off x="0" y="33206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>
                <a:ea typeface="標楷體" panose="03000509000000000000" pitchFamily="65" charset="-120"/>
              </a:rPr>
              <a:t>EX1:</a:t>
            </a:r>
            <a:r>
              <a:rPr lang="zh-TW" altLang="en-US" sz="4000" dirty="0">
                <a:ea typeface="標楷體" panose="03000509000000000000" pitchFamily="65" charset="-120"/>
              </a:rPr>
              <a:t>直方圖等化</a:t>
            </a:r>
            <a:r>
              <a:rPr lang="en-US" altLang="zh-TW" sz="4000" dirty="0">
                <a:ea typeface="標楷體" panose="03000509000000000000" pitchFamily="65" charset="-120"/>
              </a:rPr>
              <a:t>(HE) (3/3) </a:t>
            </a:r>
            <a:r>
              <a:rPr lang="zh-TW" altLang="en-US" sz="4000" dirty="0">
                <a:solidFill>
                  <a:srgbClr val="FF0000"/>
                </a:solidFill>
              </a:rPr>
              <a:t>算</a:t>
            </a:r>
            <a:r>
              <a:rPr lang="en-US" altLang="zh-TW" sz="4000" dirty="0">
                <a:solidFill>
                  <a:srgbClr val="FF0000"/>
                </a:solidFill>
              </a:rPr>
              <a:t>s=T(r)</a:t>
            </a:r>
            <a:r>
              <a:rPr lang="zh-TW" altLang="en-US" sz="4000" dirty="0"/>
              <a:t> </a:t>
            </a:r>
            <a:endParaRPr lang="en-US" altLang="zh-TW" sz="4000" dirty="0">
              <a:solidFill>
                <a:srgbClr val="FF0000"/>
              </a:solidFill>
              <a:latin typeface="+mj-lt"/>
              <a:ea typeface="標楷體" panose="03000509000000000000" pitchFamily="65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表格 7">
                <a:extLst>
                  <a:ext uri="{FF2B5EF4-FFF2-40B4-BE49-F238E27FC236}">
                    <a16:creationId xmlns:a16="http://schemas.microsoft.com/office/drawing/2014/main" id="{DAB6EB76-8407-C59E-56C7-4B867A4CA8E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4503" y="4960953"/>
              <a:ext cx="5870416" cy="1375833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704124">
                      <a:extLst>
                        <a:ext uri="{9D8B030D-6E8A-4147-A177-3AD203B41FA5}">
                          <a16:colId xmlns:a16="http://schemas.microsoft.com/office/drawing/2014/main" val="4080383201"/>
                        </a:ext>
                      </a:extLst>
                    </a:gridCol>
                    <a:gridCol w="1041573">
                      <a:extLst>
                        <a:ext uri="{9D8B030D-6E8A-4147-A177-3AD203B41FA5}">
                          <a16:colId xmlns:a16="http://schemas.microsoft.com/office/drawing/2014/main" val="3186548305"/>
                        </a:ext>
                      </a:extLst>
                    </a:gridCol>
                    <a:gridCol w="1041573">
                      <a:extLst>
                        <a:ext uri="{9D8B030D-6E8A-4147-A177-3AD203B41FA5}">
                          <a16:colId xmlns:a16="http://schemas.microsoft.com/office/drawing/2014/main" val="2900658068"/>
                        </a:ext>
                      </a:extLst>
                    </a:gridCol>
                    <a:gridCol w="1041573">
                      <a:extLst>
                        <a:ext uri="{9D8B030D-6E8A-4147-A177-3AD203B41FA5}">
                          <a16:colId xmlns:a16="http://schemas.microsoft.com/office/drawing/2014/main" val="1337798222"/>
                        </a:ext>
                      </a:extLst>
                    </a:gridCol>
                    <a:gridCol w="1041573">
                      <a:extLst>
                        <a:ext uri="{9D8B030D-6E8A-4147-A177-3AD203B41FA5}">
                          <a16:colId xmlns:a16="http://schemas.microsoft.com/office/drawing/2014/main" val="1618992170"/>
                        </a:ext>
                      </a:extLst>
                    </a:gridCol>
                  </a:tblGrid>
                  <a:tr h="458611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oMath>
                          </a14:m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=1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US" altLang="zh-TW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oMath>
                          </a14:m>
                          <a:r>
                            <a:rPr kumimoji="0" lang="en-US" altLang="zh-TW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=2</a:t>
                          </a:r>
                          <a:endParaRPr kumimoji="0" lang="zh-TW" alt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US" altLang="zh-TW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oMath>
                          </a14:m>
                          <a:r>
                            <a:rPr kumimoji="0" lang="en-US" altLang="zh-TW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=3</a:t>
                          </a:r>
                          <a:endParaRPr kumimoji="0" lang="zh-TW" alt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US" altLang="zh-TW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oMath>
                          </a14:m>
                          <a:r>
                            <a:rPr kumimoji="0" lang="en-US" altLang="zh-TW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=4</a:t>
                          </a:r>
                          <a:endParaRPr kumimoji="0" lang="zh-TW" alt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91760331"/>
                      </a:ext>
                    </a:extLst>
                  </a:tr>
                  <a:tr h="4586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原始強度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zh-TW" altLang="en-US" sz="1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8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TW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sub>
                              </m:sSub>
                            </m:oMath>
                          </a14:m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1379788"/>
                      </a:ext>
                    </a:extLst>
                  </a:tr>
                  <a:tr h="4586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轉換</a:t>
                          </a:r>
                          <a:r>
                            <a:rPr lang="zh-TW" altLang="en-US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後</a:t>
                          </a:r>
                          <a:r>
                            <a:rPr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強度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zh-TW" altLang="en-US" sz="1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TW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sub>
                              </m:sSub>
                            </m:oMath>
                          </a14:m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132622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表格 7">
                <a:extLst>
                  <a:ext uri="{FF2B5EF4-FFF2-40B4-BE49-F238E27FC236}">
                    <a16:creationId xmlns:a16="http://schemas.microsoft.com/office/drawing/2014/main" id="{DAB6EB76-8407-C59E-56C7-4B867A4CA8E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82821409"/>
                  </p:ext>
                </p:extLst>
              </p:nvPr>
            </p:nvGraphicFramePr>
            <p:xfrm>
              <a:off x="304503" y="4960953"/>
              <a:ext cx="5870416" cy="1375833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704124">
                      <a:extLst>
                        <a:ext uri="{9D8B030D-6E8A-4147-A177-3AD203B41FA5}">
                          <a16:colId xmlns:a16="http://schemas.microsoft.com/office/drawing/2014/main" val="4080383201"/>
                        </a:ext>
                      </a:extLst>
                    </a:gridCol>
                    <a:gridCol w="1041573">
                      <a:extLst>
                        <a:ext uri="{9D8B030D-6E8A-4147-A177-3AD203B41FA5}">
                          <a16:colId xmlns:a16="http://schemas.microsoft.com/office/drawing/2014/main" val="3186548305"/>
                        </a:ext>
                      </a:extLst>
                    </a:gridCol>
                    <a:gridCol w="1041573">
                      <a:extLst>
                        <a:ext uri="{9D8B030D-6E8A-4147-A177-3AD203B41FA5}">
                          <a16:colId xmlns:a16="http://schemas.microsoft.com/office/drawing/2014/main" val="2900658068"/>
                        </a:ext>
                      </a:extLst>
                    </a:gridCol>
                    <a:gridCol w="1041573">
                      <a:extLst>
                        <a:ext uri="{9D8B030D-6E8A-4147-A177-3AD203B41FA5}">
                          <a16:colId xmlns:a16="http://schemas.microsoft.com/office/drawing/2014/main" val="1337798222"/>
                        </a:ext>
                      </a:extLst>
                    </a:gridCol>
                    <a:gridCol w="1041573">
                      <a:extLst>
                        <a:ext uri="{9D8B030D-6E8A-4147-A177-3AD203B41FA5}">
                          <a16:colId xmlns:a16="http://schemas.microsoft.com/office/drawing/2014/main" val="1618992170"/>
                        </a:ext>
                      </a:extLst>
                    </a:gridCol>
                  </a:tblGrid>
                  <a:tr h="458611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64327" t="-1316" r="-301754" b="-2105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264327" t="-1316" r="-201754" b="-2105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364327" t="-1316" r="-101754" b="-2105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464327" t="-1316" r="-1754" b="-2105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91760331"/>
                      </a:ext>
                    </a:extLst>
                  </a:tr>
                  <a:tr h="458611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357" t="-102667" r="-245357" b="-1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1379788"/>
                      </a:ext>
                    </a:extLst>
                  </a:tr>
                  <a:tr h="458611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357" t="-200000" r="-245357" b="-118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1326220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文字方塊 5">
            <a:extLst>
              <a:ext uri="{FF2B5EF4-FFF2-40B4-BE49-F238E27FC236}">
                <a16:creationId xmlns:a16="http://schemas.microsoft.com/office/drawing/2014/main" id="{97D0F1BA-4EA5-EDFA-C040-872125DB2694}"/>
              </a:ext>
            </a:extLst>
          </p:cNvPr>
          <p:cNvSpPr txBox="1"/>
          <p:nvPr/>
        </p:nvSpPr>
        <p:spPr>
          <a:xfrm>
            <a:off x="6048287" y="6075144"/>
            <a:ext cx="4154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#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97711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35226-3864-AA25-E0E7-CDFE96AD4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D46058A-97AC-36EA-76E1-90B87E431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83440" y="6356350"/>
            <a:ext cx="2743200" cy="365125"/>
          </a:xfrm>
        </p:spPr>
        <p:txBody>
          <a:bodyPr/>
          <a:lstStyle/>
          <a:p>
            <a:fld id="{5A25EE10-825B-4D49-8D47-2CB0B2BE83D5}" type="slidenum">
              <a:rPr lang="zh-TW" altLang="en-US" smtClean="0"/>
              <a:t>22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D128FC31-24D7-42D7-806B-03358C79FFD2}"/>
                  </a:ext>
                </a:extLst>
              </p:cNvPr>
              <p:cNvSpPr txBox="1"/>
              <p:nvPr/>
            </p:nvSpPr>
            <p:spPr>
              <a:xfrm>
                <a:off x="374659" y="942055"/>
                <a:ext cx="11168509" cy="1077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71500" indent="-571500">
                  <a:buFont typeface="Wingdings" panose="05000000000000000000" pitchFamily="2" charset="2"/>
                  <a:buChar char="n"/>
                </a:pPr>
                <a:r>
                  <a:rPr lang="zh-TW" altLang="en-US" sz="3200" dirty="0"/>
                  <a:t>把算好的等化後灰階值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ar-AE" sz="32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zh-TW" altLang="ar-AE" sz="32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TW" altLang="en-US" sz="3200" dirty="0"/>
                  <a:t>填回原始影像。</a:t>
                </a:r>
                <a:endParaRPr lang="en-US" altLang="zh-TW" sz="3200" dirty="0">
                  <a:solidFill>
                    <a:schemeClr val="accent5">
                      <a:lumMod val="75000"/>
                    </a:schemeClr>
                  </a:solidFill>
                </a:endParaRPr>
              </a:p>
              <a:p>
                <a:pPr marL="571500" indent="-571500">
                  <a:buFont typeface="Wingdings" panose="05000000000000000000" pitchFamily="2" charset="2"/>
                  <a:buChar char="n"/>
                </a:pPr>
                <a:r>
                  <a:rPr lang="en-US" altLang="zh-TW" sz="3200" dirty="0">
                    <a:solidFill>
                      <a:schemeClr val="accent5">
                        <a:lumMod val="75000"/>
                      </a:schemeClr>
                    </a:solidFill>
                  </a:rPr>
                  <a:t>Fill the equalized gray values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sz="3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ar-AE" sz="3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zh-TW" altLang="ar-AE" sz="3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sz="3200" dirty="0">
                    <a:solidFill>
                      <a:schemeClr val="accent5">
                        <a:lumMod val="75000"/>
                      </a:schemeClr>
                    </a:solidFill>
                  </a:rPr>
                  <a:t>back into the original image.</a:t>
                </a: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D128FC31-24D7-42D7-806B-03358C79FF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659" y="942055"/>
                <a:ext cx="11168509" cy="1077218"/>
              </a:xfrm>
              <a:prstGeom prst="rect">
                <a:avLst/>
              </a:prstGeom>
              <a:blipFill>
                <a:blip r:embed="rId3"/>
                <a:stretch>
                  <a:fillRect l="-1200" t="-7386" b="-176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字方塊 6">
            <a:extLst>
              <a:ext uri="{FF2B5EF4-FFF2-40B4-BE49-F238E27FC236}">
                <a16:creationId xmlns:a16="http://schemas.microsoft.com/office/drawing/2014/main" id="{0AD0D822-2AF6-9ABE-B2F0-9469179F1EF3}"/>
              </a:ext>
            </a:extLst>
          </p:cNvPr>
          <p:cNvSpPr txBox="1"/>
          <p:nvPr/>
        </p:nvSpPr>
        <p:spPr>
          <a:xfrm>
            <a:off x="0" y="20603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/>
              <a:t>Extra Question</a:t>
            </a:r>
            <a:endParaRPr lang="en-US" altLang="zh-TW" sz="4000" dirty="0">
              <a:solidFill>
                <a:srgbClr val="FF0000"/>
              </a:solidFill>
              <a:latin typeface="+mj-lt"/>
              <a:ea typeface="標楷體" panose="03000509000000000000" pitchFamily="65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570AE227-B3F0-2D66-9BE1-2BC9F98042C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713024" y="2228495"/>
              <a:ext cx="5870416" cy="1375833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704124">
                      <a:extLst>
                        <a:ext uri="{9D8B030D-6E8A-4147-A177-3AD203B41FA5}">
                          <a16:colId xmlns:a16="http://schemas.microsoft.com/office/drawing/2014/main" val="4080383201"/>
                        </a:ext>
                      </a:extLst>
                    </a:gridCol>
                    <a:gridCol w="1041573">
                      <a:extLst>
                        <a:ext uri="{9D8B030D-6E8A-4147-A177-3AD203B41FA5}">
                          <a16:colId xmlns:a16="http://schemas.microsoft.com/office/drawing/2014/main" val="3186548305"/>
                        </a:ext>
                      </a:extLst>
                    </a:gridCol>
                    <a:gridCol w="1041573">
                      <a:extLst>
                        <a:ext uri="{9D8B030D-6E8A-4147-A177-3AD203B41FA5}">
                          <a16:colId xmlns:a16="http://schemas.microsoft.com/office/drawing/2014/main" val="2900658068"/>
                        </a:ext>
                      </a:extLst>
                    </a:gridCol>
                    <a:gridCol w="1041573">
                      <a:extLst>
                        <a:ext uri="{9D8B030D-6E8A-4147-A177-3AD203B41FA5}">
                          <a16:colId xmlns:a16="http://schemas.microsoft.com/office/drawing/2014/main" val="1337798222"/>
                        </a:ext>
                      </a:extLst>
                    </a:gridCol>
                    <a:gridCol w="1041573">
                      <a:extLst>
                        <a:ext uri="{9D8B030D-6E8A-4147-A177-3AD203B41FA5}">
                          <a16:colId xmlns:a16="http://schemas.microsoft.com/office/drawing/2014/main" val="1618992170"/>
                        </a:ext>
                      </a:extLst>
                    </a:gridCol>
                  </a:tblGrid>
                  <a:tr h="458611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oMath>
                          </a14:m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=1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US" altLang="zh-TW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oMath>
                          </a14:m>
                          <a:r>
                            <a:rPr kumimoji="0" lang="en-US" altLang="zh-TW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=2</a:t>
                          </a:r>
                          <a:endParaRPr kumimoji="0" lang="zh-TW" alt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US" altLang="zh-TW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oMath>
                          </a14:m>
                          <a:r>
                            <a:rPr kumimoji="0" lang="en-US" altLang="zh-TW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=3</a:t>
                          </a:r>
                          <a:endParaRPr kumimoji="0" lang="zh-TW" alt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US" altLang="zh-TW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oMath>
                          </a14:m>
                          <a:r>
                            <a:rPr kumimoji="0" lang="en-US" altLang="zh-TW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=4</a:t>
                          </a:r>
                          <a:endParaRPr kumimoji="0" lang="zh-TW" alt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91760331"/>
                      </a:ext>
                    </a:extLst>
                  </a:tr>
                  <a:tr h="4586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原始強度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zh-TW" altLang="en-US" sz="1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8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TW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sub>
                              </m:sSub>
                            </m:oMath>
                          </a14:m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1379788"/>
                      </a:ext>
                    </a:extLst>
                  </a:tr>
                  <a:tr h="4586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轉換</a:t>
                          </a:r>
                          <a:r>
                            <a:rPr lang="zh-TW" altLang="en-US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後</a:t>
                          </a:r>
                          <a:r>
                            <a:rPr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強度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zh-TW" altLang="en-US" sz="1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TW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sub>
                              </m:sSub>
                            </m:oMath>
                          </a14:m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132622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570AE227-B3F0-2D66-9BE1-2BC9F98042C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67662419"/>
                  </p:ext>
                </p:extLst>
              </p:nvPr>
            </p:nvGraphicFramePr>
            <p:xfrm>
              <a:off x="2713024" y="2228495"/>
              <a:ext cx="5870416" cy="1375833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704124">
                      <a:extLst>
                        <a:ext uri="{9D8B030D-6E8A-4147-A177-3AD203B41FA5}">
                          <a16:colId xmlns:a16="http://schemas.microsoft.com/office/drawing/2014/main" val="4080383201"/>
                        </a:ext>
                      </a:extLst>
                    </a:gridCol>
                    <a:gridCol w="1041573">
                      <a:extLst>
                        <a:ext uri="{9D8B030D-6E8A-4147-A177-3AD203B41FA5}">
                          <a16:colId xmlns:a16="http://schemas.microsoft.com/office/drawing/2014/main" val="3186548305"/>
                        </a:ext>
                      </a:extLst>
                    </a:gridCol>
                    <a:gridCol w="1041573">
                      <a:extLst>
                        <a:ext uri="{9D8B030D-6E8A-4147-A177-3AD203B41FA5}">
                          <a16:colId xmlns:a16="http://schemas.microsoft.com/office/drawing/2014/main" val="2900658068"/>
                        </a:ext>
                      </a:extLst>
                    </a:gridCol>
                    <a:gridCol w="1041573">
                      <a:extLst>
                        <a:ext uri="{9D8B030D-6E8A-4147-A177-3AD203B41FA5}">
                          <a16:colId xmlns:a16="http://schemas.microsoft.com/office/drawing/2014/main" val="1337798222"/>
                        </a:ext>
                      </a:extLst>
                    </a:gridCol>
                    <a:gridCol w="1041573">
                      <a:extLst>
                        <a:ext uri="{9D8B030D-6E8A-4147-A177-3AD203B41FA5}">
                          <a16:colId xmlns:a16="http://schemas.microsoft.com/office/drawing/2014/main" val="1618992170"/>
                        </a:ext>
                      </a:extLst>
                    </a:gridCol>
                  </a:tblGrid>
                  <a:tr h="458611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64327" t="-1316" r="-301170" b="-2105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64327" t="-1316" r="-201170" b="-2105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64327" t="-1316" r="-101170" b="-2105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64327" t="-1316" r="-1170" b="-2105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91760331"/>
                      </a:ext>
                    </a:extLst>
                  </a:tr>
                  <a:tr h="458611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57" t="-102667" r="-245000" b="-1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1379788"/>
                      </a:ext>
                    </a:extLst>
                  </a:tr>
                  <a:tr h="458611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57" t="-200000" r="-245000" b="-118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1326220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32085FBE-31B2-2B58-05EB-2BC4A6F34C6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657194" y="4116842"/>
              <a:ext cx="2743200" cy="2535126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{5940675A-B579-460E-94D1-54222C63F5DA}</a:tableStyleId>
                  </a:tblPr>
                  <a:tblGrid>
                    <a:gridCol w="914400">
                      <a:extLst>
                        <a:ext uri="{9D8B030D-6E8A-4147-A177-3AD203B41FA5}">
                          <a16:colId xmlns:a16="http://schemas.microsoft.com/office/drawing/2014/main" val="2795431153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3482286443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751386596"/>
                        </a:ext>
                      </a:extLst>
                    </a:gridCol>
                  </a:tblGrid>
                  <a:tr h="845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3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TW" sz="28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oMath>
                          </a14:m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TW" sz="28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oMath>
                          </a14:m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79931116"/>
                      </a:ext>
                    </a:extLst>
                  </a:tr>
                  <a:tr h="84504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TW" sz="28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oMath>
                          </a14:m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1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2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05600763"/>
                      </a:ext>
                    </a:extLst>
                  </a:tr>
                  <a:tr h="84504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0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1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TW" sz="28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oMath>
                          </a14:m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846515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32085FBE-31B2-2B58-05EB-2BC4A6F34C6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52737263"/>
                  </p:ext>
                </p:extLst>
              </p:nvPr>
            </p:nvGraphicFramePr>
            <p:xfrm>
              <a:off x="2657194" y="4116842"/>
              <a:ext cx="2743200" cy="2535126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{5940675A-B579-460E-94D1-54222C63F5DA}</a:tableStyleId>
                  </a:tblPr>
                  <a:tblGrid>
                    <a:gridCol w="914400">
                      <a:extLst>
                        <a:ext uri="{9D8B030D-6E8A-4147-A177-3AD203B41FA5}">
                          <a16:colId xmlns:a16="http://schemas.microsoft.com/office/drawing/2014/main" val="2795431153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3482286443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751386596"/>
                        </a:ext>
                      </a:extLst>
                    </a:gridCol>
                  </a:tblGrid>
                  <a:tr h="845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3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02649" t="-3597" r="-109272" b="-210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04000" t="-3597" r="-10000" b="-2107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79931116"/>
                      </a:ext>
                    </a:extLst>
                  </a:tr>
                  <a:tr h="845042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3333" t="-103597" r="-210667" b="-110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1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2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05600763"/>
                      </a:ext>
                    </a:extLst>
                  </a:tr>
                  <a:tr h="84504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0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1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04000" t="-203597" r="-10000" b="-107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8465154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DD36E5EF-A2CD-0BF4-0B31-D348A5EA96F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536605" y="4116842"/>
              <a:ext cx="2743200" cy="2535126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{5940675A-B579-460E-94D1-54222C63F5DA}</a:tableStyleId>
                  </a:tblPr>
                  <a:tblGrid>
                    <a:gridCol w="914400">
                      <a:extLst>
                        <a:ext uri="{9D8B030D-6E8A-4147-A177-3AD203B41FA5}">
                          <a16:colId xmlns:a16="http://schemas.microsoft.com/office/drawing/2014/main" val="2795431153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3482286443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751386596"/>
                        </a:ext>
                      </a:extLst>
                    </a:gridCol>
                  </a:tblGrid>
                  <a:tr h="845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3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TW" sz="2800" b="0" i="1" kern="120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oMath>
                          </a14:m>
                          <a:r>
                            <a:rPr lang="en-US" altLang="zh-TW" sz="2800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endParaRPr lang="zh-TW" altLang="en-US" sz="2800" kern="1200" dirty="0">
                            <a:solidFill>
                              <a:srgbClr val="FF000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TW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oMath>
                          </a14:m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79931116"/>
                      </a:ext>
                    </a:extLst>
                  </a:tr>
                  <a:tr h="84504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TW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a14:m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2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3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05600763"/>
                      </a:ext>
                    </a:extLst>
                  </a:tr>
                  <a:tr h="84504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1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2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TW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a14:m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846515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DD36E5EF-A2CD-0BF4-0B31-D348A5EA96F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34610169"/>
                  </p:ext>
                </p:extLst>
              </p:nvPr>
            </p:nvGraphicFramePr>
            <p:xfrm>
              <a:off x="6536605" y="4116842"/>
              <a:ext cx="2743200" cy="2535126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{5940675A-B579-460E-94D1-54222C63F5DA}</a:tableStyleId>
                  </a:tblPr>
                  <a:tblGrid>
                    <a:gridCol w="914400">
                      <a:extLst>
                        <a:ext uri="{9D8B030D-6E8A-4147-A177-3AD203B41FA5}">
                          <a16:colId xmlns:a16="http://schemas.microsoft.com/office/drawing/2014/main" val="2795431153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3482286443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751386596"/>
                        </a:ext>
                      </a:extLst>
                    </a:gridCol>
                  </a:tblGrid>
                  <a:tr h="845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3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102649" t="-3597" r="-109272" b="-210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04000" t="-3597" r="-10000" b="-2107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79931116"/>
                      </a:ext>
                    </a:extLst>
                  </a:tr>
                  <a:tr h="845042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3333" t="-103597" r="-210667" b="-110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2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3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05600763"/>
                      </a:ext>
                    </a:extLst>
                  </a:tr>
                  <a:tr h="84504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1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2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04000" t="-203597" r="-10000" b="-107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8465154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文字方塊 9">
            <a:extLst>
              <a:ext uri="{FF2B5EF4-FFF2-40B4-BE49-F238E27FC236}">
                <a16:creationId xmlns:a16="http://schemas.microsoft.com/office/drawing/2014/main" id="{97412ACD-C80A-EF47-55E5-9A446A4865BB}"/>
              </a:ext>
            </a:extLst>
          </p:cNvPr>
          <p:cNvSpPr txBox="1"/>
          <p:nvPr/>
        </p:nvSpPr>
        <p:spPr>
          <a:xfrm>
            <a:off x="3439530" y="3686021"/>
            <a:ext cx="117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Before HE</a:t>
            </a:r>
            <a:endParaRPr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3A571007-5FF2-A7CC-FA48-2DF5BD76839A}"/>
              </a:ext>
            </a:extLst>
          </p:cNvPr>
          <p:cNvSpPr txBox="1"/>
          <p:nvPr/>
        </p:nvSpPr>
        <p:spPr>
          <a:xfrm>
            <a:off x="7318941" y="3686021"/>
            <a:ext cx="1037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After HE</a:t>
            </a:r>
            <a:endParaRPr lang="zh-TW" altLang="en-US" dirty="0"/>
          </a:p>
        </p:txBody>
      </p:sp>
      <p:sp>
        <p:nvSpPr>
          <p:cNvPr id="15" name="箭號: 向右 14">
            <a:extLst>
              <a:ext uri="{FF2B5EF4-FFF2-40B4-BE49-F238E27FC236}">
                <a16:creationId xmlns:a16="http://schemas.microsoft.com/office/drawing/2014/main" id="{33FB48D2-24F0-E6D1-8EDF-4FC3C1E3B8EF}"/>
              </a:ext>
            </a:extLst>
          </p:cNvPr>
          <p:cNvSpPr/>
          <p:nvPr/>
        </p:nvSpPr>
        <p:spPr>
          <a:xfrm>
            <a:off x="5513560" y="5241956"/>
            <a:ext cx="905347" cy="344032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61C6B6C5-A54A-6758-7F04-AFC766D8B5D0}"/>
              </a:ext>
            </a:extLst>
          </p:cNvPr>
          <p:cNvSpPr txBox="1"/>
          <p:nvPr/>
        </p:nvSpPr>
        <p:spPr>
          <a:xfrm>
            <a:off x="9539542" y="6005637"/>
            <a:ext cx="4154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#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4" name="星形: 五角 3">
            <a:extLst>
              <a:ext uri="{FF2B5EF4-FFF2-40B4-BE49-F238E27FC236}">
                <a16:creationId xmlns:a16="http://schemas.microsoft.com/office/drawing/2014/main" id="{E04C921D-59BA-5F86-6FF0-90E24C633DB8}"/>
              </a:ext>
            </a:extLst>
          </p:cNvPr>
          <p:cNvSpPr/>
          <p:nvPr/>
        </p:nvSpPr>
        <p:spPr>
          <a:xfrm>
            <a:off x="899526" y="260335"/>
            <a:ext cx="615820" cy="615820"/>
          </a:xfrm>
          <a:prstGeom prst="star5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6320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5AD343A-A0B5-C15C-847F-1D544893B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23</a:t>
            </a:fld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822AC8D9-720C-77E0-1FF8-3B7CE896D967}"/>
              </a:ext>
            </a:extLst>
          </p:cNvPr>
          <p:cNvSpPr txBox="1"/>
          <p:nvPr/>
        </p:nvSpPr>
        <p:spPr>
          <a:xfrm>
            <a:off x="0" y="26064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en-US" altLang="zh-TW"/>
              <a:t>Example1:</a:t>
            </a:r>
            <a:r>
              <a:rPr lang="zh-TW" altLang="en-US"/>
              <a:t>相關性運算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E9C53B6B-8BAB-4746-97E4-FC01FB4B9D4E}"/>
              </a:ext>
            </a:extLst>
          </p:cNvPr>
          <p:cNvGraphicFramePr>
            <a:graphicFrameLocks noGrp="1"/>
          </p:cNvGraphicFramePr>
          <p:nvPr/>
        </p:nvGraphicFramePr>
        <p:xfrm>
          <a:off x="984250" y="2472266"/>
          <a:ext cx="3197225" cy="31855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9445">
                  <a:extLst>
                    <a:ext uri="{9D8B030D-6E8A-4147-A177-3AD203B41FA5}">
                      <a16:colId xmlns:a16="http://schemas.microsoft.com/office/drawing/2014/main" val="3726362657"/>
                    </a:ext>
                  </a:extLst>
                </a:gridCol>
                <a:gridCol w="639445">
                  <a:extLst>
                    <a:ext uri="{9D8B030D-6E8A-4147-A177-3AD203B41FA5}">
                      <a16:colId xmlns:a16="http://schemas.microsoft.com/office/drawing/2014/main" val="2521738682"/>
                    </a:ext>
                  </a:extLst>
                </a:gridCol>
                <a:gridCol w="639445">
                  <a:extLst>
                    <a:ext uri="{9D8B030D-6E8A-4147-A177-3AD203B41FA5}">
                      <a16:colId xmlns:a16="http://schemas.microsoft.com/office/drawing/2014/main" val="1836234598"/>
                    </a:ext>
                  </a:extLst>
                </a:gridCol>
                <a:gridCol w="639445">
                  <a:extLst>
                    <a:ext uri="{9D8B030D-6E8A-4147-A177-3AD203B41FA5}">
                      <a16:colId xmlns:a16="http://schemas.microsoft.com/office/drawing/2014/main" val="1829838298"/>
                    </a:ext>
                  </a:extLst>
                </a:gridCol>
                <a:gridCol w="639445">
                  <a:extLst>
                    <a:ext uri="{9D8B030D-6E8A-4147-A177-3AD203B41FA5}">
                      <a16:colId xmlns:a16="http://schemas.microsoft.com/office/drawing/2014/main" val="369149540"/>
                    </a:ext>
                  </a:extLst>
                </a:gridCol>
              </a:tblGrid>
              <a:tr h="63711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1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6EA9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1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6EA9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1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6EA9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0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0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8437140"/>
                  </a:ext>
                </a:extLst>
              </a:tr>
              <a:tr h="63711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0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6EA92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6EA92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6EA9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0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5079043"/>
                  </a:ext>
                </a:extLst>
              </a:tr>
              <a:tr h="63711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0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0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1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6EA9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1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6EA9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1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6EA9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2911192"/>
                  </a:ext>
                </a:extLst>
              </a:tr>
              <a:tr h="63711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0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0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1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6EA9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1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6EA9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0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6210389"/>
                  </a:ext>
                </a:extLst>
              </a:tr>
              <a:tr h="63711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0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1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6EA9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1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6EA9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0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0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4327783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A47635C-78DF-D897-23E0-0EDE82235D25}"/>
              </a:ext>
            </a:extLst>
          </p:cNvPr>
          <p:cNvGraphicFramePr>
            <a:graphicFrameLocks noGrp="1"/>
          </p:cNvGraphicFramePr>
          <p:nvPr/>
        </p:nvGraphicFramePr>
        <p:xfrm>
          <a:off x="5641977" y="3091390"/>
          <a:ext cx="1920873" cy="191876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291">
                  <a:extLst>
                    <a:ext uri="{9D8B030D-6E8A-4147-A177-3AD203B41FA5}">
                      <a16:colId xmlns:a16="http://schemas.microsoft.com/office/drawing/2014/main" val="1200460301"/>
                    </a:ext>
                  </a:extLst>
                </a:gridCol>
                <a:gridCol w="640291">
                  <a:extLst>
                    <a:ext uri="{9D8B030D-6E8A-4147-A177-3AD203B41FA5}">
                      <a16:colId xmlns:a16="http://schemas.microsoft.com/office/drawing/2014/main" val="2389139816"/>
                    </a:ext>
                  </a:extLst>
                </a:gridCol>
                <a:gridCol w="640291">
                  <a:extLst>
                    <a:ext uri="{9D8B030D-6E8A-4147-A177-3AD203B41FA5}">
                      <a16:colId xmlns:a16="http://schemas.microsoft.com/office/drawing/2014/main" val="1044871678"/>
                    </a:ext>
                  </a:extLst>
                </a:gridCol>
              </a:tblGrid>
              <a:tr h="6395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32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32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32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825012"/>
                  </a:ext>
                </a:extLst>
              </a:tr>
              <a:tr h="6395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32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32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32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254178"/>
                  </a:ext>
                </a:extLst>
              </a:tr>
              <a:tr h="6395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32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32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32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2560810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18937718-B499-411C-3E49-8F695F216A7E}"/>
              </a:ext>
            </a:extLst>
          </p:cNvPr>
          <p:cNvSpPr txBox="1"/>
          <p:nvPr/>
        </p:nvSpPr>
        <p:spPr>
          <a:xfrm>
            <a:off x="1085851" y="1739384"/>
            <a:ext cx="31623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32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5×5</a:t>
            </a:r>
            <a:r>
              <a:rPr lang="zh-TW" altLang="en-US" sz="32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大小影像</a:t>
            </a:r>
            <a:endParaRPr lang="zh-TW" altLang="en-US" sz="320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F6BDFE2-2942-3EB0-3114-322D5141C3E5}"/>
              </a:ext>
            </a:extLst>
          </p:cNvPr>
          <p:cNvSpPr txBox="1"/>
          <p:nvPr/>
        </p:nvSpPr>
        <p:spPr>
          <a:xfrm>
            <a:off x="5019676" y="2434709"/>
            <a:ext cx="31623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32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3×3</a:t>
            </a:r>
            <a:r>
              <a:rPr lang="zh-TW" altLang="en-US" sz="32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32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kernel</a:t>
            </a:r>
            <a:endParaRPr lang="zh-TW" altLang="en-US" sz="320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DE2FFAFF-A625-B801-D309-83A2179AB60D}"/>
              </a:ext>
            </a:extLst>
          </p:cNvPr>
          <p:cNvSpPr txBox="1"/>
          <p:nvPr/>
        </p:nvSpPr>
        <p:spPr>
          <a:xfrm>
            <a:off x="4610100" y="3800475"/>
            <a:ext cx="44275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400"/>
              <a:t>*</a:t>
            </a:r>
            <a:endParaRPr lang="zh-TW" altLang="en-US" sz="4400"/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C5CAAEE1-4B50-4CF1-5A10-21DA3D3E77C2}"/>
              </a:ext>
            </a:extLst>
          </p:cNvPr>
          <p:cNvGraphicFramePr>
            <a:graphicFrameLocks noGrp="1"/>
          </p:cNvGraphicFramePr>
          <p:nvPr/>
        </p:nvGraphicFramePr>
        <p:xfrm>
          <a:off x="9242427" y="3100915"/>
          <a:ext cx="1920873" cy="191876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291">
                  <a:extLst>
                    <a:ext uri="{9D8B030D-6E8A-4147-A177-3AD203B41FA5}">
                      <a16:colId xmlns:a16="http://schemas.microsoft.com/office/drawing/2014/main" val="1200460301"/>
                    </a:ext>
                  </a:extLst>
                </a:gridCol>
                <a:gridCol w="640291">
                  <a:extLst>
                    <a:ext uri="{9D8B030D-6E8A-4147-A177-3AD203B41FA5}">
                      <a16:colId xmlns:a16="http://schemas.microsoft.com/office/drawing/2014/main" val="2389139816"/>
                    </a:ext>
                  </a:extLst>
                </a:gridCol>
                <a:gridCol w="640291">
                  <a:extLst>
                    <a:ext uri="{9D8B030D-6E8A-4147-A177-3AD203B41FA5}">
                      <a16:colId xmlns:a16="http://schemas.microsoft.com/office/drawing/2014/main" val="1044871678"/>
                    </a:ext>
                  </a:extLst>
                </a:gridCol>
              </a:tblGrid>
              <a:tr h="6395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>
                          <a:solidFill>
                            <a:srgbClr val="C00000"/>
                          </a:solidFill>
                        </a:rPr>
                        <a:t>?</a:t>
                      </a:r>
                      <a:endParaRPr lang="zh-TW" altLang="en-US" sz="32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rgbClr val="FDB1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>
                          <a:solidFill>
                            <a:srgbClr val="C00000"/>
                          </a:solidFill>
                        </a:rPr>
                        <a:t>?</a:t>
                      </a:r>
                      <a:endParaRPr lang="zh-TW" altLang="en-US" sz="32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rgbClr val="FDB1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>
                          <a:solidFill>
                            <a:srgbClr val="C00000"/>
                          </a:solidFill>
                        </a:rPr>
                        <a:t>?</a:t>
                      </a:r>
                      <a:endParaRPr lang="zh-TW" altLang="en-US" sz="32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rgbClr val="FDB1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825012"/>
                  </a:ext>
                </a:extLst>
              </a:tr>
              <a:tr h="6395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>
                          <a:solidFill>
                            <a:srgbClr val="C00000"/>
                          </a:solidFill>
                        </a:rPr>
                        <a:t>?</a:t>
                      </a:r>
                      <a:endParaRPr lang="zh-TW" altLang="en-US" sz="32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rgbClr val="FDB1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>
                          <a:solidFill>
                            <a:srgbClr val="C00000"/>
                          </a:solidFill>
                        </a:rPr>
                        <a:t>?</a:t>
                      </a:r>
                      <a:endParaRPr lang="zh-TW" altLang="en-US" sz="32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rgbClr val="FDB1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>
                          <a:solidFill>
                            <a:srgbClr val="C00000"/>
                          </a:solidFill>
                        </a:rPr>
                        <a:t>?</a:t>
                      </a:r>
                      <a:endParaRPr lang="zh-TW" altLang="en-US" sz="32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rgbClr val="FDB1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254178"/>
                  </a:ext>
                </a:extLst>
              </a:tr>
              <a:tr h="6395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>
                          <a:solidFill>
                            <a:srgbClr val="C00000"/>
                          </a:solidFill>
                        </a:rPr>
                        <a:t>?</a:t>
                      </a:r>
                      <a:endParaRPr lang="zh-TW" altLang="en-US" sz="32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rgbClr val="FDB1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>
                          <a:solidFill>
                            <a:srgbClr val="C00000"/>
                          </a:solidFill>
                        </a:rPr>
                        <a:t>?</a:t>
                      </a:r>
                      <a:endParaRPr lang="zh-TW" altLang="en-US" sz="32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rgbClr val="FDB1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>
                          <a:solidFill>
                            <a:srgbClr val="C00000"/>
                          </a:solidFill>
                        </a:rPr>
                        <a:t>?</a:t>
                      </a:r>
                      <a:endParaRPr lang="zh-TW" altLang="en-US" sz="32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rgbClr val="FDB1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2560810"/>
                  </a:ext>
                </a:extLst>
              </a:tr>
            </a:tbl>
          </a:graphicData>
        </a:graphic>
      </p:graphicFrame>
      <p:sp>
        <p:nvSpPr>
          <p:cNvPr id="11" name="文字方塊 10">
            <a:extLst>
              <a:ext uri="{FF2B5EF4-FFF2-40B4-BE49-F238E27FC236}">
                <a16:creationId xmlns:a16="http://schemas.microsoft.com/office/drawing/2014/main" id="{124A8191-FACF-A386-AA1E-32F6D6E7E53A}"/>
              </a:ext>
            </a:extLst>
          </p:cNvPr>
          <p:cNvSpPr txBox="1"/>
          <p:nvPr/>
        </p:nvSpPr>
        <p:spPr>
          <a:xfrm>
            <a:off x="8562976" y="2415659"/>
            <a:ext cx="31623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3200"/>
              <a:t>output</a:t>
            </a:r>
            <a:endParaRPr lang="zh-TW" altLang="en-US" sz="320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B923F8BB-9CC8-EB0F-A830-97E148BAF4B6}"/>
              </a:ext>
            </a:extLst>
          </p:cNvPr>
          <p:cNvSpPr txBox="1"/>
          <p:nvPr/>
        </p:nvSpPr>
        <p:spPr>
          <a:xfrm>
            <a:off x="8039100" y="3724275"/>
            <a:ext cx="4587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/>
              <a:t>=</a:t>
            </a:r>
            <a:endParaRPr lang="zh-TW" altLang="en-US" sz="4000"/>
          </a:p>
        </p:txBody>
      </p:sp>
    </p:spTree>
    <p:extLst>
      <p:ext uri="{BB962C8B-B14F-4D97-AF65-F5344CB8AC3E}">
        <p14:creationId xmlns:p14="http://schemas.microsoft.com/office/powerpoint/2010/main" val="11901958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3EF64-4443-7F58-54DC-3D16BD816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5EDB5339-8046-13F7-2043-2A8B357EED4F}"/>
              </a:ext>
            </a:extLst>
          </p:cNvPr>
          <p:cNvSpPr/>
          <p:nvPr/>
        </p:nvSpPr>
        <p:spPr>
          <a:xfrm>
            <a:off x="432069" y="2408222"/>
            <a:ext cx="8342187" cy="4282289"/>
          </a:xfrm>
          <a:prstGeom prst="rect">
            <a:avLst/>
          </a:prstGeom>
          <a:solidFill>
            <a:srgbClr val="CAEE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8E978A9C-070F-C7A1-0F8D-8F36EFF2F508}"/>
              </a:ext>
            </a:extLst>
          </p:cNvPr>
          <p:cNvSpPr txBox="1"/>
          <p:nvPr/>
        </p:nvSpPr>
        <p:spPr>
          <a:xfrm>
            <a:off x="0" y="26064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/>
              <a:t>相關性運算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84B5EF4-BBD8-E03D-99FC-6F519C18443F}"/>
              </a:ext>
            </a:extLst>
          </p:cNvPr>
          <p:cNvSpPr txBox="1"/>
          <p:nvPr/>
        </p:nvSpPr>
        <p:spPr>
          <a:xfrm>
            <a:off x="2150209" y="2549490"/>
            <a:ext cx="298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TW" altLang="en-US" sz="32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8413039-6414-FBEE-9EBD-FB75BE20929D}"/>
              </a:ext>
            </a:extLst>
          </p:cNvPr>
          <p:cNvSpPr txBox="1"/>
          <p:nvPr/>
        </p:nvSpPr>
        <p:spPr>
          <a:xfrm>
            <a:off x="5148267" y="3068035"/>
            <a:ext cx="560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i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TW" altLang="en-US" sz="32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0790B8EE-0036-D949-ABAB-AC9BE173FBEA}"/>
              </a:ext>
            </a:extLst>
          </p:cNvPr>
          <p:cNvGraphicFramePr>
            <a:graphicFrameLocks noGrp="1"/>
          </p:cNvGraphicFramePr>
          <p:nvPr/>
        </p:nvGraphicFramePr>
        <p:xfrm>
          <a:off x="6636605" y="3797869"/>
          <a:ext cx="1920873" cy="191876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291">
                  <a:extLst>
                    <a:ext uri="{9D8B030D-6E8A-4147-A177-3AD203B41FA5}">
                      <a16:colId xmlns:a16="http://schemas.microsoft.com/office/drawing/2014/main" val="1200460301"/>
                    </a:ext>
                  </a:extLst>
                </a:gridCol>
                <a:gridCol w="640291">
                  <a:extLst>
                    <a:ext uri="{9D8B030D-6E8A-4147-A177-3AD203B41FA5}">
                      <a16:colId xmlns:a16="http://schemas.microsoft.com/office/drawing/2014/main" val="2389139816"/>
                    </a:ext>
                  </a:extLst>
                </a:gridCol>
                <a:gridCol w="640291">
                  <a:extLst>
                    <a:ext uri="{9D8B030D-6E8A-4147-A177-3AD203B41FA5}">
                      <a16:colId xmlns:a16="http://schemas.microsoft.com/office/drawing/2014/main" val="1044871678"/>
                    </a:ext>
                  </a:extLst>
                </a:gridCol>
              </a:tblGrid>
              <a:tr h="6395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9C9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9C9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9C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825012"/>
                  </a:ext>
                </a:extLst>
              </a:tr>
              <a:tr h="6395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9C9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9C9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9C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254178"/>
                  </a:ext>
                </a:extLst>
              </a:tr>
              <a:tr h="6395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9C9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9C9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9C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2560810"/>
                  </a:ext>
                </a:extLst>
              </a:tr>
            </a:tbl>
          </a:graphicData>
        </a:graphic>
      </p:graphicFrame>
      <p:sp>
        <p:nvSpPr>
          <p:cNvPr id="24" name="文字方塊 23">
            <a:extLst>
              <a:ext uri="{FF2B5EF4-FFF2-40B4-BE49-F238E27FC236}">
                <a16:creationId xmlns:a16="http://schemas.microsoft.com/office/drawing/2014/main" id="{72466FD6-85B8-1D98-A5C6-452F3C072429}"/>
              </a:ext>
            </a:extLst>
          </p:cNvPr>
          <p:cNvSpPr txBox="1"/>
          <p:nvPr/>
        </p:nvSpPr>
        <p:spPr>
          <a:xfrm>
            <a:off x="6980526" y="3165009"/>
            <a:ext cx="123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i="1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zh-TW" altLang="en-US" sz="32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8D8A73ED-8815-15E4-BB02-A080FDC5AEA2}"/>
              </a:ext>
            </a:extLst>
          </p:cNvPr>
          <p:cNvSpPr txBox="1"/>
          <p:nvPr/>
        </p:nvSpPr>
        <p:spPr>
          <a:xfrm>
            <a:off x="6292678" y="4572583"/>
            <a:ext cx="3933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/>
              <a:t>=</a:t>
            </a:r>
            <a:endParaRPr lang="zh-TW" altLang="en-US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9FA37571-90F3-B90A-6972-945DB13638F7}"/>
              </a:ext>
            </a:extLst>
          </p:cNvPr>
          <p:cNvSpPr txBox="1"/>
          <p:nvPr/>
        </p:nvSpPr>
        <p:spPr>
          <a:xfrm>
            <a:off x="8848436" y="5636055"/>
            <a:ext cx="32050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b="1" dirty="0"/>
              <a:t>Dot product:</a:t>
            </a:r>
            <a:r>
              <a:rPr lang="en-US" altLang="zh-TW" sz="1600" dirty="0"/>
              <a:t> multiply matching elements, then sum the results.</a:t>
            </a:r>
            <a:endParaRPr lang="zh-TW" altLang="en-US" sz="1600" dirty="0"/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A6DCF363-55FD-3A88-29C6-F734E9B50DAB}"/>
              </a:ext>
            </a:extLst>
          </p:cNvPr>
          <p:cNvSpPr/>
          <p:nvPr/>
        </p:nvSpPr>
        <p:spPr>
          <a:xfrm>
            <a:off x="6638733" y="3813586"/>
            <a:ext cx="638764" cy="63214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6AC0FA7-D127-F17A-08CB-B53D9ED47836}"/>
              </a:ext>
            </a:extLst>
          </p:cNvPr>
          <p:cNvSpPr/>
          <p:nvPr/>
        </p:nvSpPr>
        <p:spPr>
          <a:xfrm>
            <a:off x="8840041" y="3820106"/>
            <a:ext cx="3203010" cy="2575561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手繪多邊形: 圖案 22">
            <a:extLst>
              <a:ext uri="{FF2B5EF4-FFF2-40B4-BE49-F238E27FC236}">
                <a16:creationId xmlns:a16="http://schemas.microsoft.com/office/drawing/2014/main" id="{825C8350-C8D1-E29B-3F52-65F55CA94FF6}"/>
              </a:ext>
            </a:extLst>
          </p:cNvPr>
          <p:cNvSpPr/>
          <p:nvPr/>
        </p:nvSpPr>
        <p:spPr>
          <a:xfrm>
            <a:off x="7233719" y="3395050"/>
            <a:ext cx="2907538" cy="633742"/>
          </a:xfrm>
          <a:custGeom>
            <a:avLst/>
            <a:gdLst>
              <a:gd name="connsiteX0" fmla="*/ 0 w 2907538"/>
              <a:gd name="connsiteY0" fmla="*/ 633742 h 633742"/>
              <a:gd name="connsiteX1" fmla="*/ 190123 w 2907538"/>
              <a:gd name="connsiteY1" fmla="*/ 425512 h 633742"/>
              <a:gd name="connsiteX2" fmla="*/ 597529 w 2907538"/>
              <a:gd name="connsiteY2" fmla="*/ 244443 h 633742"/>
              <a:gd name="connsiteX3" fmla="*/ 805758 w 2907538"/>
              <a:gd name="connsiteY3" fmla="*/ 181069 h 633742"/>
              <a:gd name="connsiteX4" fmla="*/ 1167897 w 2907538"/>
              <a:gd name="connsiteY4" fmla="*/ 99588 h 633742"/>
              <a:gd name="connsiteX5" fmla="*/ 1439501 w 2907538"/>
              <a:gd name="connsiteY5" fmla="*/ 54320 h 633742"/>
              <a:gd name="connsiteX6" fmla="*/ 1638677 w 2907538"/>
              <a:gd name="connsiteY6" fmla="*/ 36213 h 633742"/>
              <a:gd name="connsiteX7" fmla="*/ 1801639 w 2907538"/>
              <a:gd name="connsiteY7" fmla="*/ 18106 h 633742"/>
              <a:gd name="connsiteX8" fmla="*/ 1964602 w 2907538"/>
              <a:gd name="connsiteY8" fmla="*/ 9053 h 633742"/>
              <a:gd name="connsiteX9" fmla="*/ 2073243 w 2907538"/>
              <a:gd name="connsiteY9" fmla="*/ 0 h 633742"/>
              <a:gd name="connsiteX10" fmla="*/ 2308633 w 2907538"/>
              <a:gd name="connsiteY10" fmla="*/ 9053 h 633742"/>
              <a:gd name="connsiteX11" fmla="*/ 2480649 w 2907538"/>
              <a:gd name="connsiteY11" fmla="*/ 36213 h 633742"/>
              <a:gd name="connsiteX12" fmla="*/ 2625505 w 2907538"/>
              <a:gd name="connsiteY12" fmla="*/ 72427 h 633742"/>
              <a:gd name="connsiteX13" fmla="*/ 2688879 w 2907538"/>
              <a:gd name="connsiteY13" fmla="*/ 90534 h 633742"/>
              <a:gd name="connsiteX14" fmla="*/ 2752253 w 2907538"/>
              <a:gd name="connsiteY14" fmla="*/ 117695 h 633742"/>
              <a:gd name="connsiteX15" fmla="*/ 2824681 w 2907538"/>
              <a:gd name="connsiteY15" fmla="*/ 172015 h 633742"/>
              <a:gd name="connsiteX16" fmla="*/ 2869948 w 2907538"/>
              <a:gd name="connsiteY16" fmla="*/ 244443 h 633742"/>
              <a:gd name="connsiteX17" fmla="*/ 2888055 w 2907538"/>
              <a:gd name="connsiteY17" fmla="*/ 271603 h 633742"/>
              <a:gd name="connsiteX18" fmla="*/ 2897109 w 2907538"/>
              <a:gd name="connsiteY18" fmla="*/ 298764 h 633742"/>
              <a:gd name="connsiteX19" fmla="*/ 2906162 w 2907538"/>
              <a:gd name="connsiteY19" fmla="*/ 416459 h 633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907538" h="633742">
                <a:moveTo>
                  <a:pt x="0" y="633742"/>
                </a:moveTo>
                <a:cubicBezTo>
                  <a:pt x="51070" y="557138"/>
                  <a:pt x="105475" y="467836"/>
                  <a:pt x="190123" y="425512"/>
                </a:cubicBezTo>
                <a:cubicBezTo>
                  <a:pt x="355652" y="342748"/>
                  <a:pt x="397453" y="317548"/>
                  <a:pt x="597529" y="244443"/>
                </a:cubicBezTo>
                <a:cubicBezTo>
                  <a:pt x="665676" y="219543"/>
                  <a:pt x="735996" y="201001"/>
                  <a:pt x="805758" y="181069"/>
                </a:cubicBezTo>
                <a:cubicBezTo>
                  <a:pt x="962515" y="136281"/>
                  <a:pt x="1004019" y="128508"/>
                  <a:pt x="1167897" y="99588"/>
                </a:cubicBezTo>
                <a:cubicBezTo>
                  <a:pt x="1258284" y="83637"/>
                  <a:pt x="1348538" y="66565"/>
                  <a:pt x="1439501" y="54320"/>
                </a:cubicBezTo>
                <a:cubicBezTo>
                  <a:pt x="1505571" y="45426"/>
                  <a:pt x="1572342" y="42847"/>
                  <a:pt x="1638677" y="36213"/>
                </a:cubicBezTo>
                <a:cubicBezTo>
                  <a:pt x="1693061" y="30775"/>
                  <a:pt x="1747173" y="22645"/>
                  <a:pt x="1801639" y="18106"/>
                </a:cubicBezTo>
                <a:cubicBezTo>
                  <a:pt x="1855856" y="13588"/>
                  <a:pt x="1910318" y="12672"/>
                  <a:pt x="1964602" y="9053"/>
                </a:cubicBezTo>
                <a:cubicBezTo>
                  <a:pt x="2000861" y="6636"/>
                  <a:pt x="2037029" y="3018"/>
                  <a:pt x="2073243" y="0"/>
                </a:cubicBezTo>
                <a:cubicBezTo>
                  <a:pt x="2151706" y="3018"/>
                  <a:pt x="2230420" y="2101"/>
                  <a:pt x="2308633" y="9053"/>
                </a:cubicBezTo>
                <a:cubicBezTo>
                  <a:pt x="2366454" y="14193"/>
                  <a:pt x="2423444" y="26350"/>
                  <a:pt x="2480649" y="36213"/>
                </a:cubicBezTo>
                <a:cubicBezTo>
                  <a:pt x="2593144" y="55608"/>
                  <a:pt x="2539975" y="46110"/>
                  <a:pt x="2625505" y="72427"/>
                </a:cubicBezTo>
                <a:cubicBezTo>
                  <a:pt x="2646503" y="78888"/>
                  <a:pt x="2668189" y="83145"/>
                  <a:pt x="2688879" y="90534"/>
                </a:cubicBezTo>
                <a:cubicBezTo>
                  <a:pt x="2710523" y="98264"/>
                  <a:pt x="2731696" y="107417"/>
                  <a:pt x="2752253" y="117695"/>
                </a:cubicBezTo>
                <a:cubicBezTo>
                  <a:pt x="2768974" y="126056"/>
                  <a:pt x="2818011" y="165345"/>
                  <a:pt x="2824681" y="172015"/>
                </a:cubicBezTo>
                <a:cubicBezTo>
                  <a:pt x="2853531" y="200866"/>
                  <a:pt x="2850824" y="210976"/>
                  <a:pt x="2869948" y="244443"/>
                </a:cubicBezTo>
                <a:cubicBezTo>
                  <a:pt x="2875346" y="253890"/>
                  <a:pt x="2883189" y="261871"/>
                  <a:pt x="2888055" y="271603"/>
                </a:cubicBezTo>
                <a:cubicBezTo>
                  <a:pt x="2892323" y="280139"/>
                  <a:pt x="2894487" y="289588"/>
                  <a:pt x="2897109" y="298764"/>
                </a:cubicBezTo>
                <a:cubicBezTo>
                  <a:pt x="2912749" y="353504"/>
                  <a:pt x="2906162" y="339611"/>
                  <a:pt x="2906162" y="416459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5205609E-B0A5-47B0-92B6-1E6F4DEF12C6}"/>
              </a:ext>
            </a:extLst>
          </p:cNvPr>
          <p:cNvGraphicFramePr>
            <a:graphicFrameLocks noGrp="1"/>
          </p:cNvGraphicFramePr>
          <p:nvPr/>
        </p:nvGraphicFramePr>
        <p:xfrm>
          <a:off x="658649" y="3240396"/>
          <a:ext cx="3197225" cy="31855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9445">
                  <a:extLst>
                    <a:ext uri="{9D8B030D-6E8A-4147-A177-3AD203B41FA5}">
                      <a16:colId xmlns:a16="http://schemas.microsoft.com/office/drawing/2014/main" val="3726362657"/>
                    </a:ext>
                  </a:extLst>
                </a:gridCol>
                <a:gridCol w="639445">
                  <a:extLst>
                    <a:ext uri="{9D8B030D-6E8A-4147-A177-3AD203B41FA5}">
                      <a16:colId xmlns:a16="http://schemas.microsoft.com/office/drawing/2014/main" val="2521738682"/>
                    </a:ext>
                  </a:extLst>
                </a:gridCol>
                <a:gridCol w="639445">
                  <a:extLst>
                    <a:ext uri="{9D8B030D-6E8A-4147-A177-3AD203B41FA5}">
                      <a16:colId xmlns:a16="http://schemas.microsoft.com/office/drawing/2014/main" val="1836234598"/>
                    </a:ext>
                  </a:extLst>
                </a:gridCol>
                <a:gridCol w="639445">
                  <a:extLst>
                    <a:ext uri="{9D8B030D-6E8A-4147-A177-3AD203B41FA5}">
                      <a16:colId xmlns:a16="http://schemas.microsoft.com/office/drawing/2014/main" val="1829838298"/>
                    </a:ext>
                  </a:extLst>
                </a:gridCol>
                <a:gridCol w="639445">
                  <a:extLst>
                    <a:ext uri="{9D8B030D-6E8A-4147-A177-3AD203B41FA5}">
                      <a16:colId xmlns:a16="http://schemas.microsoft.com/office/drawing/2014/main" val="369149540"/>
                    </a:ext>
                  </a:extLst>
                </a:gridCol>
              </a:tblGrid>
              <a:tr h="63711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1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6EA9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1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6EA9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1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6EA9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0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0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8437140"/>
                  </a:ext>
                </a:extLst>
              </a:tr>
              <a:tr h="63711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0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6EA92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6EA92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6EA9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0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5079043"/>
                  </a:ext>
                </a:extLst>
              </a:tr>
              <a:tr h="63711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0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0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1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6EA9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1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6EA9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1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6EA9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2911192"/>
                  </a:ext>
                </a:extLst>
              </a:tr>
              <a:tr h="63711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0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0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1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6EA9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1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6EA9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0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6210389"/>
                  </a:ext>
                </a:extLst>
              </a:tr>
              <a:tr h="63711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0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1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6EA9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1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6EA9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0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0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4327783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8F45FF44-21FF-651A-7A5B-73ECED979290}"/>
              </a:ext>
            </a:extLst>
          </p:cNvPr>
          <p:cNvSpPr txBox="1"/>
          <p:nvPr/>
        </p:nvSpPr>
        <p:spPr>
          <a:xfrm>
            <a:off x="3844360" y="4471380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/>
              <a:t>☆</a:t>
            </a:r>
            <a:endParaRPr lang="zh-TW" altLang="en-US" sz="3200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800E9D2F-A1BB-DD00-A28C-79DBAD1ABA77}"/>
              </a:ext>
            </a:extLst>
          </p:cNvPr>
          <p:cNvGraphicFramePr>
            <a:graphicFrameLocks noGrp="1"/>
          </p:cNvGraphicFramePr>
          <p:nvPr/>
        </p:nvGraphicFramePr>
        <p:xfrm>
          <a:off x="4488062" y="3901978"/>
          <a:ext cx="1771338" cy="17235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0446">
                  <a:extLst>
                    <a:ext uri="{9D8B030D-6E8A-4147-A177-3AD203B41FA5}">
                      <a16:colId xmlns:a16="http://schemas.microsoft.com/office/drawing/2014/main" val="1200460301"/>
                    </a:ext>
                  </a:extLst>
                </a:gridCol>
                <a:gridCol w="590446">
                  <a:extLst>
                    <a:ext uri="{9D8B030D-6E8A-4147-A177-3AD203B41FA5}">
                      <a16:colId xmlns:a16="http://schemas.microsoft.com/office/drawing/2014/main" val="2389139816"/>
                    </a:ext>
                  </a:extLst>
                </a:gridCol>
                <a:gridCol w="590446">
                  <a:extLst>
                    <a:ext uri="{9D8B030D-6E8A-4147-A177-3AD203B41FA5}">
                      <a16:colId xmlns:a16="http://schemas.microsoft.com/office/drawing/2014/main" val="1044871678"/>
                    </a:ext>
                  </a:extLst>
                </a:gridCol>
              </a:tblGrid>
              <a:tr h="57452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28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28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28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825012"/>
                  </a:ext>
                </a:extLst>
              </a:tr>
              <a:tr h="57452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28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28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28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254178"/>
                  </a:ext>
                </a:extLst>
              </a:tr>
              <a:tr h="57452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28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28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28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2560810"/>
                  </a:ext>
                </a:extLst>
              </a:tr>
            </a:tbl>
          </a:graphicData>
        </a:graphic>
      </p:graphicFrame>
      <p:graphicFrame>
        <p:nvGraphicFramePr>
          <p:cNvPr id="30" name="表格 29">
            <a:extLst>
              <a:ext uri="{FF2B5EF4-FFF2-40B4-BE49-F238E27FC236}">
                <a16:creationId xmlns:a16="http://schemas.microsoft.com/office/drawing/2014/main" id="{8436198E-BA00-69A5-6232-DDEA9859BC99}"/>
              </a:ext>
            </a:extLst>
          </p:cNvPr>
          <p:cNvGraphicFramePr>
            <a:graphicFrameLocks noGrp="1"/>
          </p:cNvGraphicFramePr>
          <p:nvPr/>
        </p:nvGraphicFramePr>
        <p:xfrm>
          <a:off x="9057286" y="4120459"/>
          <a:ext cx="1261542" cy="125694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0514">
                  <a:extLst>
                    <a:ext uri="{9D8B030D-6E8A-4147-A177-3AD203B41FA5}">
                      <a16:colId xmlns:a16="http://schemas.microsoft.com/office/drawing/2014/main" val="2391097553"/>
                    </a:ext>
                  </a:extLst>
                </a:gridCol>
                <a:gridCol w="420514">
                  <a:extLst>
                    <a:ext uri="{9D8B030D-6E8A-4147-A177-3AD203B41FA5}">
                      <a16:colId xmlns:a16="http://schemas.microsoft.com/office/drawing/2014/main" val="4064529360"/>
                    </a:ext>
                  </a:extLst>
                </a:gridCol>
                <a:gridCol w="420514">
                  <a:extLst>
                    <a:ext uri="{9D8B030D-6E8A-4147-A177-3AD203B41FA5}">
                      <a16:colId xmlns:a16="http://schemas.microsoft.com/office/drawing/2014/main" val="1944424738"/>
                    </a:ext>
                  </a:extLst>
                </a:gridCol>
              </a:tblGrid>
              <a:tr h="41898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/>
                        <a:t>1</a:t>
                      </a:r>
                      <a:endParaRPr lang="zh-TW" altLang="en-US" sz="1800"/>
                    </a:p>
                  </a:txBody>
                  <a:tcPr marL="60133" marR="60133" marT="30067" marB="30067" anchor="ctr">
                    <a:solidFill>
                      <a:srgbClr val="6EA9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/>
                        <a:t>1</a:t>
                      </a:r>
                      <a:endParaRPr lang="zh-TW" altLang="en-US" sz="1800"/>
                    </a:p>
                  </a:txBody>
                  <a:tcPr marL="60133" marR="60133" marT="30067" marB="30067" anchor="ctr">
                    <a:solidFill>
                      <a:srgbClr val="6EA9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/>
                        <a:t>1</a:t>
                      </a:r>
                      <a:endParaRPr lang="zh-TW" altLang="en-US" sz="1800"/>
                    </a:p>
                  </a:txBody>
                  <a:tcPr marL="60133" marR="60133" marT="30067" marB="30067" anchor="ctr">
                    <a:solidFill>
                      <a:srgbClr val="6EA9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9214201"/>
                  </a:ext>
                </a:extLst>
              </a:tr>
              <a:tr h="41898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/>
                        <a:t>0</a:t>
                      </a:r>
                      <a:endParaRPr lang="zh-TW" altLang="en-US" sz="1800"/>
                    </a:p>
                  </a:txBody>
                  <a:tcPr marL="60133" marR="60133" marT="30067" marB="30067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133" marR="60133" marT="30067" marB="30067" anchor="ctr">
                    <a:solidFill>
                      <a:srgbClr val="6EA92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133" marR="60133" marT="30067" marB="30067" anchor="ctr">
                    <a:solidFill>
                      <a:srgbClr val="6EA9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4343889"/>
                  </a:ext>
                </a:extLst>
              </a:tr>
              <a:tr h="41898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/>
                        <a:t>0</a:t>
                      </a:r>
                      <a:endParaRPr lang="zh-TW" altLang="en-US" sz="1800"/>
                    </a:p>
                  </a:txBody>
                  <a:tcPr marL="60133" marR="60133" marT="30067" marB="30067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/>
                        <a:t>0</a:t>
                      </a:r>
                      <a:endParaRPr lang="zh-TW" altLang="en-US" sz="1800"/>
                    </a:p>
                  </a:txBody>
                  <a:tcPr marL="60133" marR="60133" marT="30067" marB="30067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/>
                        <a:t>1</a:t>
                      </a:r>
                      <a:endParaRPr lang="zh-TW" altLang="en-US" sz="1800"/>
                    </a:p>
                  </a:txBody>
                  <a:tcPr marL="60133" marR="60133" marT="30067" marB="30067" anchor="ctr">
                    <a:solidFill>
                      <a:srgbClr val="6EA9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8769157"/>
                  </a:ext>
                </a:extLst>
              </a:tr>
            </a:tbl>
          </a:graphicData>
        </a:graphic>
      </p:graphicFrame>
      <p:pic>
        <p:nvPicPr>
          <p:cNvPr id="33" name="圖片 32">
            <a:extLst>
              <a:ext uri="{FF2B5EF4-FFF2-40B4-BE49-F238E27FC236}">
                <a16:creationId xmlns:a16="http://schemas.microsoft.com/office/drawing/2014/main" id="{7C158518-497A-CDB7-5E99-DABF293667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3128" y="4076046"/>
            <a:ext cx="1336668" cy="1418505"/>
          </a:xfrm>
          <a:prstGeom prst="rect">
            <a:avLst/>
          </a:prstGeom>
        </p:spPr>
      </p:pic>
      <p:sp>
        <p:nvSpPr>
          <p:cNvPr id="34" name="文字方塊 33">
            <a:extLst>
              <a:ext uri="{FF2B5EF4-FFF2-40B4-BE49-F238E27FC236}">
                <a16:creationId xmlns:a16="http://schemas.microsoft.com/office/drawing/2014/main" id="{FA70DC47-F6F6-D4EB-0790-E6B64F9308D8}"/>
              </a:ext>
            </a:extLst>
          </p:cNvPr>
          <p:cNvSpPr txBox="1"/>
          <p:nvPr/>
        </p:nvSpPr>
        <p:spPr>
          <a:xfrm>
            <a:off x="9435208" y="2055520"/>
            <a:ext cx="2322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/>
              <a:t>做點積，同位置相乘，</a:t>
            </a:r>
            <a:endParaRPr lang="en-US" altLang="zh-TW"/>
          </a:p>
          <a:p>
            <a:pPr algn="ctr"/>
            <a:r>
              <a:rPr lang="zh-TW" altLang="en-US"/>
              <a:t>之後全部相加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C7E5EA4-64C5-7A39-5384-7620C9DEB80E}"/>
              </a:ext>
            </a:extLst>
          </p:cNvPr>
          <p:cNvSpPr/>
          <p:nvPr/>
        </p:nvSpPr>
        <p:spPr>
          <a:xfrm>
            <a:off x="8881623" y="322698"/>
            <a:ext cx="3203010" cy="2575561"/>
          </a:xfrm>
          <a:prstGeom prst="rect">
            <a:avLst/>
          </a:prstGeom>
          <a:noFill/>
          <a:ln w="28575"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7" name="圖片 36">
            <a:extLst>
              <a:ext uri="{FF2B5EF4-FFF2-40B4-BE49-F238E27FC236}">
                <a16:creationId xmlns:a16="http://schemas.microsoft.com/office/drawing/2014/main" id="{4B1C0823-F4E0-7A67-BDFD-31DD416AC8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4710" y="578638"/>
            <a:ext cx="1336668" cy="1418505"/>
          </a:xfrm>
          <a:prstGeom prst="rect">
            <a:avLst/>
          </a:prstGeom>
        </p:spPr>
      </p:pic>
      <p:sp>
        <p:nvSpPr>
          <p:cNvPr id="38" name="橢圓 37">
            <a:extLst>
              <a:ext uri="{FF2B5EF4-FFF2-40B4-BE49-F238E27FC236}">
                <a16:creationId xmlns:a16="http://schemas.microsoft.com/office/drawing/2014/main" id="{39C93DA9-4B77-C041-D603-9679C9335316}"/>
              </a:ext>
            </a:extLst>
          </p:cNvPr>
          <p:cNvSpPr/>
          <p:nvPr/>
        </p:nvSpPr>
        <p:spPr>
          <a:xfrm>
            <a:off x="7302042" y="3797869"/>
            <a:ext cx="638764" cy="632140"/>
          </a:xfrm>
          <a:prstGeom prst="ellipse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手繪多邊形: 圖案 38">
            <a:extLst>
              <a:ext uri="{FF2B5EF4-FFF2-40B4-BE49-F238E27FC236}">
                <a16:creationId xmlns:a16="http://schemas.microsoft.com/office/drawing/2014/main" id="{057FB8C3-BEEA-9A6D-624C-1C69798222D9}"/>
              </a:ext>
            </a:extLst>
          </p:cNvPr>
          <p:cNvSpPr/>
          <p:nvPr/>
        </p:nvSpPr>
        <p:spPr>
          <a:xfrm>
            <a:off x="7954632" y="2933888"/>
            <a:ext cx="1294645" cy="1140737"/>
          </a:xfrm>
          <a:custGeom>
            <a:avLst/>
            <a:gdLst>
              <a:gd name="connsiteX0" fmla="*/ 0 w 1294645"/>
              <a:gd name="connsiteY0" fmla="*/ 1140737 h 1140737"/>
              <a:gd name="connsiteX1" fmla="*/ 199176 w 1294645"/>
              <a:gd name="connsiteY1" fmla="*/ 1059255 h 1140737"/>
              <a:gd name="connsiteX2" fmla="*/ 271604 w 1294645"/>
              <a:gd name="connsiteY2" fmla="*/ 1023042 h 1140737"/>
              <a:gd name="connsiteX3" fmla="*/ 506994 w 1294645"/>
              <a:gd name="connsiteY3" fmla="*/ 914400 h 1140737"/>
              <a:gd name="connsiteX4" fmla="*/ 597528 w 1294645"/>
              <a:gd name="connsiteY4" fmla="*/ 860079 h 1140737"/>
              <a:gd name="connsiteX5" fmla="*/ 724277 w 1294645"/>
              <a:gd name="connsiteY5" fmla="*/ 778598 h 1140737"/>
              <a:gd name="connsiteX6" fmla="*/ 805758 w 1294645"/>
              <a:gd name="connsiteY6" fmla="*/ 706170 h 1140737"/>
              <a:gd name="connsiteX7" fmla="*/ 832919 w 1294645"/>
              <a:gd name="connsiteY7" fmla="*/ 679010 h 1140737"/>
              <a:gd name="connsiteX8" fmla="*/ 1004934 w 1294645"/>
              <a:gd name="connsiteY8" fmla="*/ 497941 h 1140737"/>
              <a:gd name="connsiteX9" fmla="*/ 1104523 w 1294645"/>
              <a:gd name="connsiteY9" fmla="*/ 362139 h 1140737"/>
              <a:gd name="connsiteX10" fmla="*/ 1195057 w 1294645"/>
              <a:gd name="connsiteY10" fmla="*/ 199176 h 1140737"/>
              <a:gd name="connsiteX11" fmla="*/ 1213164 w 1294645"/>
              <a:gd name="connsiteY11" fmla="*/ 172016 h 1140737"/>
              <a:gd name="connsiteX12" fmla="*/ 1276538 w 1294645"/>
              <a:gd name="connsiteY12" fmla="*/ 54321 h 1140737"/>
              <a:gd name="connsiteX13" fmla="*/ 1294645 w 1294645"/>
              <a:gd name="connsiteY13" fmla="*/ 0 h 1140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4645" h="1140737">
                <a:moveTo>
                  <a:pt x="0" y="1140737"/>
                </a:moveTo>
                <a:cubicBezTo>
                  <a:pt x="66392" y="1113576"/>
                  <a:pt x="135016" y="1091334"/>
                  <a:pt x="199176" y="1059255"/>
                </a:cubicBezTo>
                <a:cubicBezTo>
                  <a:pt x="223319" y="1047184"/>
                  <a:pt x="247031" y="1034211"/>
                  <a:pt x="271604" y="1023042"/>
                </a:cubicBezTo>
                <a:cubicBezTo>
                  <a:pt x="347952" y="988339"/>
                  <a:pt x="434413" y="957949"/>
                  <a:pt x="506994" y="914400"/>
                </a:cubicBezTo>
                <a:cubicBezTo>
                  <a:pt x="537172" y="896293"/>
                  <a:pt x="568245" y="879601"/>
                  <a:pt x="597528" y="860079"/>
                </a:cubicBezTo>
                <a:cubicBezTo>
                  <a:pt x="730457" y="771459"/>
                  <a:pt x="613242" y="834114"/>
                  <a:pt x="724277" y="778598"/>
                </a:cubicBezTo>
                <a:cubicBezTo>
                  <a:pt x="791853" y="694129"/>
                  <a:pt x="725372" y="766459"/>
                  <a:pt x="805758" y="706170"/>
                </a:cubicBezTo>
                <a:cubicBezTo>
                  <a:pt x="816001" y="698488"/>
                  <a:pt x="823445" y="687623"/>
                  <a:pt x="832919" y="679010"/>
                </a:cubicBezTo>
                <a:cubicBezTo>
                  <a:pt x="922314" y="597742"/>
                  <a:pt x="919400" y="614577"/>
                  <a:pt x="1004934" y="497941"/>
                </a:cubicBezTo>
                <a:cubicBezTo>
                  <a:pt x="1038130" y="452674"/>
                  <a:pt x="1079419" y="412348"/>
                  <a:pt x="1104523" y="362139"/>
                </a:cubicBezTo>
                <a:cubicBezTo>
                  <a:pt x="1135206" y="300773"/>
                  <a:pt x="1153016" y="262236"/>
                  <a:pt x="1195057" y="199176"/>
                </a:cubicBezTo>
                <a:cubicBezTo>
                  <a:pt x="1201093" y="190123"/>
                  <a:pt x="1208005" y="181596"/>
                  <a:pt x="1213164" y="172016"/>
                </a:cubicBezTo>
                <a:cubicBezTo>
                  <a:pt x="1283350" y="41669"/>
                  <a:pt x="1233248" y="119255"/>
                  <a:pt x="1276538" y="54321"/>
                </a:cubicBezTo>
                <a:lnTo>
                  <a:pt x="1294645" y="0"/>
                </a:lnTo>
              </a:path>
            </a:pathLst>
          </a:custGeom>
          <a:noFill/>
          <a:ln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3" name="圖片 42">
            <a:extLst>
              <a:ext uri="{FF2B5EF4-FFF2-40B4-BE49-F238E27FC236}">
                <a16:creationId xmlns:a16="http://schemas.microsoft.com/office/drawing/2014/main" id="{C263F7D9-AE16-5DCD-9204-05C3702071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7946" y="610409"/>
            <a:ext cx="1288458" cy="1340802"/>
          </a:xfrm>
          <a:prstGeom prst="rect">
            <a:avLst/>
          </a:prstGeom>
        </p:spPr>
      </p:pic>
      <p:sp>
        <p:nvSpPr>
          <p:cNvPr id="44" name="文字方塊 43">
            <a:extLst>
              <a:ext uri="{FF2B5EF4-FFF2-40B4-BE49-F238E27FC236}">
                <a16:creationId xmlns:a16="http://schemas.microsoft.com/office/drawing/2014/main" id="{2E6C4096-E35C-37C6-5110-DFAA97015E5B}"/>
              </a:ext>
            </a:extLst>
          </p:cNvPr>
          <p:cNvSpPr txBox="1"/>
          <p:nvPr/>
        </p:nvSpPr>
        <p:spPr>
          <a:xfrm>
            <a:off x="432069" y="1201600"/>
            <a:ext cx="78337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zh-TW" altLang="en-US" sz="2800"/>
              <a:t>有一個影像</a:t>
            </a:r>
            <a:r>
              <a:rPr lang="en-US" altLang="zh-TW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TW" altLang="en-US" sz="2800"/>
              <a:t>為大小為</a:t>
            </a:r>
            <a:r>
              <a:rPr lang="en-US" altLang="zh-TW" sz="2800"/>
              <a:t>5*5</a:t>
            </a:r>
            <a:r>
              <a:rPr lang="zh-TW" altLang="en-US" sz="2800"/>
              <a:t>，遮罩</a:t>
            </a:r>
            <a:r>
              <a:rPr lang="en-US" altLang="zh-TW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TW" altLang="en-US" sz="2800"/>
              <a:t>大小為</a:t>
            </a:r>
            <a:r>
              <a:rPr lang="en-US" altLang="zh-TW" sz="2800"/>
              <a:t>3*3</a:t>
            </a:r>
            <a:r>
              <a:rPr lang="zh-TW" altLang="en-US" sz="2800"/>
              <a:t>，</a:t>
            </a:r>
            <a:endParaRPr lang="en-US" altLang="zh-TW" sz="2800"/>
          </a:p>
          <a:p>
            <a:r>
              <a:rPr lang="zh-TW" altLang="en-US" sz="2800"/>
              <a:t>     求算</a:t>
            </a:r>
            <a:r>
              <a:rPr lang="en-US" altLang="zh-TW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TW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對</a:t>
            </a:r>
            <a:r>
              <a:rPr lang="en-US" altLang="zh-TW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TW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相關性運算，即</a:t>
            </a:r>
            <a:r>
              <a:rPr lang="en-US" altLang="zh-TW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i="1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TW" sz="2800" err="1"/>
              <a:t>☆</a:t>
            </a:r>
            <a:r>
              <a:rPr lang="en-US" altLang="zh-TW" sz="2800" i="1" err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TW" alt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/>
              <a:t>, padding = 0</a:t>
            </a:r>
            <a:endParaRPr lang="zh-TW" altLang="en-US" sz="2800"/>
          </a:p>
        </p:txBody>
      </p:sp>
    </p:spTree>
    <p:extLst>
      <p:ext uri="{BB962C8B-B14F-4D97-AF65-F5344CB8AC3E}">
        <p14:creationId xmlns:p14="http://schemas.microsoft.com/office/powerpoint/2010/main" val="25584977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DA472428-308F-84FA-07D6-71D4722FC112}"/>
              </a:ext>
            </a:extLst>
          </p:cNvPr>
          <p:cNvSpPr txBox="1"/>
          <p:nvPr/>
        </p:nvSpPr>
        <p:spPr>
          <a:xfrm>
            <a:off x="0" y="26064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/>
              <a:t>補空白</a:t>
            </a:r>
            <a:r>
              <a:rPr lang="en-US" altLang="zh-TW"/>
              <a:t>Pad</a:t>
            </a:r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5BC3D40A-3C2F-0785-91E1-082892B27B9D}"/>
              </a:ext>
            </a:extLst>
          </p:cNvPr>
          <p:cNvSpPr txBox="1"/>
          <p:nvPr/>
        </p:nvSpPr>
        <p:spPr>
          <a:xfrm>
            <a:off x="3039150" y="1648909"/>
            <a:ext cx="29851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Padding=1 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影像</a:t>
            </a:r>
            <a:endParaRPr lang="en-US" altLang="zh-TW" sz="24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en-US" altLang="zh-TW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(P=2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 會補兩圈</a:t>
            </a:r>
            <a:r>
              <a:rPr lang="en-US" altLang="zh-TW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0)</a:t>
            </a:r>
            <a:endParaRPr lang="zh-TW" altLang="en-US" sz="24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10BCA84D-E388-AF5B-679B-43F09F571803}"/>
              </a:ext>
            </a:extLst>
          </p:cNvPr>
          <p:cNvSpPr txBox="1"/>
          <p:nvPr/>
        </p:nvSpPr>
        <p:spPr>
          <a:xfrm>
            <a:off x="6823753" y="2518029"/>
            <a:ext cx="11010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Kernel</a:t>
            </a:r>
            <a:endParaRPr lang="zh-TW" altLang="en-US" sz="24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32" name="表格 31">
            <a:extLst>
              <a:ext uri="{FF2B5EF4-FFF2-40B4-BE49-F238E27FC236}">
                <a16:creationId xmlns:a16="http://schemas.microsoft.com/office/drawing/2014/main" id="{E5D51063-568E-4153-8D9A-4D25A4E6C2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4429725"/>
              </p:ext>
            </p:extLst>
          </p:nvPr>
        </p:nvGraphicFramePr>
        <p:xfrm>
          <a:off x="3189142" y="2533681"/>
          <a:ext cx="2685185" cy="26754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7037">
                  <a:extLst>
                    <a:ext uri="{9D8B030D-6E8A-4147-A177-3AD203B41FA5}">
                      <a16:colId xmlns:a16="http://schemas.microsoft.com/office/drawing/2014/main" val="3726362657"/>
                    </a:ext>
                  </a:extLst>
                </a:gridCol>
                <a:gridCol w="537037">
                  <a:extLst>
                    <a:ext uri="{9D8B030D-6E8A-4147-A177-3AD203B41FA5}">
                      <a16:colId xmlns:a16="http://schemas.microsoft.com/office/drawing/2014/main" val="2521738682"/>
                    </a:ext>
                  </a:extLst>
                </a:gridCol>
                <a:gridCol w="537037">
                  <a:extLst>
                    <a:ext uri="{9D8B030D-6E8A-4147-A177-3AD203B41FA5}">
                      <a16:colId xmlns:a16="http://schemas.microsoft.com/office/drawing/2014/main" val="1836234598"/>
                    </a:ext>
                  </a:extLst>
                </a:gridCol>
                <a:gridCol w="537037">
                  <a:extLst>
                    <a:ext uri="{9D8B030D-6E8A-4147-A177-3AD203B41FA5}">
                      <a16:colId xmlns:a16="http://schemas.microsoft.com/office/drawing/2014/main" val="1829838298"/>
                    </a:ext>
                  </a:extLst>
                </a:gridCol>
                <a:gridCol w="537037">
                  <a:extLst>
                    <a:ext uri="{9D8B030D-6E8A-4147-A177-3AD203B41FA5}">
                      <a16:colId xmlns:a16="http://schemas.microsoft.com/office/drawing/2014/main" val="369149540"/>
                    </a:ext>
                  </a:extLst>
                </a:gridCol>
              </a:tblGrid>
              <a:tr h="5350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76796" marR="76796" marT="38398" marB="38398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 marL="76796" marR="76796" marT="38398" marB="38398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76796" marR="76796" marT="38398" marB="38398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 marL="76796" marR="76796" marT="38398" marB="38398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76796" marR="76796" marT="38398" marB="38398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8437140"/>
                  </a:ext>
                </a:extLst>
              </a:tr>
              <a:tr h="5350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76796" marR="76796" marT="38398" marB="38398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zh-TW" altLang="en-US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796" marR="76796" marT="38398" marB="38398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796" marR="76796" marT="38398" marB="3839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zh-TW" altLang="en-US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796" marR="76796" marT="38398" marB="3839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 marL="76796" marR="76796" marT="38398" marB="38398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5079043"/>
                  </a:ext>
                </a:extLst>
              </a:tr>
              <a:tr h="5350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76796" marR="76796" marT="38398" marB="38398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12</a:t>
                      </a:r>
                      <a:endParaRPr lang="zh-TW" altLang="en-US" sz="2400"/>
                    </a:p>
                  </a:txBody>
                  <a:tcPr marL="76796" marR="76796" marT="38398" marB="3839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13</a:t>
                      </a:r>
                      <a:endParaRPr lang="zh-TW" altLang="en-US" sz="2400"/>
                    </a:p>
                  </a:txBody>
                  <a:tcPr marL="76796" marR="76796" marT="38398" marB="3839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14</a:t>
                      </a:r>
                      <a:endParaRPr lang="zh-TW" altLang="en-US" sz="2400"/>
                    </a:p>
                  </a:txBody>
                  <a:tcPr marL="76796" marR="76796" marT="38398" marB="3839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 marL="76796" marR="76796" marT="38398" marB="38398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2911192"/>
                  </a:ext>
                </a:extLst>
              </a:tr>
              <a:tr h="5350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76796" marR="76796" marT="38398" marB="38398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17</a:t>
                      </a:r>
                      <a:endParaRPr lang="zh-TW" altLang="en-US" sz="2400"/>
                    </a:p>
                  </a:txBody>
                  <a:tcPr marL="76796" marR="76796" marT="38398" marB="3839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18</a:t>
                      </a:r>
                      <a:endParaRPr lang="zh-TW" altLang="en-US" sz="2400"/>
                    </a:p>
                  </a:txBody>
                  <a:tcPr marL="76796" marR="76796" marT="38398" marB="3839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19</a:t>
                      </a:r>
                      <a:endParaRPr lang="zh-TW" altLang="en-US" sz="2400"/>
                    </a:p>
                  </a:txBody>
                  <a:tcPr marL="76796" marR="76796" marT="38398" marB="3839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 marL="76796" marR="76796" marT="38398" marB="38398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6210389"/>
                  </a:ext>
                </a:extLst>
              </a:tr>
              <a:tr h="5350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76796" marR="76796" marT="38398" marB="38398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 marL="76796" marR="76796" marT="38398" marB="38398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 marL="76796" marR="76796" marT="38398" marB="38398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 marL="76796" marR="76796" marT="38398" marB="38398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76796" marR="76796" marT="38398" marB="38398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4327783"/>
                  </a:ext>
                </a:extLst>
              </a:tr>
            </a:tbl>
          </a:graphicData>
        </a:graphic>
      </p:graphicFrame>
      <p:graphicFrame>
        <p:nvGraphicFramePr>
          <p:cNvPr id="34" name="表格 33">
            <a:extLst>
              <a:ext uri="{FF2B5EF4-FFF2-40B4-BE49-F238E27FC236}">
                <a16:creationId xmlns:a16="http://schemas.microsoft.com/office/drawing/2014/main" id="{A81A79C0-55A4-3ED8-369B-9262E10DC10C}"/>
              </a:ext>
            </a:extLst>
          </p:cNvPr>
          <p:cNvGraphicFramePr>
            <a:graphicFrameLocks noGrp="1"/>
          </p:cNvGraphicFramePr>
          <p:nvPr/>
        </p:nvGraphicFramePr>
        <p:xfrm>
          <a:off x="6507550" y="3079351"/>
          <a:ext cx="1629687" cy="162195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3229">
                  <a:extLst>
                    <a:ext uri="{9D8B030D-6E8A-4147-A177-3AD203B41FA5}">
                      <a16:colId xmlns:a16="http://schemas.microsoft.com/office/drawing/2014/main" val="1200460301"/>
                    </a:ext>
                  </a:extLst>
                </a:gridCol>
                <a:gridCol w="543229">
                  <a:extLst>
                    <a:ext uri="{9D8B030D-6E8A-4147-A177-3AD203B41FA5}">
                      <a16:colId xmlns:a16="http://schemas.microsoft.com/office/drawing/2014/main" val="2389139816"/>
                    </a:ext>
                  </a:extLst>
                </a:gridCol>
                <a:gridCol w="543229">
                  <a:extLst>
                    <a:ext uri="{9D8B030D-6E8A-4147-A177-3AD203B41FA5}">
                      <a16:colId xmlns:a16="http://schemas.microsoft.com/office/drawing/2014/main" val="1044871678"/>
                    </a:ext>
                  </a:extLst>
                </a:gridCol>
              </a:tblGrid>
              <a:tr h="5406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70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2700">
                        <a:solidFill>
                          <a:srgbClr val="C00000"/>
                        </a:solidFill>
                      </a:endParaRPr>
                    </a:p>
                  </a:txBody>
                  <a:tcPr marL="77622" marR="77622" marT="38811" marB="38811" anchor="ctr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70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2700">
                        <a:solidFill>
                          <a:srgbClr val="C00000"/>
                        </a:solidFill>
                      </a:endParaRPr>
                    </a:p>
                  </a:txBody>
                  <a:tcPr marL="77622" marR="77622" marT="38811" marB="38811" anchor="ctr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70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2700">
                        <a:solidFill>
                          <a:srgbClr val="C00000"/>
                        </a:solidFill>
                      </a:endParaRPr>
                    </a:p>
                  </a:txBody>
                  <a:tcPr marL="77622" marR="77622" marT="38811" marB="38811" anchor="ctr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4825012"/>
                  </a:ext>
                </a:extLst>
              </a:tr>
              <a:tr h="5406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70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2700">
                        <a:solidFill>
                          <a:srgbClr val="C00000"/>
                        </a:solidFill>
                      </a:endParaRPr>
                    </a:p>
                  </a:txBody>
                  <a:tcPr marL="77622" marR="77622" marT="38811" marB="38811" anchor="ctr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70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2700">
                        <a:solidFill>
                          <a:srgbClr val="C00000"/>
                        </a:solidFill>
                      </a:endParaRPr>
                    </a:p>
                  </a:txBody>
                  <a:tcPr marL="77622" marR="77622" marT="38811" marB="38811" anchor="ctr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70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2700">
                        <a:solidFill>
                          <a:srgbClr val="C00000"/>
                        </a:solidFill>
                      </a:endParaRPr>
                    </a:p>
                  </a:txBody>
                  <a:tcPr marL="77622" marR="77622" marT="38811" marB="38811" anchor="ctr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7254178"/>
                  </a:ext>
                </a:extLst>
              </a:tr>
              <a:tr h="5406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70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2700">
                        <a:solidFill>
                          <a:srgbClr val="C00000"/>
                        </a:solidFill>
                      </a:endParaRPr>
                    </a:p>
                  </a:txBody>
                  <a:tcPr marL="77622" marR="77622" marT="38811" marB="38811" anchor="ctr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70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2700">
                        <a:solidFill>
                          <a:srgbClr val="C00000"/>
                        </a:solidFill>
                      </a:endParaRPr>
                    </a:p>
                  </a:txBody>
                  <a:tcPr marL="77622" marR="77622" marT="38811" marB="38811" anchor="ctr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70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2700">
                        <a:solidFill>
                          <a:srgbClr val="C00000"/>
                        </a:solidFill>
                      </a:endParaRPr>
                    </a:p>
                  </a:txBody>
                  <a:tcPr marL="77622" marR="77622" marT="38811" marB="38811" anchor="ctr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2560810"/>
                  </a:ext>
                </a:extLst>
              </a:tr>
            </a:tbl>
          </a:graphicData>
        </a:graphic>
      </p:graphicFrame>
      <p:graphicFrame>
        <p:nvGraphicFramePr>
          <p:cNvPr id="35" name="表格 34">
            <a:extLst>
              <a:ext uri="{FF2B5EF4-FFF2-40B4-BE49-F238E27FC236}">
                <a16:creationId xmlns:a16="http://schemas.microsoft.com/office/drawing/2014/main" id="{67ED4396-9141-C123-9B02-404D108BA211}"/>
              </a:ext>
            </a:extLst>
          </p:cNvPr>
          <p:cNvGraphicFramePr>
            <a:graphicFrameLocks noGrp="1"/>
          </p:cNvGraphicFramePr>
          <p:nvPr/>
        </p:nvGraphicFramePr>
        <p:xfrm>
          <a:off x="9234054" y="2906281"/>
          <a:ext cx="2148148" cy="21403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7037">
                  <a:extLst>
                    <a:ext uri="{9D8B030D-6E8A-4147-A177-3AD203B41FA5}">
                      <a16:colId xmlns:a16="http://schemas.microsoft.com/office/drawing/2014/main" val="1418073191"/>
                    </a:ext>
                  </a:extLst>
                </a:gridCol>
                <a:gridCol w="537037">
                  <a:extLst>
                    <a:ext uri="{9D8B030D-6E8A-4147-A177-3AD203B41FA5}">
                      <a16:colId xmlns:a16="http://schemas.microsoft.com/office/drawing/2014/main" val="3086415998"/>
                    </a:ext>
                  </a:extLst>
                </a:gridCol>
                <a:gridCol w="537037">
                  <a:extLst>
                    <a:ext uri="{9D8B030D-6E8A-4147-A177-3AD203B41FA5}">
                      <a16:colId xmlns:a16="http://schemas.microsoft.com/office/drawing/2014/main" val="1405263833"/>
                    </a:ext>
                  </a:extLst>
                </a:gridCol>
                <a:gridCol w="537037">
                  <a:extLst>
                    <a:ext uri="{9D8B030D-6E8A-4147-A177-3AD203B41FA5}">
                      <a16:colId xmlns:a16="http://schemas.microsoft.com/office/drawing/2014/main" val="3821831854"/>
                    </a:ext>
                  </a:extLst>
                </a:gridCol>
              </a:tblGrid>
              <a:tr h="5350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 marL="76796" marR="76796" marT="38398" marB="38398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 marL="76796" marR="76796" marT="38398" marB="38398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 marL="76796" marR="76796" marT="38398" marB="38398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 marL="76796" marR="76796" marT="38398" marB="38398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1772606"/>
                  </a:ext>
                </a:extLst>
              </a:tr>
              <a:tr h="5350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 marL="76796" marR="76796" marT="38398" marB="38398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zh-TW" altLang="en-US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796" marR="76796" marT="38398" marB="38398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796" marR="76796" marT="38398" marB="3839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zh-TW" altLang="en-US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796" marR="76796" marT="38398" marB="38398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4927739"/>
                  </a:ext>
                </a:extLst>
              </a:tr>
              <a:tr h="5350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 marL="76796" marR="76796" marT="38398" marB="38398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12</a:t>
                      </a:r>
                      <a:endParaRPr lang="zh-TW" altLang="en-US" sz="2400"/>
                    </a:p>
                  </a:txBody>
                  <a:tcPr marL="76796" marR="76796" marT="38398" marB="3839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13</a:t>
                      </a:r>
                      <a:endParaRPr lang="zh-TW" altLang="en-US" sz="2400"/>
                    </a:p>
                  </a:txBody>
                  <a:tcPr marL="76796" marR="76796" marT="38398" marB="3839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14</a:t>
                      </a:r>
                      <a:endParaRPr lang="zh-TW" altLang="en-US" sz="2400"/>
                    </a:p>
                  </a:txBody>
                  <a:tcPr marL="76796" marR="76796" marT="38398" marB="38398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8169342"/>
                  </a:ext>
                </a:extLst>
              </a:tr>
              <a:tr h="5350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 marL="76796" marR="76796" marT="38398" marB="38398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17</a:t>
                      </a:r>
                      <a:endParaRPr lang="zh-TW" altLang="en-US" sz="2400"/>
                    </a:p>
                  </a:txBody>
                  <a:tcPr marL="76796" marR="76796" marT="38398" marB="3839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18</a:t>
                      </a:r>
                      <a:endParaRPr lang="zh-TW" altLang="en-US" sz="2400"/>
                    </a:p>
                  </a:txBody>
                  <a:tcPr marL="76796" marR="76796" marT="38398" marB="3839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19</a:t>
                      </a:r>
                      <a:endParaRPr lang="zh-TW" altLang="en-US" sz="2400"/>
                    </a:p>
                  </a:txBody>
                  <a:tcPr marL="76796" marR="76796" marT="38398" marB="38398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2754478"/>
                  </a:ext>
                </a:extLst>
              </a:tr>
            </a:tbl>
          </a:graphicData>
        </a:graphic>
      </p:graphicFrame>
      <p:graphicFrame>
        <p:nvGraphicFramePr>
          <p:cNvPr id="36" name="表格 35">
            <a:extLst>
              <a:ext uri="{FF2B5EF4-FFF2-40B4-BE49-F238E27FC236}">
                <a16:creationId xmlns:a16="http://schemas.microsoft.com/office/drawing/2014/main" id="{D9A5A564-0BA4-6E2E-F2F8-4DFF61ED961A}"/>
              </a:ext>
            </a:extLst>
          </p:cNvPr>
          <p:cNvGraphicFramePr>
            <a:graphicFrameLocks noGrp="1"/>
          </p:cNvGraphicFramePr>
          <p:nvPr/>
        </p:nvGraphicFramePr>
        <p:xfrm>
          <a:off x="9227659" y="2890005"/>
          <a:ext cx="1629687" cy="162195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3229">
                  <a:extLst>
                    <a:ext uri="{9D8B030D-6E8A-4147-A177-3AD203B41FA5}">
                      <a16:colId xmlns:a16="http://schemas.microsoft.com/office/drawing/2014/main" val="1200460301"/>
                    </a:ext>
                  </a:extLst>
                </a:gridCol>
                <a:gridCol w="543229">
                  <a:extLst>
                    <a:ext uri="{9D8B030D-6E8A-4147-A177-3AD203B41FA5}">
                      <a16:colId xmlns:a16="http://schemas.microsoft.com/office/drawing/2014/main" val="2389139816"/>
                    </a:ext>
                  </a:extLst>
                </a:gridCol>
                <a:gridCol w="543229">
                  <a:extLst>
                    <a:ext uri="{9D8B030D-6E8A-4147-A177-3AD203B41FA5}">
                      <a16:colId xmlns:a16="http://schemas.microsoft.com/office/drawing/2014/main" val="1044871678"/>
                    </a:ext>
                  </a:extLst>
                </a:gridCol>
              </a:tblGrid>
              <a:tr h="5406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70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2700">
                        <a:solidFill>
                          <a:srgbClr val="C00000"/>
                        </a:solidFill>
                      </a:endParaRPr>
                    </a:p>
                  </a:txBody>
                  <a:tcPr marL="77622" marR="77622" marT="38811" marB="38811" anchor="ctr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70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2700">
                        <a:solidFill>
                          <a:srgbClr val="C00000"/>
                        </a:solidFill>
                      </a:endParaRPr>
                    </a:p>
                  </a:txBody>
                  <a:tcPr marL="77622" marR="77622" marT="38811" marB="38811" anchor="ctr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70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2700">
                        <a:solidFill>
                          <a:srgbClr val="C00000"/>
                        </a:solidFill>
                      </a:endParaRPr>
                    </a:p>
                  </a:txBody>
                  <a:tcPr marL="77622" marR="77622" marT="38811" marB="38811" anchor="ctr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4825012"/>
                  </a:ext>
                </a:extLst>
              </a:tr>
              <a:tr h="5406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70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2700">
                        <a:solidFill>
                          <a:srgbClr val="C00000"/>
                        </a:solidFill>
                      </a:endParaRPr>
                    </a:p>
                  </a:txBody>
                  <a:tcPr marL="77622" marR="77622" marT="38811" marB="38811" anchor="ctr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70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2700">
                        <a:solidFill>
                          <a:srgbClr val="C00000"/>
                        </a:solidFill>
                      </a:endParaRPr>
                    </a:p>
                  </a:txBody>
                  <a:tcPr marL="77622" marR="77622" marT="38811" marB="38811" anchor="ctr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70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2700">
                        <a:solidFill>
                          <a:srgbClr val="C00000"/>
                        </a:solidFill>
                      </a:endParaRPr>
                    </a:p>
                  </a:txBody>
                  <a:tcPr marL="77622" marR="77622" marT="38811" marB="38811" anchor="ctr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7254178"/>
                  </a:ext>
                </a:extLst>
              </a:tr>
              <a:tr h="5406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70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2700">
                        <a:solidFill>
                          <a:srgbClr val="C00000"/>
                        </a:solidFill>
                      </a:endParaRPr>
                    </a:p>
                  </a:txBody>
                  <a:tcPr marL="77622" marR="77622" marT="38811" marB="38811" anchor="ctr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70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2700">
                        <a:solidFill>
                          <a:srgbClr val="C00000"/>
                        </a:solidFill>
                      </a:endParaRPr>
                    </a:p>
                  </a:txBody>
                  <a:tcPr marL="77622" marR="77622" marT="38811" marB="38811" anchor="ctr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70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2700">
                        <a:solidFill>
                          <a:srgbClr val="C00000"/>
                        </a:solidFill>
                      </a:endParaRPr>
                    </a:p>
                  </a:txBody>
                  <a:tcPr marL="77622" marR="77622" marT="38811" marB="38811" anchor="ctr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2560810"/>
                  </a:ext>
                </a:extLst>
              </a:tr>
            </a:tbl>
          </a:graphicData>
        </a:graphic>
      </p:graphicFrame>
      <p:graphicFrame>
        <p:nvGraphicFramePr>
          <p:cNvPr id="42" name="表格 41">
            <a:extLst>
              <a:ext uri="{FF2B5EF4-FFF2-40B4-BE49-F238E27FC236}">
                <a16:creationId xmlns:a16="http://schemas.microsoft.com/office/drawing/2014/main" id="{46F580C6-19E3-2453-91B9-D4448E8429F5}"/>
              </a:ext>
            </a:extLst>
          </p:cNvPr>
          <p:cNvGraphicFramePr>
            <a:graphicFrameLocks noGrp="1"/>
          </p:cNvGraphicFramePr>
          <p:nvPr/>
        </p:nvGraphicFramePr>
        <p:xfrm>
          <a:off x="939800" y="3100244"/>
          <a:ext cx="1611111" cy="160524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7037">
                  <a:extLst>
                    <a:ext uri="{9D8B030D-6E8A-4147-A177-3AD203B41FA5}">
                      <a16:colId xmlns:a16="http://schemas.microsoft.com/office/drawing/2014/main" val="738406071"/>
                    </a:ext>
                  </a:extLst>
                </a:gridCol>
                <a:gridCol w="537037">
                  <a:extLst>
                    <a:ext uri="{9D8B030D-6E8A-4147-A177-3AD203B41FA5}">
                      <a16:colId xmlns:a16="http://schemas.microsoft.com/office/drawing/2014/main" val="2409655242"/>
                    </a:ext>
                  </a:extLst>
                </a:gridCol>
                <a:gridCol w="537037">
                  <a:extLst>
                    <a:ext uri="{9D8B030D-6E8A-4147-A177-3AD203B41FA5}">
                      <a16:colId xmlns:a16="http://schemas.microsoft.com/office/drawing/2014/main" val="749220113"/>
                    </a:ext>
                  </a:extLst>
                </a:gridCol>
              </a:tblGrid>
              <a:tr h="53508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zh-TW" altLang="en-US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796" marR="76796" marT="38398" marB="3839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796" marR="76796" marT="38398" marB="3839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zh-TW" altLang="en-US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796" marR="76796" marT="38398" marB="38398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2762147"/>
                  </a:ext>
                </a:extLst>
              </a:tr>
              <a:tr h="5350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12</a:t>
                      </a:r>
                      <a:endParaRPr lang="zh-TW" altLang="en-US" sz="2400"/>
                    </a:p>
                  </a:txBody>
                  <a:tcPr marL="76796" marR="76796" marT="38398" marB="3839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13</a:t>
                      </a:r>
                      <a:endParaRPr lang="zh-TW" altLang="en-US" sz="2400"/>
                    </a:p>
                  </a:txBody>
                  <a:tcPr marL="76796" marR="76796" marT="38398" marB="3839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14</a:t>
                      </a:r>
                      <a:endParaRPr lang="zh-TW" altLang="en-US" sz="2400"/>
                    </a:p>
                  </a:txBody>
                  <a:tcPr marL="76796" marR="76796" marT="38398" marB="38398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8711160"/>
                  </a:ext>
                </a:extLst>
              </a:tr>
              <a:tr h="5350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17</a:t>
                      </a:r>
                      <a:endParaRPr lang="zh-TW" altLang="en-US" sz="2400"/>
                    </a:p>
                  </a:txBody>
                  <a:tcPr marL="76796" marR="76796" marT="38398" marB="3839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18</a:t>
                      </a:r>
                      <a:endParaRPr lang="zh-TW" altLang="en-US" sz="2400"/>
                    </a:p>
                  </a:txBody>
                  <a:tcPr marL="76796" marR="76796" marT="38398" marB="3839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19</a:t>
                      </a:r>
                      <a:endParaRPr lang="zh-TW" altLang="en-US" sz="2400"/>
                    </a:p>
                  </a:txBody>
                  <a:tcPr marL="76796" marR="76796" marT="38398" marB="38398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1607599"/>
                  </a:ext>
                </a:extLst>
              </a:tr>
            </a:tbl>
          </a:graphicData>
        </a:graphic>
      </p:graphicFrame>
      <p:sp>
        <p:nvSpPr>
          <p:cNvPr id="43" name="文字方塊 42">
            <a:extLst>
              <a:ext uri="{FF2B5EF4-FFF2-40B4-BE49-F238E27FC236}">
                <a16:creationId xmlns:a16="http://schemas.microsoft.com/office/drawing/2014/main" id="{FCDEE9A3-67A5-99CA-FD4D-E1401DA3B987}"/>
              </a:ext>
            </a:extLst>
          </p:cNvPr>
          <p:cNvSpPr txBox="1"/>
          <p:nvPr/>
        </p:nvSpPr>
        <p:spPr>
          <a:xfrm>
            <a:off x="575453" y="2564214"/>
            <a:ext cx="24309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影像</a:t>
            </a: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7B958AFA-4758-EFFB-BC8D-4429D758ACA7}"/>
              </a:ext>
            </a:extLst>
          </p:cNvPr>
          <p:cNvSpPr txBox="1"/>
          <p:nvPr/>
        </p:nvSpPr>
        <p:spPr>
          <a:xfrm>
            <a:off x="8787253" y="1548532"/>
            <a:ext cx="30417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Padding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後可以</a:t>
            </a:r>
            <a:endParaRPr lang="en-US" altLang="zh-TW" sz="24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往更左上角開始算</a:t>
            </a:r>
            <a:endParaRPr lang="en-US" altLang="zh-TW" sz="24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較不會損失邊緣特徵</a:t>
            </a:r>
          </a:p>
        </p:txBody>
      </p:sp>
    </p:spTree>
    <p:extLst>
      <p:ext uri="{BB962C8B-B14F-4D97-AF65-F5344CB8AC3E}">
        <p14:creationId xmlns:p14="http://schemas.microsoft.com/office/powerpoint/2010/main" val="14493168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32E67-AB90-A9F4-B7D9-9CA096892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BCB6D29D-4951-CBF2-984C-428D6375D5F0}"/>
              </a:ext>
            </a:extLst>
          </p:cNvPr>
          <p:cNvSpPr/>
          <p:nvPr/>
        </p:nvSpPr>
        <p:spPr>
          <a:xfrm>
            <a:off x="432069" y="2408222"/>
            <a:ext cx="8342187" cy="4282289"/>
          </a:xfrm>
          <a:prstGeom prst="rect">
            <a:avLst/>
          </a:prstGeom>
          <a:solidFill>
            <a:srgbClr val="CAEE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BD9B894-64F0-2468-00EA-714C69825E15}"/>
              </a:ext>
            </a:extLst>
          </p:cNvPr>
          <p:cNvSpPr txBox="1"/>
          <p:nvPr/>
        </p:nvSpPr>
        <p:spPr>
          <a:xfrm>
            <a:off x="0" y="26064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/>
              <a:t>卷積</a:t>
            </a:r>
            <a:r>
              <a:rPr lang="en-US" altLang="zh-TW"/>
              <a:t>(Convolution)</a:t>
            </a:r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D24EB6B-78C9-7050-9FC5-85946E1A0C8C}"/>
              </a:ext>
            </a:extLst>
          </p:cNvPr>
          <p:cNvSpPr txBox="1"/>
          <p:nvPr/>
        </p:nvSpPr>
        <p:spPr>
          <a:xfrm>
            <a:off x="2150209" y="2549490"/>
            <a:ext cx="298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TW" altLang="en-US" sz="32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93B5C7A-A550-AB0B-5FD3-26D367E9B74D}"/>
              </a:ext>
            </a:extLst>
          </p:cNvPr>
          <p:cNvSpPr txBox="1"/>
          <p:nvPr/>
        </p:nvSpPr>
        <p:spPr>
          <a:xfrm>
            <a:off x="5148267" y="3068035"/>
            <a:ext cx="560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i="1">
                <a:latin typeface="Times New Roman" panose="02020603050405020304" pitchFamily="18" charset="0"/>
                <a:cs typeface="Times New Roman" panose="02020603050405020304" pitchFamily="18" charset="0"/>
              </a:rPr>
              <a:t>g'</a:t>
            </a:r>
            <a:endParaRPr lang="zh-TW" altLang="en-US" sz="32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29027B88-2BB0-F220-DBF3-7D3A33746557}"/>
              </a:ext>
            </a:extLst>
          </p:cNvPr>
          <p:cNvSpPr txBox="1"/>
          <p:nvPr/>
        </p:nvSpPr>
        <p:spPr>
          <a:xfrm>
            <a:off x="3896733" y="4572653"/>
            <a:ext cx="3933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/>
              <a:t>＊</a:t>
            </a:r>
            <a:endParaRPr lang="zh-TW" altLang="en-US"/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FD6617F4-B769-C88D-1D30-0BB57BB28B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0093941"/>
              </p:ext>
            </p:extLst>
          </p:nvPr>
        </p:nvGraphicFramePr>
        <p:xfrm>
          <a:off x="6636605" y="3797869"/>
          <a:ext cx="1920873" cy="191876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291">
                  <a:extLst>
                    <a:ext uri="{9D8B030D-6E8A-4147-A177-3AD203B41FA5}">
                      <a16:colId xmlns:a16="http://schemas.microsoft.com/office/drawing/2014/main" val="1200460301"/>
                    </a:ext>
                  </a:extLst>
                </a:gridCol>
                <a:gridCol w="640291">
                  <a:extLst>
                    <a:ext uri="{9D8B030D-6E8A-4147-A177-3AD203B41FA5}">
                      <a16:colId xmlns:a16="http://schemas.microsoft.com/office/drawing/2014/main" val="2389139816"/>
                    </a:ext>
                  </a:extLst>
                </a:gridCol>
                <a:gridCol w="640291">
                  <a:extLst>
                    <a:ext uri="{9D8B030D-6E8A-4147-A177-3AD203B41FA5}">
                      <a16:colId xmlns:a16="http://schemas.microsoft.com/office/drawing/2014/main" val="1044871678"/>
                    </a:ext>
                  </a:extLst>
                </a:gridCol>
              </a:tblGrid>
              <a:tr h="6395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26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56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54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825012"/>
                  </a:ext>
                </a:extLst>
              </a:tr>
              <a:tr h="6395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84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165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144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254178"/>
                  </a:ext>
                </a:extLst>
              </a:tr>
              <a:tr h="6395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134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236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186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2560810"/>
                  </a:ext>
                </a:extLst>
              </a:tr>
            </a:tbl>
          </a:graphicData>
        </a:graphic>
      </p:graphicFrame>
      <p:sp>
        <p:nvSpPr>
          <p:cNvPr id="24" name="文字方塊 23">
            <a:extLst>
              <a:ext uri="{FF2B5EF4-FFF2-40B4-BE49-F238E27FC236}">
                <a16:creationId xmlns:a16="http://schemas.microsoft.com/office/drawing/2014/main" id="{917FD839-BD2D-A3F3-DBFB-9A5BF0CDB5CB}"/>
              </a:ext>
            </a:extLst>
          </p:cNvPr>
          <p:cNvSpPr txBox="1"/>
          <p:nvPr/>
        </p:nvSpPr>
        <p:spPr>
          <a:xfrm>
            <a:off x="6980526" y="3165009"/>
            <a:ext cx="123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i="1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zh-TW" altLang="en-US" sz="32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196E69BE-AE4D-97FC-0ECF-683D8A63B57C}"/>
              </a:ext>
            </a:extLst>
          </p:cNvPr>
          <p:cNvGraphicFramePr>
            <a:graphicFrameLocks noGrp="1"/>
          </p:cNvGraphicFramePr>
          <p:nvPr/>
        </p:nvGraphicFramePr>
        <p:xfrm>
          <a:off x="697944" y="3195002"/>
          <a:ext cx="3203010" cy="31941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602">
                  <a:extLst>
                    <a:ext uri="{9D8B030D-6E8A-4147-A177-3AD203B41FA5}">
                      <a16:colId xmlns:a16="http://schemas.microsoft.com/office/drawing/2014/main" val="3015335242"/>
                    </a:ext>
                  </a:extLst>
                </a:gridCol>
                <a:gridCol w="640602">
                  <a:extLst>
                    <a:ext uri="{9D8B030D-6E8A-4147-A177-3AD203B41FA5}">
                      <a16:colId xmlns:a16="http://schemas.microsoft.com/office/drawing/2014/main" val="3726362657"/>
                    </a:ext>
                  </a:extLst>
                </a:gridCol>
                <a:gridCol w="640602">
                  <a:extLst>
                    <a:ext uri="{9D8B030D-6E8A-4147-A177-3AD203B41FA5}">
                      <a16:colId xmlns:a16="http://schemas.microsoft.com/office/drawing/2014/main" val="2521738682"/>
                    </a:ext>
                  </a:extLst>
                </a:gridCol>
                <a:gridCol w="640602">
                  <a:extLst>
                    <a:ext uri="{9D8B030D-6E8A-4147-A177-3AD203B41FA5}">
                      <a16:colId xmlns:a16="http://schemas.microsoft.com/office/drawing/2014/main" val="1836234598"/>
                    </a:ext>
                  </a:extLst>
                </a:gridCol>
                <a:gridCol w="640602">
                  <a:extLst>
                    <a:ext uri="{9D8B030D-6E8A-4147-A177-3AD203B41FA5}">
                      <a16:colId xmlns:a16="http://schemas.microsoft.com/office/drawing/2014/main" val="1704081253"/>
                    </a:ext>
                  </a:extLst>
                </a:gridCol>
              </a:tblGrid>
              <a:tr h="6388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1427441"/>
                  </a:ext>
                </a:extLst>
              </a:tr>
              <a:tr h="6388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28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C00000"/>
                          </a:solidFill>
                        </a:rPr>
                        <a:t>2</a:t>
                      </a:r>
                      <a:endParaRPr lang="zh-TW" altLang="en-US" sz="28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C00000"/>
                          </a:solidFill>
                        </a:rPr>
                        <a:t>3</a:t>
                      </a:r>
                      <a:endParaRPr lang="zh-TW" altLang="en-US" sz="28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8437140"/>
                  </a:ext>
                </a:extLst>
              </a:tr>
              <a:tr h="6388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C00000"/>
                          </a:solidFill>
                        </a:rPr>
                        <a:t>4</a:t>
                      </a:r>
                      <a:endParaRPr lang="zh-TW" altLang="en-US" sz="28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kern="120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TW" altLang="en-US" sz="2800" kern="120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kern="120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sz="2800" kern="120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5079043"/>
                  </a:ext>
                </a:extLst>
              </a:tr>
              <a:tr h="6388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C00000"/>
                          </a:solidFill>
                        </a:rPr>
                        <a:t>7</a:t>
                      </a:r>
                      <a:endParaRPr lang="zh-TW" altLang="en-US" sz="28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C00000"/>
                          </a:solidFill>
                        </a:rPr>
                        <a:t>8</a:t>
                      </a:r>
                      <a:endParaRPr lang="zh-TW" altLang="en-US" sz="28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C00000"/>
                          </a:solidFill>
                        </a:rPr>
                        <a:t>9</a:t>
                      </a:r>
                      <a:endParaRPr lang="zh-TW" altLang="en-US" sz="28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2911192"/>
                  </a:ext>
                </a:extLst>
              </a:tr>
              <a:tr h="6388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5138534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138FC688-86F4-5731-4304-BAFAE64E2A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1681200"/>
              </p:ext>
            </p:extLst>
          </p:nvPr>
        </p:nvGraphicFramePr>
        <p:xfrm>
          <a:off x="4371805" y="3797938"/>
          <a:ext cx="1920873" cy="191876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291">
                  <a:extLst>
                    <a:ext uri="{9D8B030D-6E8A-4147-A177-3AD203B41FA5}">
                      <a16:colId xmlns:a16="http://schemas.microsoft.com/office/drawing/2014/main" val="1200460301"/>
                    </a:ext>
                  </a:extLst>
                </a:gridCol>
                <a:gridCol w="640291">
                  <a:extLst>
                    <a:ext uri="{9D8B030D-6E8A-4147-A177-3AD203B41FA5}">
                      <a16:colId xmlns:a16="http://schemas.microsoft.com/office/drawing/2014/main" val="2389139816"/>
                    </a:ext>
                  </a:extLst>
                </a:gridCol>
                <a:gridCol w="640291">
                  <a:extLst>
                    <a:ext uri="{9D8B030D-6E8A-4147-A177-3AD203B41FA5}">
                      <a16:colId xmlns:a16="http://schemas.microsoft.com/office/drawing/2014/main" val="1044871678"/>
                    </a:ext>
                  </a:extLst>
                </a:gridCol>
              </a:tblGrid>
              <a:tr h="6395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00FF"/>
                          </a:solidFill>
                        </a:rPr>
                        <a:t>9</a:t>
                      </a:r>
                      <a:endParaRPr lang="zh-TW" altLang="en-US" sz="2800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00FF"/>
                          </a:solidFill>
                        </a:rPr>
                        <a:t>8</a:t>
                      </a:r>
                      <a:endParaRPr lang="zh-TW" altLang="en-US" sz="2800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00FF"/>
                          </a:solidFill>
                        </a:rPr>
                        <a:t>7</a:t>
                      </a:r>
                      <a:endParaRPr lang="zh-TW" altLang="en-US" sz="2800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825012"/>
                  </a:ext>
                </a:extLst>
              </a:tr>
              <a:tr h="6395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00FF"/>
                          </a:solidFill>
                        </a:rPr>
                        <a:t>6</a:t>
                      </a:r>
                      <a:endParaRPr lang="zh-TW" altLang="en-US" sz="2800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00FF"/>
                          </a:solidFill>
                        </a:rPr>
                        <a:t>5</a:t>
                      </a:r>
                      <a:endParaRPr lang="zh-TW" altLang="en-US" sz="2800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00FF"/>
                          </a:solidFill>
                        </a:rPr>
                        <a:t>4</a:t>
                      </a:r>
                      <a:endParaRPr lang="zh-TW" altLang="en-US" sz="2800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254178"/>
                  </a:ext>
                </a:extLst>
              </a:tr>
              <a:tr h="6395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00FF"/>
                          </a:solidFill>
                        </a:rPr>
                        <a:t>3</a:t>
                      </a:r>
                      <a:endParaRPr lang="zh-TW" altLang="en-US" sz="2800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00FF"/>
                          </a:solidFill>
                        </a:rPr>
                        <a:t>2</a:t>
                      </a:r>
                      <a:endParaRPr lang="zh-TW" altLang="en-US" sz="2800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2560810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15DBA9B2-7CA3-9519-2196-788CB15BD1FA}"/>
              </a:ext>
            </a:extLst>
          </p:cNvPr>
          <p:cNvGraphicFramePr>
            <a:graphicFrameLocks noGrp="1"/>
          </p:cNvGraphicFramePr>
          <p:nvPr/>
        </p:nvGraphicFramePr>
        <p:xfrm>
          <a:off x="7597042" y="1137810"/>
          <a:ext cx="1918335" cy="191135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9445">
                  <a:extLst>
                    <a:ext uri="{9D8B030D-6E8A-4147-A177-3AD203B41FA5}">
                      <a16:colId xmlns:a16="http://schemas.microsoft.com/office/drawing/2014/main" val="3726362657"/>
                    </a:ext>
                  </a:extLst>
                </a:gridCol>
                <a:gridCol w="639445">
                  <a:extLst>
                    <a:ext uri="{9D8B030D-6E8A-4147-A177-3AD203B41FA5}">
                      <a16:colId xmlns:a16="http://schemas.microsoft.com/office/drawing/2014/main" val="2521738682"/>
                    </a:ext>
                  </a:extLst>
                </a:gridCol>
                <a:gridCol w="639445">
                  <a:extLst>
                    <a:ext uri="{9D8B030D-6E8A-4147-A177-3AD203B41FA5}">
                      <a16:colId xmlns:a16="http://schemas.microsoft.com/office/drawing/2014/main" val="1836234598"/>
                    </a:ext>
                  </a:extLst>
                </a:gridCol>
              </a:tblGrid>
              <a:tr h="63711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28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C00000"/>
                          </a:solidFill>
                        </a:rPr>
                        <a:t>2</a:t>
                      </a:r>
                      <a:endParaRPr lang="zh-TW" altLang="en-US" sz="28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C00000"/>
                          </a:solidFill>
                        </a:rPr>
                        <a:t>3</a:t>
                      </a:r>
                      <a:endParaRPr lang="zh-TW" altLang="en-US" sz="28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8437140"/>
                  </a:ext>
                </a:extLst>
              </a:tr>
              <a:tr h="63711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C00000"/>
                          </a:solidFill>
                        </a:rPr>
                        <a:t>4</a:t>
                      </a:r>
                      <a:endParaRPr lang="zh-TW" altLang="en-US" sz="28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kern="120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TW" altLang="en-US" sz="2800" kern="120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kern="120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sz="2800" kern="120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5079043"/>
                  </a:ext>
                </a:extLst>
              </a:tr>
              <a:tr h="63711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C00000"/>
                          </a:solidFill>
                        </a:rPr>
                        <a:t>7</a:t>
                      </a:r>
                      <a:endParaRPr lang="zh-TW" altLang="en-US" sz="28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C00000"/>
                          </a:solidFill>
                        </a:rPr>
                        <a:t>8</a:t>
                      </a:r>
                      <a:endParaRPr lang="zh-TW" altLang="en-US" sz="28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C00000"/>
                          </a:solidFill>
                        </a:rPr>
                        <a:t>9</a:t>
                      </a:r>
                      <a:endParaRPr lang="zh-TW" altLang="en-US" sz="28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2911192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40CC3670-0258-6CE6-E212-75A7FFC879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3591923"/>
              </p:ext>
            </p:extLst>
          </p:nvPr>
        </p:nvGraphicFramePr>
        <p:xfrm>
          <a:off x="9908732" y="1128573"/>
          <a:ext cx="1920873" cy="191876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291">
                  <a:extLst>
                    <a:ext uri="{9D8B030D-6E8A-4147-A177-3AD203B41FA5}">
                      <a16:colId xmlns:a16="http://schemas.microsoft.com/office/drawing/2014/main" val="1200460301"/>
                    </a:ext>
                  </a:extLst>
                </a:gridCol>
                <a:gridCol w="640291">
                  <a:extLst>
                    <a:ext uri="{9D8B030D-6E8A-4147-A177-3AD203B41FA5}">
                      <a16:colId xmlns:a16="http://schemas.microsoft.com/office/drawing/2014/main" val="2389139816"/>
                    </a:ext>
                  </a:extLst>
                </a:gridCol>
                <a:gridCol w="640291">
                  <a:extLst>
                    <a:ext uri="{9D8B030D-6E8A-4147-A177-3AD203B41FA5}">
                      <a16:colId xmlns:a16="http://schemas.microsoft.com/office/drawing/2014/main" val="1044871678"/>
                    </a:ext>
                  </a:extLst>
                </a:gridCol>
              </a:tblGrid>
              <a:tr h="6395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</a:rPr>
                        <a:t>2</a:t>
                      </a:r>
                      <a:endParaRPr lang="zh-TW" altLang="en-US" sz="2800" dirty="0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</a:rPr>
                        <a:t>3</a:t>
                      </a:r>
                      <a:endParaRPr lang="zh-TW" altLang="en-US" sz="2800" dirty="0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825012"/>
                  </a:ext>
                </a:extLst>
              </a:tr>
              <a:tr h="6395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</a:rPr>
                        <a:t>4</a:t>
                      </a:r>
                      <a:endParaRPr lang="zh-TW" altLang="en-US" sz="2800" dirty="0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</a:rPr>
                        <a:t>5</a:t>
                      </a:r>
                      <a:endParaRPr lang="zh-TW" altLang="en-US" sz="2800" dirty="0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</a:rPr>
                        <a:t>6</a:t>
                      </a:r>
                      <a:endParaRPr lang="zh-TW" altLang="en-US" sz="2800" dirty="0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254178"/>
                  </a:ext>
                </a:extLst>
              </a:tr>
              <a:tr h="6395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</a:rPr>
                        <a:t>7</a:t>
                      </a:r>
                      <a:endParaRPr lang="zh-TW" altLang="en-US" sz="2800" dirty="0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</a:rPr>
                        <a:t>8</a:t>
                      </a:r>
                      <a:endParaRPr lang="zh-TW" altLang="en-US" sz="2800" dirty="0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</a:rPr>
                        <a:t>9</a:t>
                      </a:r>
                      <a:endParaRPr lang="zh-TW" altLang="en-US" sz="2800" dirty="0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2560810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BCC2068B-AFB0-539B-F2B5-59A5BDAE2B3C}"/>
              </a:ext>
            </a:extLst>
          </p:cNvPr>
          <p:cNvSpPr txBox="1"/>
          <p:nvPr/>
        </p:nvSpPr>
        <p:spPr>
          <a:xfrm>
            <a:off x="8432355" y="676145"/>
            <a:ext cx="298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TW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BA8E1D01-7173-4D9E-F8BF-99D91CAEC3D0}"/>
              </a:ext>
            </a:extLst>
          </p:cNvPr>
          <p:cNvSpPr txBox="1"/>
          <p:nvPr/>
        </p:nvSpPr>
        <p:spPr>
          <a:xfrm>
            <a:off x="10727590" y="676145"/>
            <a:ext cx="389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TW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F5989C4A-183E-87FF-42A8-3E37D4332E72}"/>
              </a:ext>
            </a:extLst>
          </p:cNvPr>
          <p:cNvSpPr txBox="1"/>
          <p:nvPr/>
        </p:nvSpPr>
        <p:spPr>
          <a:xfrm>
            <a:off x="9515377" y="1903287"/>
            <a:ext cx="3933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/>
              <a:t>＊</a:t>
            </a:r>
            <a:endParaRPr lang="zh-TW" alt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C5097DA4-18A6-7CFF-1E78-736555472A2F}"/>
              </a:ext>
            </a:extLst>
          </p:cNvPr>
          <p:cNvSpPr txBox="1"/>
          <p:nvPr/>
        </p:nvSpPr>
        <p:spPr>
          <a:xfrm>
            <a:off x="6292678" y="4572583"/>
            <a:ext cx="3933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/>
              <a:t>=</a:t>
            </a:r>
            <a:endParaRPr lang="zh-TW" altLang="en-US"/>
          </a:p>
        </p:txBody>
      </p:sp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30108B34-0ABA-30E4-5095-795E6357C7F3}"/>
              </a:ext>
            </a:extLst>
          </p:cNvPr>
          <p:cNvGraphicFramePr>
            <a:graphicFrameLocks noGrp="1"/>
          </p:cNvGraphicFramePr>
          <p:nvPr/>
        </p:nvGraphicFramePr>
        <p:xfrm>
          <a:off x="9064749" y="4120459"/>
          <a:ext cx="1297332" cy="128661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2444">
                  <a:extLst>
                    <a:ext uri="{9D8B030D-6E8A-4147-A177-3AD203B41FA5}">
                      <a16:colId xmlns:a16="http://schemas.microsoft.com/office/drawing/2014/main" val="684877642"/>
                    </a:ext>
                  </a:extLst>
                </a:gridCol>
                <a:gridCol w="432444">
                  <a:extLst>
                    <a:ext uri="{9D8B030D-6E8A-4147-A177-3AD203B41FA5}">
                      <a16:colId xmlns:a16="http://schemas.microsoft.com/office/drawing/2014/main" val="2163873137"/>
                    </a:ext>
                  </a:extLst>
                </a:gridCol>
                <a:gridCol w="432444">
                  <a:extLst>
                    <a:ext uri="{9D8B030D-6E8A-4147-A177-3AD203B41FA5}">
                      <a16:colId xmlns:a16="http://schemas.microsoft.com/office/drawing/2014/main" val="2492363734"/>
                    </a:ext>
                  </a:extLst>
                </a:gridCol>
              </a:tblGrid>
              <a:tr h="42887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798542"/>
                  </a:ext>
                </a:extLst>
              </a:tr>
              <a:tr h="42887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16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rgbClr val="C00000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5376690"/>
                  </a:ext>
                </a:extLst>
              </a:tr>
              <a:tr h="42887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>
                          <a:solidFill>
                            <a:srgbClr val="C00000"/>
                          </a:solidFill>
                        </a:rPr>
                        <a:t>4</a:t>
                      </a:r>
                      <a:endParaRPr lang="zh-TW" altLang="en-US" sz="16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60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TW" altLang="en-US" sz="1600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1958939"/>
                  </a:ext>
                </a:extLst>
              </a:tr>
            </a:tbl>
          </a:graphicData>
        </a:graphic>
      </p:graphicFrame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1DF3BEE4-B5BD-A67C-EBC3-BCDD2A1532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5802308"/>
              </p:ext>
            </p:extLst>
          </p:nvPr>
        </p:nvGraphicFramePr>
        <p:xfrm>
          <a:off x="10532273" y="4120459"/>
          <a:ext cx="1297332" cy="128661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2444">
                  <a:extLst>
                    <a:ext uri="{9D8B030D-6E8A-4147-A177-3AD203B41FA5}">
                      <a16:colId xmlns:a16="http://schemas.microsoft.com/office/drawing/2014/main" val="1200460301"/>
                    </a:ext>
                  </a:extLst>
                </a:gridCol>
                <a:gridCol w="432444">
                  <a:extLst>
                    <a:ext uri="{9D8B030D-6E8A-4147-A177-3AD203B41FA5}">
                      <a16:colId xmlns:a16="http://schemas.microsoft.com/office/drawing/2014/main" val="2389139816"/>
                    </a:ext>
                  </a:extLst>
                </a:gridCol>
                <a:gridCol w="432444">
                  <a:extLst>
                    <a:ext uri="{9D8B030D-6E8A-4147-A177-3AD203B41FA5}">
                      <a16:colId xmlns:a16="http://schemas.microsoft.com/office/drawing/2014/main" val="1044871678"/>
                    </a:ext>
                  </a:extLst>
                </a:gridCol>
              </a:tblGrid>
              <a:tr h="42887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rgbClr val="0000FF"/>
                          </a:solidFill>
                        </a:rPr>
                        <a:t>9</a:t>
                      </a:r>
                      <a:endParaRPr lang="zh-TW" altLang="en-US" sz="1600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rgbClr val="0000FF"/>
                          </a:solidFill>
                        </a:rPr>
                        <a:t>8</a:t>
                      </a:r>
                      <a:endParaRPr lang="zh-TW" altLang="en-US" sz="1600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rgbClr val="0000FF"/>
                          </a:solidFill>
                        </a:rPr>
                        <a:t>7</a:t>
                      </a:r>
                      <a:endParaRPr lang="zh-TW" altLang="en-US" sz="1600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4825012"/>
                  </a:ext>
                </a:extLst>
              </a:tr>
              <a:tr h="42887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rgbClr val="0000FF"/>
                          </a:solidFill>
                        </a:rPr>
                        <a:t>6</a:t>
                      </a:r>
                      <a:endParaRPr lang="zh-TW" altLang="en-US" sz="1600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rgbClr val="0000FF"/>
                          </a:solidFill>
                        </a:rPr>
                        <a:t>5</a:t>
                      </a:r>
                      <a:endParaRPr lang="zh-TW" altLang="en-US" sz="1600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rgbClr val="0000FF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7254178"/>
                  </a:ext>
                </a:extLst>
              </a:tr>
              <a:tr h="42887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rgbClr val="0000FF"/>
                          </a:solidFill>
                        </a:rPr>
                        <a:t>3</a:t>
                      </a:r>
                      <a:endParaRPr lang="zh-TW" altLang="en-US" sz="1600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rgbClr val="0000FF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2560810"/>
                  </a:ext>
                </a:extLst>
              </a:tr>
            </a:tbl>
          </a:graphicData>
        </a:graphic>
      </p:graphicFrame>
      <p:sp>
        <p:nvSpPr>
          <p:cNvPr id="21" name="橢圓 20">
            <a:extLst>
              <a:ext uri="{FF2B5EF4-FFF2-40B4-BE49-F238E27FC236}">
                <a16:creationId xmlns:a16="http://schemas.microsoft.com/office/drawing/2014/main" id="{F6AB5A4D-EBF2-C4E1-8C73-1F0CEA7FA6B1}"/>
              </a:ext>
            </a:extLst>
          </p:cNvPr>
          <p:cNvSpPr/>
          <p:nvPr/>
        </p:nvSpPr>
        <p:spPr>
          <a:xfrm>
            <a:off x="6638733" y="3813586"/>
            <a:ext cx="638764" cy="63214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AC19851-F505-9A46-E57E-398772A657A4}"/>
              </a:ext>
            </a:extLst>
          </p:cNvPr>
          <p:cNvSpPr/>
          <p:nvPr/>
        </p:nvSpPr>
        <p:spPr>
          <a:xfrm>
            <a:off x="8840041" y="3820106"/>
            <a:ext cx="3203010" cy="2575561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手繪多邊形: 圖案 22">
            <a:extLst>
              <a:ext uri="{FF2B5EF4-FFF2-40B4-BE49-F238E27FC236}">
                <a16:creationId xmlns:a16="http://schemas.microsoft.com/office/drawing/2014/main" id="{6BAE579D-3627-66BA-3760-97F15C2D5412}"/>
              </a:ext>
            </a:extLst>
          </p:cNvPr>
          <p:cNvSpPr/>
          <p:nvPr/>
        </p:nvSpPr>
        <p:spPr>
          <a:xfrm>
            <a:off x="7233719" y="3395050"/>
            <a:ext cx="2907538" cy="633742"/>
          </a:xfrm>
          <a:custGeom>
            <a:avLst/>
            <a:gdLst>
              <a:gd name="connsiteX0" fmla="*/ 0 w 2907538"/>
              <a:gd name="connsiteY0" fmla="*/ 633742 h 633742"/>
              <a:gd name="connsiteX1" fmla="*/ 190123 w 2907538"/>
              <a:gd name="connsiteY1" fmla="*/ 425512 h 633742"/>
              <a:gd name="connsiteX2" fmla="*/ 597529 w 2907538"/>
              <a:gd name="connsiteY2" fmla="*/ 244443 h 633742"/>
              <a:gd name="connsiteX3" fmla="*/ 805758 w 2907538"/>
              <a:gd name="connsiteY3" fmla="*/ 181069 h 633742"/>
              <a:gd name="connsiteX4" fmla="*/ 1167897 w 2907538"/>
              <a:gd name="connsiteY4" fmla="*/ 99588 h 633742"/>
              <a:gd name="connsiteX5" fmla="*/ 1439501 w 2907538"/>
              <a:gd name="connsiteY5" fmla="*/ 54320 h 633742"/>
              <a:gd name="connsiteX6" fmla="*/ 1638677 w 2907538"/>
              <a:gd name="connsiteY6" fmla="*/ 36213 h 633742"/>
              <a:gd name="connsiteX7" fmla="*/ 1801639 w 2907538"/>
              <a:gd name="connsiteY7" fmla="*/ 18106 h 633742"/>
              <a:gd name="connsiteX8" fmla="*/ 1964602 w 2907538"/>
              <a:gd name="connsiteY8" fmla="*/ 9053 h 633742"/>
              <a:gd name="connsiteX9" fmla="*/ 2073243 w 2907538"/>
              <a:gd name="connsiteY9" fmla="*/ 0 h 633742"/>
              <a:gd name="connsiteX10" fmla="*/ 2308633 w 2907538"/>
              <a:gd name="connsiteY10" fmla="*/ 9053 h 633742"/>
              <a:gd name="connsiteX11" fmla="*/ 2480649 w 2907538"/>
              <a:gd name="connsiteY11" fmla="*/ 36213 h 633742"/>
              <a:gd name="connsiteX12" fmla="*/ 2625505 w 2907538"/>
              <a:gd name="connsiteY12" fmla="*/ 72427 h 633742"/>
              <a:gd name="connsiteX13" fmla="*/ 2688879 w 2907538"/>
              <a:gd name="connsiteY13" fmla="*/ 90534 h 633742"/>
              <a:gd name="connsiteX14" fmla="*/ 2752253 w 2907538"/>
              <a:gd name="connsiteY14" fmla="*/ 117695 h 633742"/>
              <a:gd name="connsiteX15" fmla="*/ 2824681 w 2907538"/>
              <a:gd name="connsiteY15" fmla="*/ 172015 h 633742"/>
              <a:gd name="connsiteX16" fmla="*/ 2869948 w 2907538"/>
              <a:gd name="connsiteY16" fmla="*/ 244443 h 633742"/>
              <a:gd name="connsiteX17" fmla="*/ 2888055 w 2907538"/>
              <a:gd name="connsiteY17" fmla="*/ 271603 h 633742"/>
              <a:gd name="connsiteX18" fmla="*/ 2897109 w 2907538"/>
              <a:gd name="connsiteY18" fmla="*/ 298764 h 633742"/>
              <a:gd name="connsiteX19" fmla="*/ 2906162 w 2907538"/>
              <a:gd name="connsiteY19" fmla="*/ 416459 h 633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907538" h="633742">
                <a:moveTo>
                  <a:pt x="0" y="633742"/>
                </a:moveTo>
                <a:cubicBezTo>
                  <a:pt x="51070" y="557138"/>
                  <a:pt x="105475" y="467836"/>
                  <a:pt x="190123" y="425512"/>
                </a:cubicBezTo>
                <a:cubicBezTo>
                  <a:pt x="355652" y="342748"/>
                  <a:pt x="397453" y="317548"/>
                  <a:pt x="597529" y="244443"/>
                </a:cubicBezTo>
                <a:cubicBezTo>
                  <a:pt x="665676" y="219543"/>
                  <a:pt x="735996" y="201001"/>
                  <a:pt x="805758" y="181069"/>
                </a:cubicBezTo>
                <a:cubicBezTo>
                  <a:pt x="962515" y="136281"/>
                  <a:pt x="1004019" y="128508"/>
                  <a:pt x="1167897" y="99588"/>
                </a:cubicBezTo>
                <a:cubicBezTo>
                  <a:pt x="1258284" y="83637"/>
                  <a:pt x="1348538" y="66565"/>
                  <a:pt x="1439501" y="54320"/>
                </a:cubicBezTo>
                <a:cubicBezTo>
                  <a:pt x="1505571" y="45426"/>
                  <a:pt x="1572342" y="42847"/>
                  <a:pt x="1638677" y="36213"/>
                </a:cubicBezTo>
                <a:cubicBezTo>
                  <a:pt x="1693061" y="30775"/>
                  <a:pt x="1747173" y="22645"/>
                  <a:pt x="1801639" y="18106"/>
                </a:cubicBezTo>
                <a:cubicBezTo>
                  <a:pt x="1855856" y="13588"/>
                  <a:pt x="1910318" y="12672"/>
                  <a:pt x="1964602" y="9053"/>
                </a:cubicBezTo>
                <a:cubicBezTo>
                  <a:pt x="2000861" y="6636"/>
                  <a:pt x="2037029" y="3018"/>
                  <a:pt x="2073243" y="0"/>
                </a:cubicBezTo>
                <a:cubicBezTo>
                  <a:pt x="2151706" y="3018"/>
                  <a:pt x="2230420" y="2101"/>
                  <a:pt x="2308633" y="9053"/>
                </a:cubicBezTo>
                <a:cubicBezTo>
                  <a:pt x="2366454" y="14193"/>
                  <a:pt x="2423444" y="26350"/>
                  <a:pt x="2480649" y="36213"/>
                </a:cubicBezTo>
                <a:cubicBezTo>
                  <a:pt x="2593144" y="55608"/>
                  <a:pt x="2539975" y="46110"/>
                  <a:pt x="2625505" y="72427"/>
                </a:cubicBezTo>
                <a:cubicBezTo>
                  <a:pt x="2646503" y="78888"/>
                  <a:pt x="2668189" y="83145"/>
                  <a:pt x="2688879" y="90534"/>
                </a:cubicBezTo>
                <a:cubicBezTo>
                  <a:pt x="2710523" y="98264"/>
                  <a:pt x="2731696" y="107417"/>
                  <a:pt x="2752253" y="117695"/>
                </a:cubicBezTo>
                <a:cubicBezTo>
                  <a:pt x="2768974" y="126056"/>
                  <a:pt x="2818011" y="165345"/>
                  <a:pt x="2824681" y="172015"/>
                </a:cubicBezTo>
                <a:cubicBezTo>
                  <a:pt x="2853531" y="200866"/>
                  <a:pt x="2850824" y="210976"/>
                  <a:pt x="2869948" y="244443"/>
                </a:cubicBezTo>
                <a:cubicBezTo>
                  <a:pt x="2875346" y="253890"/>
                  <a:pt x="2883189" y="261871"/>
                  <a:pt x="2888055" y="271603"/>
                </a:cubicBezTo>
                <a:cubicBezTo>
                  <a:pt x="2892323" y="280139"/>
                  <a:pt x="2894487" y="289588"/>
                  <a:pt x="2897109" y="298764"/>
                </a:cubicBezTo>
                <a:cubicBezTo>
                  <a:pt x="2912749" y="353504"/>
                  <a:pt x="2906162" y="339611"/>
                  <a:pt x="2906162" y="416459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100C2179-EBC3-B1B0-6833-C70C9B3A36AE}"/>
              </a:ext>
            </a:extLst>
          </p:cNvPr>
          <p:cNvSpPr txBox="1"/>
          <p:nvPr/>
        </p:nvSpPr>
        <p:spPr>
          <a:xfrm>
            <a:off x="432069" y="1201600"/>
            <a:ext cx="70008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zh-TW" altLang="en-US" sz="2800"/>
              <a:t>有一個影像</a:t>
            </a:r>
            <a:r>
              <a:rPr lang="en-US" altLang="zh-TW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TW" altLang="en-US" sz="2800"/>
              <a:t>為大小為</a:t>
            </a:r>
            <a:r>
              <a:rPr lang="en-US" altLang="zh-TW" sz="2800"/>
              <a:t>3*3</a:t>
            </a:r>
            <a:r>
              <a:rPr lang="zh-TW" altLang="en-US" sz="2800"/>
              <a:t>，遮罩</a:t>
            </a:r>
            <a:r>
              <a:rPr lang="en-US" altLang="zh-TW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TW" altLang="en-US" sz="2800"/>
              <a:t>大小為</a:t>
            </a:r>
            <a:r>
              <a:rPr lang="en-US" altLang="zh-TW" sz="2800"/>
              <a:t>3*3</a:t>
            </a:r>
            <a:r>
              <a:rPr lang="zh-TW" altLang="en-US" sz="2800"/>
              <a:t>，求算</a:t>
            </a:r>
            <a:r>
              <a:rPr lang="en-US" altLang="zh-TW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TW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對</a:t>
            </a:r>
            <a:r>
              <a:rPr lang="en-US" altLang="zh-TW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TW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卷積，即</a:t>
            </a:r>
            <a:r>
              <a:rPr lang="en-US" altLang="zh-TW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 f</a:t>
            </a:r>
            <a:r>
              <a:rPr lang="zh-TW" altLang="en-US" sz="2800"/>
              <a:t>＊</a:t>
            </a:r>
            <a:r>
              <a:rPr lang="en-US" altLang="zh-TW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TW" alt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/>
              <a:t>, padding = 1</a:t>
            </a:r>
            <a:endParaRPr lang="zh-TW" altLang="en-US" sz="280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466619A2-E0E5-5879-6BA0-E224D66A4CB1}"/>
              </a:ext>
            </a:extLst>
          </p:cNvPr>
          <p:cNvSpPr txBox="1"/>
          <p:nvPr/>
        </p:nvSpPr>
        <p:spPr>
          <a:xfrm>
            <a:off x="4166829" y="2641260"/>
            <a:ext cx="3267942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/>
              <a:t>g</a:t>
            </a:r>
            <a:r>
              <a:rPr lang="zh-TW" altLang="en-US"/>
              <a:t>上下顛倒，左右翻左後 成為</a:t>
            </a:r>
            <a:r>
              <a:rPr lang="en-US" altLang="zh-TW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g'</a:t>
            </a:r>
            <a:endParaRPr lang="zh-TW" altLang="en-US" sz="18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223BDB56-3975-47A5-29D9-1B18FD62166D}"/>
              </a:ext>
            </a:extLst>
          </p:cNvPr>
          <p:cNvSpPr txBox="1"/>
          <p:nvPr/>
        </p:nvSpPr>
        <p:spPr>
          <a:xfrm>
            <a:off x="8848436" y="5636055"/>
            <a:ext cx="32050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b="1" dirty="0"/>
              <a:t>Dot product:</a:t>
            </a:r>
            <a:r>
              <a:rPr lang="en-US" altLang="zh-TW" sz="1600" dirty="0"/>
              <a:t> multiply matching elements, then sum the results.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7091268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DFC99-2EEA-5234-A7C6-418CAF861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4E523F2-3A2C-45CD-CEA1-556E7C58E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27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03B346DB-60C3-7855-D18E-A90AE06FDBBB}"/>
              </a:ext>
            </a:extLst>
          </p:cNvPr>
          <p:cNvSpPr txBox="1"/>
          <p:nvPr/>
        </p:nvSpPr>
        <p:spPr>
          <a:xfrm>
            <a:off x="0" y="2262909"/>
            <a:ext cx="12192000" cy="1828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sz="4000" dirty="0"/>
              <a:t>第</a:t>
            </a:r>
            <a:r>
              <a:rPr lang="en-US" altLang="zh-TW" sz="4000" dirty="0"/>
              <a:t>4</a:t>
            </a:r>
            <a:r>
              <a:rPr lang="zh-TW" altLang="en-US" sz="4000" dirty="0"/>
              <a:t>章</a:t>
            </a:r>
            <a:r>
              <a:rPr lang="en-US" altLang="zh-TW" sz="4000" dirty="0"/>
              <a:t>:</a:t>
            </a:r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傅立葉變換</a:t>
            </a:r>
            <a:endParaRPr lang="en-US" altLang="zh-TW" sz="4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de-DE" altLang="zh-TW" sz="4000" dirty="0"/>
              <a:t>Chapter 4: Fourier Transform</a:t>
            </a:r>
            <a:endParaRPr lang="en-US" altLang="zh-TW" sz="4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78073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DD951-BE1C-2808-4DCF-53F2A1D74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DBE0900-986C-F815-8CDA-E0FF98432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28</a:t>
            </a:fld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352F3A2-0E1D-79CF-9624-976D164343D8}"/>
              </a:ext>
            </a:extLst>
          </p:cNvPr>
          <p:cNvSpPr txBox="1"/>
          <p:nvPr/>
        </p:nvSpPr>
        <p:spPr>
          <a:xfrm>
            <a:off x="0" y="32385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/>
              <a:t>Example 1:</a:t>
            </a:r>
            <a:r>
              <a:rPr lang="zh-TW" altLang="en-US" sz="3200" dirty="0"/>
              <a:t> 傅立葉變換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3E997DEF-B130-B1EC-5F55-2C12226B7B41}"/>
                  </a:ext>
                </a:extLst>
              </p:cNvPr>
              <p:cNvSpPr txBox="1"/>
              <p:nvPr/>
            </p:nvSpPr>
            <p:spPr>
              <a:xfrm>
                <a:off x="521707" y="935783"/>
                <a:ext cx="11021462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zh-TW" altLang="en-US" sz="2800" dirty="0"/>
                  <a:t>要將一張寬</a:t>
                </a:r>
                <a:r>
                  <a:rPr lang="en-US" altLang="zh-TW" sz="2800" dirty="0"/>
                  <a:t>×</a:t>
                </a:r>
                <a:r>
                  <a:rPr lang="zh-TW" altLang="en-US" sz="2800" dirty="0"/>
                  <a:t>高</a:t>
                </a:r>
                <a:r>
                  <a:rPr lang="en-US" altLang="zh-TW" sz="2800" dirty="0"/>
                  <a:t>=</a:t>
                </a:r>
                <a:r>
                  <a:rPr lang="zh-TW" altLang="en-US" sz="2800" dirty="0"/>
                  <a:t> </a:t>
                </a:r>
                <a:r>
                  <a:rPr lang="en-US" altLang="zh-TW" sz="2800" dirty="0"/>
                  <a:t>2×2</a:t>
                </a:r>
                <a:r>
                  <a:rPr lang="zh-TW" altLang="en-US" sz="2800" dirty="0"/>
                  <a:t>的影像進行傅立葉轉換，我們可以使用離散傅立葉變換（</a:t>
                </a:r>
                <a:r>
                  <a:rPr lang="en-US" altLang="zh-TW" sz="2800" dirty="0"/>
                  <a:t>DFT</a:t>
                </a:r>
                <a:r>
                  <a:rPr lang="zh-TW" altLang="en-US" sz="2800" dirty="0"/>
                  <a:t>）公式來計算其頻譜。求傅立葉變換後的</a:t>
                </a:r>
                <a14:m>
                  <m:oMath xmlns:m="http://schemas.openxmlformats.org/officeDocument/2006/math">
                    <m:r>
                      <a:rPr lang="zh-TW" altLang="en-US" sz="28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zh-TW" alt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sz="2800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zh-TW" altLang="en-US" sz="2800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TW" altLang="en-US" sz="2800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3E997DEF-B130-B1EC-5F55-2C12226B7B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707" y="935783"/>
                <a:ext cx="11021462" cy="954107"/>
              </a:xfrm>
              <a:prstGeom prst="rect">
                <a:avLst/>
              </a:prstGeom>
              <a:blipFill>
                <a:blip r:embed="rId2"/>
                <a:stretch>
                  <a:fillRect l="-996" t="-7051" b="-173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CBF117D0-1BD2-1454-39CB-EBB149EE72B4}"/>
                  </a:ext>
                </a:extLst>
              </p:cNvPr>
              <p:cNvSpPr txBox="1"/>
              <p:nvPr/>
            </p:nvSpPr>
            <p:spPr>
              <a:xfrm>
                <a:off x="821602" y="2236030"/>
                <a:ext cx="2213426" cy="8107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TW" altLang="en-US" sz="2800"/>
                  <a:t>影像</a:t>
                </a:r>
                <a:r>
                  <a:rPr lang="en-US" altLang="zh-TW" sz="2800"/>
                  <a:t>=</a:t>
                </a:r>
                <a:r>
                  <a:rPr lang="zh-TW" altLang="en-US" sz="280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zh-TW" alt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zh-TW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zh-TW" altLang="en-US" sz="28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sz="280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CBF117D0-1BD2-1454-39CB-EBB149EE7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602" y="2236030"/>
                <a:ext cx="2213426" cy="810799"/>
              </a:xfrm>
              <a:prstGeom prst="rect">
                <a:avLst/>
              </a:prstGeom>
              <a:blipFill>
                <a:blip r:embed="rId3"/>
                <a:stretch>
                  <a:fillRect l="-5785" b="-2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A0A14F33-0738-0A75-1EC6-72A9F91A5895}"/>
                  </a:ext>
                </a:extLst>
              </p:cNvPr>
              <p:cNvSpPr txBox="1"/>
              <p:nvPr/>
            </p:nvSpPr>
            <p:spPr>
              <a:xfrm>
                <a:off x="344786" y="5136469"/>
                <a:ext cx="11715750" cy="1234312"/>
              </a:xfrm>
              <a:prstGeom prst="rect">
                <a:avLst/>
              </a:prstGeom>
              <a:solidFill>
                <a:srgbClr val="CAEEFB"/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zh-TW" altLang="en-US" sz="20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TW" altLang="en-US" sz="20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zh-TW" altLang="en-US" sz="20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TW" altLang="en-US" sz="20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TW" altLang="en-US" sz="20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TW" altLang="en-US" sz="20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 sz="2000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zh-TW" altLang="en-US" sz="2000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zh-TW" altLang="en-US" sz="2000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zh-TW" altLang="en-US" sz="2000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zh-TW" altLang="en-US" sz="200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 sz="2000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zh-TW" altLang="en-US" sz="2000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zh-TW" altLang="en-US" sz="2000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zh-TW" altLang="en-US" sz="2000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TW" altLang="en-US" sz="20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zh-TW" altLang="en-US" sz="2000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TW" altLang="en-US" sz="2000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zh-TW" altLang="en-US" sz="2000" i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TW" altLang="en-US" sz="2000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TW" altLang="en-US" sz="2000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TW" altLang="en-US" sz="2000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en-US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en-US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 sz="2000" i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zh-TW" altLang="en-US" sz="2000" i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zh-TW" altLang="en-US" sz="2000" i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zh-TW" altLang="en-US" sz="2000" i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zh-TW" altLang="en-US" sz="2000" i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en-US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 sz="2000" i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zh-TW" altLang="en-US" sz="2000" i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zh-TW" altLang="en-US" sz="2000" i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TW" altLang="en-US" sz="2000" i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TW" altLang="en-US" sz="200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20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TW" altLang="en-US" sz="2000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TW" altLang="en-US" sz="2000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zh-TW" altLang="en-US" sz="2000" i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en-US" sz="20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0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TW" altLang="en-US" sz="2000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0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TW" altLang="en-US" sz="2000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TW" altLang="en-US" sz="2000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en-US" sz="20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en-US" sz="20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 sz="2000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zh-TW" altLang="en-US" sz="2000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zh-TW" altLang="en-US" sz="2000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TW" altLang="en-US" sz="2000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zh-TW" altLang="en-US" sz="2000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en-US" sz="20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 sz="2000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zh-TW" altLang="en-US" sz="2000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zh-TW" altLang="en-US" sz="2000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zh-TW" altLang="en-US" sz="2000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TW" altLang="en-US" sz="200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20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TW" altLang="en-US" sz="2000" i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TW" altLang="en-US" sz="2000" i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zh-TW" altLang="en-US" sz="2000" i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en-US" sz="20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0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TW" altLang="en-US" sz="2000" i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0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TW" altLang="en-US" sz="2000" i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TW" altLang="en-US" sz="2000" i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en-US" sz="2000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en-US" sz="2000" i="1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 sz="2000" i="0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zh-TW" altLang="en-US" sz="2000" i="0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zh-TW" altLang="en-US" sz="2000" i="0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TW" altLang="en-US" sz="2000" i="0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zh-TW" altLang="en-US" sz="2000" i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en-US" sz="2000" i="1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 sz="2000" i="0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zh-TW" altLang="en-US" sz="2000" i="0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zh-TW" altLang="en-US" sz="2000" i="0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TW" altLang="en-US" sz="2000" i="0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en-US" altLang="zh-TW" sz="2000" i="1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TW" alt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TW" altLang="en-US" sz="20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zh-TW" sz="20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zh-TW" altLang="en-US" sz="2000" i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zh-TW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TW" altLang="en-US" sz="2000" i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zh-TW" sz="20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zh-TW" altLang="en-US" sz="2000" i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zh-TW" sz="2000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TW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A0A14F33-0738-0A75-1EC6-72A9F91A58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786" y="5136469"/>
                <a:ext cx="11715750" cy="12343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40E71396-AB74-754D-1F71-E48D3A4CAC7D}"/>
              </a:ext>
            </a:extLst>
          </p:cNvPr>
          <p:cNvGraphicFramePr>
            <a:graphicFrameLocks noGrp="1"/>
          </p:cNvGraphicFramePr>
          <p:nvPr/>
        </p:nvGraphicFramePr>
        <p:xfrm>
          <a:off x="3561033" y="2409224"/>
          <a:ext cx="1225550" cy="8900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2775">
                  <a:extLst>
                    <a:ext uri="{9D8B030D-6E8A-4147-A177-3AD203B41FA5}">
                      <a16:colId xmlns:a16="http://schemas.microsoft.com/office/drawing/2014/main" val="3449512421"/>
                    </a:ext>
                  </a:extLst>
                </a:gridCol>
                <a:gridCol w="612775">
                  <a:extLst>
                    <a:ext uri="{9D8B030D-6E8A-4147-A177-3AD203B41FA5}">
                      <a16:colId xmlns:a16="http://schemas.microsoft.com/office/drawing/2014/main" val="2036633976"/>
                    </a:ext>
                  </a:extLst>
                </a:gridCol>
              </a:tblGrid>
              <a:tr h="445030"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1</a:t>
                      </a:r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2</a:t>
                      </a:r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098941"/>
                  </a:ext>
                </a:extLst>
              </a:tr>
              <a:tr h="445030"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3</a:t>
                      </a:r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8338930"/>
                  </a:ext>
                </a:extLst>
              </a:tr>
            </a:tbl>
          </a:graphicData>
        </a:graphic>
      </p:graphicFrame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6726A962-95E7-67B2-9501-D4BC16715886}"/>
              </a:ext>
            </a:extLst>
          </p:cNvPr>
          <p:cNvGraphicFramePr>
            <a:graphicFrameLocks noGrp="1"/>
          </p:cNvGraphicFramePr>
          <p:nvPr/>
        </p:nvGraphicFramePr>
        <p:xfrm>
          <a:off x="5313633" y="2409224"/>
          <a:ext cx="1225550" cy="8900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2775">
                  <a:extLst>
                    <a:ext uri="{9D8B030D-6E8A-4147-A177-3AD203B41FA5}">
                      <a16:colId xmlns:a16="http://schemas.microsoft.com/office/drawing/2014/main" val="3449512421"/>
                    </a:ext>
                  </a:extLst>
                </a:gridCol>
                <a:gridCol w="612775">
                  <a:extLst>
                    <a:ext uri="{9D8B030D-6E8A-4147-A177-3AD203B41FA5}">
                      <a16:colId xmlns:a16="http://schemas.microsoft.com/office/drawing/2014/main" val="2036633976"/>
                    </a:ext>
                  </a:extLst>
                </a:gridCol>
              </a:tblGrid>
              <a:tr h="44503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?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?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098941"/>
                  </a:ext>
                </a:extLst>
              </a:tr>
              <a:tr h="44503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?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?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8338930"/>
                  </a:ext>
                </a:extLst>
              </a:tr>
            </a:tbl>
          </a:graphicData>
        </a:graphic>
      </p:graphicFrame>
      <p:sp>
        <p:nvSpPr>
          <p:cNvPr id="16" name="文字方塊 15">
            <a:extLst>
              <a:ext uri="{FF2B5EF4-FFF2-40B4-BE49-F238E27FC236}">
                <a16:creationId xmlns:a16="http://schemas.microsoft.com/office/drawing/2014/main" id="{9304F8D1-EA71-F6F1-014C-BC1E2567D27D}"/>
              </a:ext>
            </a:extLst>
          </p:cNvPr>
          <p:cNvSpPr txBox="1"/>
          <p:nvPr/>
        </p:nvSpPr>
        <p:spPr>
          <a:xfrm>
            <a:off x="3677518" y="1969618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/>
              <a:t>影像</a:t>
            </a:r>
            <a:r>
              <a:rPr lang="en-US" altLang="zh-TW"/>
              <a:t>2*2</a:t>
            </a:r>
            <a:endParaRPr lang="zh-TW" alt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6A56E9FC-ACA8-0B2B-85AE-82BD94FC911E}"/>
              </a:ext>
            </a:extLst>
          </p:cNvPr>
          <p:cNvSpPr txBox="1"/>
          <p:nvPr/>
        </p:nvSpPr>
        <p:spPr>
          <a:xfrm>
            <a:off x="5430118" y="1969504"/>
            <a:ext cx="992579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C00000"/>
                </a:solidFill>
              </a:rPr>
              <a:t>頻譜</a:t>
            </a:r>
            <a:r>
              <a:rPr lang="en-US" altLang="zh-TW" dirty="0">
                <a:solidFill>
                  <a:srgbClr val="C00000"/>
                </a:solidFill>
              </a:rPr>
              <a:t>2*2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035E536-BA00-E04E-6188-1B20C521D8B7}"/>
              </a:ext>
            </a:extLst>
          </p:cNvPr>
          <p:cNvSpPr/>
          <p:nvPr/>
        </p:nvSpPr>
        <p:spPr>
          <a:xfrm>
            <a:off x="373514" y="3486446"/>
            <a:ext cx="5392350" cy="1476531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0BADC1B-05AC-CE36-472E-43B35933C04B}"/>
              </a:ext>
            </a:extLst>
          </p:cNvPr>
          <p:cNvSpPr txBox="1"/>
          <p:nvPr/>
        </p:nvSpPr>
        <p:spPr>
          <a:xfrm>
            <a:off x="506906" y="3522696"/>
            <a:ext cx="21146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/>
              <a:t>會使用到的公式 </a:t>
            </a:r>
            <a:r>
              <a:rPr lang="en-US" altLang="zh-TW" sz="2000"/>
              <a:t>:</a:t>
            </a:r>
            <a:endParaRPr lang="zh-TW" alt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D3FFA06D-AE60-252F-4B28-F7EDD1F6B710}"/>
                  </a:ext>
                </a:extLst>
              </p:cNvPr>
              <p:cNvSpPr txBox="1"/>
              <p:nvPr/>
            </p:nvSpPr>
            <p:spPr>
              <a:xfrm>
                <a:off x="469566" y="4072918"/>
                <a:ext cx="5294620" cy="756617"/>
              </a:xfrm>
              <a:prstGeom prst="rect">
                <a:avLst/>
              </a:prstGeom>
              <a:solidFill>
                <a:srgbClr val="D9F2D0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000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zh-TW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zh-TW" altLang="en-US" sz="20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zh-TW" altLang="en-US" sz="20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zh-TW" alt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TW" altLang="en-US" sz="20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TW" altLang="en-US" sz="200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zh-TW" altLang="en-US" sz="20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00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TW" altLang="en-US" sz="200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TW" altLang="en-US" sz="20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zh-TW" altLang="en-US" sz="20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TW" altLang="en-US" sz="20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  <m:e>
                              <m: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zh-TW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TW" alt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zh-TW" altLang="en-US" sz="200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TW" altLang="en-US" sz="2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</m:nary>
                        </m:e>
                      </m:nary>
                      <m:r>
                        <a:rPr lang="zh-TW" altLang="en-US" sz="200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TW" altLang="en-US" sz="20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TW" alt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TW" altLang="en-US" sz="2000"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 sz="2000" i="1">
                                      <a:latin typeface="Cambria Math" panose="02040503050406030204" pitchFamily="18" charset="0"/>
                                    </a:rPr>
                                    <m:t>𝑢𝑥</m:t>
                                  </m:r>
                                </m:num>
                                <m:den>
                                  <m:r>
                                    <a:rPr lang="zh-TW" altLang="en-US" sz="2000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den>
                              </m:f>
                              <m:r>
                                <a:rPr lang="zh-TW" altLang="en-US" sz="20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 sz="2000" i="1">
                                      <a:latin typeface="Cambria Math" panose="02040503050406030204" pitchFamily="18" charset="0"/>
                                    </a:rPr>
                                    <m:t>𝑣𝑦</m:t>
                                  </m:r>
                                </m:num>
                                <m:den>
                                  <m:r>
                                    <a:rPr lang="zh-TW" altLang="en-US" sz="20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zh-TW" altLang="en-US" sz="2000"/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D3FFA06D-AE60-252F-4B28-F7EDD1F6B7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566" y="4072918"/>
                <a:ext cx="5294620" cy="75661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F3D41D87-725E-B266-012F-3FF9DC215F32}"/>
              </a:ext>
            </a:extLst>
          </p:cNvPr>
          <p:cNvGraphicFramePr>
            <a:graphicFrameLocks noGrp="1"/>
          </p:cNvGraphicFramePr>
          <p:nvPr/>
        </p:nvGraphicFramePr>
        <p:xfrm>
          <a:off x="7172913" y="2413578"/>
          <a:ext cx="1225550" cy="8900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2775">
                  <a:extLst>
                    <a:ext uri="{9D8B030D-6E8A-4147-A177-3AD203B41FA5}">
                      <a16:colId xmlns:a16="http://schemas.microsoft.com/office/drawing/2014/main" val="3449512421"/>
                    </a:ext>
                  </a:extLst>
                </a:gridCol>
                <a:gridCol w="612775">
                  <a:extLst>
                    <a:ext uri="{9D8B030D-6E8A-4147-A177-3AD203B41FA5}">
                      <a16:colId xmlns:a16="http://schemas.microsoft.com/office/drawing/2014/main" val="2036633976"/>
                    </a:ext>
                  </a:extLst>
                </a:gridCol>
              </a:tblGrid>
              <a:tr h="44503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-2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098941"/>
                  </a:ext>
                </a:extLst>
              </a:tr>
              <a:tr h="44503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-4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8338930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776702D2-35D9-4D1C-72B8-9BB9C5F7F143}"/>
              </a:ext>
            </a:extLst>
          </p:cNvPr>
          <p:cNvSpPr txBox="1"/>
          <p:nvPr/>
        </p:nvSpPr>
        <p:spPr>
          <a:xfrm>
            <a:off x="7289398" y="1973858"/>
            <a:ext cx="992579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C00000"/>
                </a:solidFill>
              </a:rPr>
              <a:t>頻譜</a:t>
            </a:r>
            <a:r>
              <a:rPr lang="en-US" altLang="zh-TW" dirty="0">
                <a:solidFill>
                  <a:srgbClr val="C00000"/>
                </a:solidFill>
              </a:rPr>
              <a:t>2*2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11" name="箭號: 向右 10">
            <a:extLst>
              <a:ext uri="{FF2B5EF4-FFF2-40B4-BE49-F238E27FC236}">
                <a16:creationId xmlns:a16="http://schemas.microsoft.com/office/drawing/2014/main" id="{29D2CF2D-F425-1EEF-7856-69DADA8DD755}"/>
              </a:ext>
            </a:extLst>
          </p:cNvPr>
          <p:cNvSpPr/>
          <p:nvPr/>
        </p:nvSpPr>
        <p:spPr>
          <a:xfrm>
            <a:off x="4894217" y="2734492"/>
            <a:ext cx="339635" cy="24384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箭號: 向右 12">
            <a:extLst>
              <a:ext uri="{FF2B5EF4-FFF2-40B4-BE49-F238E27FC236}">
                <a16:creationId xmlns:a16="http://schemas.microsoft.com/office/drawing/2014/main" id="{823333B8-EB99-531A-B06A-D2FBE9116AC3}"/>
              </a:ext>
            </a:extLst>
          </p:cNvPr>
          <p:cNvSpPr/>
          <p:nvPr/>
        </p:nvSpPr>
        <p:spPr>
          <a:xfrm>
            <a:off x="6683828" y="2738846"/>
            <a:ext cx="339635" cy="24384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64BA5FD9-A61B-B01C-0874-B5DC02923440}"/>
              </a:ext>
            </a:extLst>
          </p:cNvPr>
          <p:cNvSpPr txBox="1"/>
          <p:nvPr/>
        </p:nvSpPr>
        <p:spPr>
          <a:xfrm>
            <a:off x="6180113" y="3818618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座標</a:t>
            </a:r>
            <a:r>
              <a:rPr lang="en-US" altLang="zh-TW" dirty="0"/>
              <a:t>:</a:t>
            </a:r>
            <a:endParaRPr lang="zh-TW" altLang="en-US" dirty="0"/>
          </a:p>
        </p:txBody>
      </p:sp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FFDF5837-EA98-D762-292D-30DF52E6F9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7217448"/>
              </p:ext>
            </p:extLst>
          </p:nvPr>
        </p:nvGraphicFramePr>
        <p:xfrm>
          <a:off x="6952447" y="3856722"/>
          <a:ext cx="1225550" cy="8900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2775">
                  <a:extLst>
                    <a:ext uri="{9D8B030D-6E8A-4147-A177-3AD203B41FA5}">
                      <a16:colId xmlns:a16="http://schemas.microsoft.com/office/drawing/2014/main" val="3449512421"/>
                    </a:ext>
                  </a:extLst>
                </a:gridCol>
                <a:gridCol w="612775">
                  <a:extLst>
                    <a:ext uri="{9D8B030D-6E8A-4147-A177-3AD203B41FA5}">
                      <a16:colId xmlns:a16="http://schemas.microsoft.com/office/drawing/2014/main" val="2036633976"/>
                    </a:ext>
                  </a:extLst>
                </a:gridCol>
              </a:tblGrid>
              <a:tr h="44503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(0,0)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(1,0)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098941"/>
                  </a:ext>
                </a:extLst>
              </a:tr>
              <a:tr h="44503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(0,1)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(1,1)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83389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35696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B641B-697D-8B72-A671-C7742AC92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FBB60DB-71DA-41AA-65B9-812E2C827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29</a:t>
            </a:fld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7B90EF7-D704-9D61-858D-211C81D3A19D}"/>
              </a:ext>
            </a:extLst>
          </p:cNvPr>
          <p:cNvSpPr txBox="1"/>
          <p:nvPr/>
        </p:nvSpPr>
        <p:spPr>
          <a:xfrm>
            <a:off x="0" y="32385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/>
              <a:t>Example 1:</a:t>
            </a:r>
            <a:r>
              <a:rPr lang="zh-TW" altLang="en-US" sz="3200" dirty="0"/>
              <a:t> </a:t>
            </a:r>
            <a:r>
              <a:rPr lang="en-US" altLang="zh-TW" sz="3200" dirty="0"/>
              <a:t>Fourier Transform </a:t>
            </a:r>
            <a:endParaRPr lang="zh-TW" altLang="en-US" sz="3200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1D828D5-B36B-E03F-5F83-329D4F20D23F}"/>
              </a:ext>
            </a:extLst>
          </p:cNvPr>
          <p:cNvSpPr txBox="1"/>
          <p:nvPr/>
        </p:nvSpPr>
        <p:spPr>
          <a:xfrm>
            <a:off x="521707" y="994299"/>
            <a:ext cx="1105494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TW" sz="2000" dirty="0"/>
              <a:t>To perform a Fourier Transform on a 2×2 image, we can use the Discrete Fourier Transform (DFT) formula to compute its spectrum. Find the value of </a:t>
            </a:r>
            <a:r>
              <a:rPr lang="zh-TW" altLang="en-US" sz="2000" dirty="0">
                <a:solidFill>
                  <a:srgbClr val="C00000"/>
                </a:solidFill>
              </a:rPr>
              <a:t>𝐹</a:t>
            </a:r>
            <a:r>
              <a:rPr lang="en-US" altLang="zh-TW" sz="2000" dirty="0">
                <a:solidFill>
                  <a:srgbClr val="C00000"/>
                </a:solidFill>
              </a:rPr>
              <a:t>(0,0) </a:t>
            </a:r>
            <a:r>
              <a:rPr lang="en-US" altLang="zh-TW" sz="2000" dirty="0"/>
              <a:t>after the Fourier Transform.</a:t>
            </a:r>
            <a:endParaRPr lang="zh-TW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0C23642C-BC44-6F50-4AC4-B687434B0A6D}"/>
                  </a:ext>
                </a:extLst>
              </p:cNvPr>
              <p:cNvSpPr txBox="1"/>
              <p:nvPr/>
            </p:nvSpPr>
            <p:spPr>
              <a:xfrm>
                <a:off x="821602" y="2236030"/>
                <a:ext cx="2391360" cy="8107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800" dirty="0"/>
                  <a:t>Image=</a:t>
                </a:r>
                <a:r>
                  <a:rPr lang="zh-TW" altLang="en-US" sz="28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zh-TW" alt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zh-TW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zh-TW" altLang="en-US" sz="28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0C23642C-BC44-6F50-4AC4-B687434B0A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602" y="2236030"/>
                <a:ext cx="2391360" cy="810799"/>
              </a:xfrm>
              <a:prstGeom prst="rect">
                <a:avLst/>
              </a:prstGeom>
              <a:blipFill>
                <a:blip r:embed="rId2"/>
                <a:stretch>
                  <a:fillRect l="-5357" b="-22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3C7779C0-35F9-C54F-0A73-8CD1C8818E62}"/>
                  </a:ext>
                </a:extLst>
              </p:cNvPr>
              <p:cNvSpPr txBox="1"/>
              <p:nvPr/>
            </p:nvSpPr>
            <p:spPr>
              <a:xfrm>
                <a:off x="344786" y="5136469"/>
                <a:ext cx="11715750" cy="1234312"/>
              </a:xfrm>
              <a:prstGeom prst="rect">
                <a:avLst/>
              </a:prstGeom>
              <a:solidFill>
                <a:srgbClr val="CAEEFB"/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zh-TW" altLang="en-US" sz="20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TW" altLang="en-US" sz="20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zh-TW" altLang="en-US" sz="20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TW" altLang="en-US" sz="20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TW" altLang="en-US" sz="20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TW" altLang="en-US" sz="20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 sz="2000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zh-TW" altLang="en-US" sz="2000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zh-TW" altLang="en-US" sz="2000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zh-TW" altLang="en-US" sz="2000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zh-TW" altLang="en-US" sz="200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 sz="2000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zh-TW" altLang="en-US" sz="2000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zh-TW" altLang="en-US" sz="2000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zh-TW" altLang="en-US" sz="2000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TW" altLang="en-US" sz="20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zh-TW" altLang="en-US" sz="2000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TW" altLang="en-US" sz="2000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zh-TW" altLang="en-US" sz="2000" i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TW" altLang="en-US" sz="2000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TW" altLang="en-US" sz="2000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TW" altLang="en-US" sz="2000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en-US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en-US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 sz="2000" i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zh-TW" altLang="en-US" sz="2000" i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zh-TW" altLang="en-US" sz="2000" i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zh-TW" altLang="en-US" sz="2000" i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zh-TW" altLang="en-US" sz="2000" i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en-US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 sz="2000" i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zh-TW" altLang="en-US" sz="2000" i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zh-TW" altLang="en-US" sz="2000" i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TW" altLang="en-US" sz="2000" i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TW" altLang="en-US" sz="200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20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TW" altLang="en-US" sz="2000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TW" altLang="en-US" sz="2000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zh-TW" altLang="en-US" sz="2000" i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en-US" sz="20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0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TW" altLang="en-US" sz="2000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0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TW" altLang="en-US" sz="2000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TW" altLang="en-US" sz="2000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en-US" sz="20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en-US" sz="20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 sz="2000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zh-TW" altLang="en-US" sz="2000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zh-TW" altLang="en-US" sz="2000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TW" altLang="en-US" sz="2000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zh-TW" altLang="en-US" sz="2000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en-US" sz="20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 sz="2000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zh-TW" altLang="en-US" sz="2000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zh-TW" altLang="en-US" sz="2000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zh-TW" altLang="en-US" sz="2000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TW" altLang="en-US" sz="200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20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TW" altLang="en-US" sz="2000" i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TW" altLang="en-US" sz="2000" i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zh-TW" altLang="en-US" sz="2000" i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en-US" sz="20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0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TW" altLang="en-US" sz="2000" i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0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TW" altLang="en-US" sz="2000" i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TW" altLang="en-US" sz="2000" i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en-US" sz="2000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en-US" sz="2000" i="1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 sz="2000" i="0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zh-TW" altLang="en-US" sz="2000" i="0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zh-TW" altLang="en-US" sz="2000" i="0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TW" altLang="en-US" sz="2000" i="0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zh-TW" altLang="en-US" sz="2000" i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en-US" sz="2000" i="1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 sz="2000" i="0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zh-TW" altLang="en-US" sz="2000" i="0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zh-TW" altLang="en-US" sz="2000" i="0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TW" altLang="en-US" sz="2000" i="0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en-US" altLang="zh-TW" sz="2000" i="1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TW" alt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TW" altLang="en-US" sz="20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zh-TW" sz="20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zh-TW" altLang="en-US" sz="2000" i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zh-TW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b="0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TW" altLang="en-US" sz="2000" i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zh-TW" sz="20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zh-TW" altLang="en-US" sz="2000" i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zh-TW" sz="2000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TW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3C7779C0-35F9-C54F-0A73-8CD1C8818E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786" y="5136469"/>
                <a:ext cx="11715750" cy="12343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7A6FD6F1-CD55-B877-FCC8-6F77698DA771}"/>
              </a:ext>
            </a:extLst>
          </p:cNvPr>
          <p:cNvGraphicFramePr>
            <a:graphicFrameLocks noGrp="1"/>
          </p:cNvGraphicFramePr>
          <p:nvPr/>
        </p:nvGraphicFramePr>
        <p:xfrm>
          <a:off x="3561033" y="2409224"/>
          <a:ext cx="1225550" cy="8900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2775">
                  <a:extLst>
                    <a:ext uri="{9D8B030D-6E8A-4147-A177-3AD203B41FA5}">
                      <a16:colId xmlns:a16="http://schemas.microsoft.com/office/drawing/2014/main" val="3449512421"/>
                    </a:ext>
                  </a:extLst>
                </a:gridCol>
                <a:gridCol w="612775">
                  <a:extLst>
                    <a:ext uri="{9D8B030D-6E8A-4147-A177-3AD203B41FA5}">
                      <a16:colId xmlns:a16="http://schemas.microsoft.com/office/drawing/2014/main" val="2036633976"/>
                    </a:ext>
                  </a:extLst>
                </a:gridCol>
              </a:tblGrid>
              <a:tr h="445030"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1</a:t>
                      </a:r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2</a:t>
                      </a:r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098941"/>
                  </a:ext>
                </a:extLst>
              </a:tr>
              <a:tr h="445030"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3</a:t>
                      </a:r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8338930"/>
                  </a:ext>
                </a:extLst>
              </a:tr>
            </a:tbl>
          </a:graphicData>
        </a:graphic>
      </p:graphicFrame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AEA3619F-1CE4-D463-95FB-2093D540D426}"/>
              </a:ext>
            </a:extLst>
          </p:cNvPr>
          <p:cNvGraphicFramePr>
            <a:graphicFrameLocks noGrp="1"/>
          </p:cNvGraphicFramePr>
          <p:nvPr/>
        </p:nvGraphicFramePr>
        <p:xfrm>
          <a:off x="5313633" y="2409224"/>
          <a:ext cx="1225550" cy="8900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2775">
                  <a:extLst>
                    <a:ext uri="{9D8B030D-6E8A-4147-A177-3AD203B41FA5}">
                      <a16:colId xmlns:a16="http://schemas.microsoft.com/office/drawing/2014/main" val="3449512421"/>
                    </a:ext>
                  </a:extLst>
                </a:gridCol>
                <a:gridCol w="612775">
                  <a:extLst>
                    <a:ext uri="{9D8B030D-6E8A-4147-A177-3AD203B41FA5}">
                      <a16:colId xmlns:a16="http://schemas.microsoft.com/office/drawing/2014/main" val="2036633976"/>
                    </a:ext>
                  </a:extLst>
                </a:gridCol>
              </a:tblGrid>
              <a:tr h="44503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?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?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098941"/>
                  </a:ext>
                </a:extLst>
              </a:tr>
              <a:tr h="44503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?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?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8338930"/>
                  </a:ext>
                </a:extLst>
              </a:tr>
            </a:tbl>
          </a:graphicData>
        </a:graphic>
      </p:graphicFrame>
      <p:sp>
        <p:nvSpPr>
          <p:cNvPr id="16" name="文字方塊 15">
            <a:extLst>
              <a:ext uri="{FF2B5EF4-FFF2-40B4-BE49-F238E27FC236}">
                <a16:creationId xmlns:a16="http://schemas.microsoft.com/office/drawing/2014/main" id="{E72076B2-D19E-1FE4-104B-C293AB2CFC0F}"/>
              </a:ext>
            </a:extLst>
          </p:cNvPr>
          <p:cNvSpPr txBox="1"/>
          <p:nvPr/>
        </p:nvSpPr>
        <p:spPr>
          <a:xfrm>
            <a:off x="3620879" y="1969618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Image 2*2</a:t>
            </a:r>
            <a:endParaRPr lang="zh-TW" altLang="en-US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CC5A53A1-7B21-FC26-8CE8-7A2C56A2511B}"/>
              </a:ext>
            </a:extLst>
          </p:cNvPr>
          <p:cNvSpPr txBox="1"/>
          <p:nvPr/>
        </p:nvSpPr>
        <p:spPr>
          <a:xfrm>
            <a:off x="5189668" y="1969504"/>
            <a:ext cx="1473480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C00000"/>
                </a:solidFill>
              </a:rPr>
              <a:t>Spectrum</a:t>
            </a:r>
            <a:r>
              <a:rPr lang="zh-TW" altLang="en-US" dirty="0">
                <a:solidFill>
                  <a:srgbClr val="C00000"/>
                </a:solidFill>
              </a:rPr>
              <a:t> </a:t>
            </a:r>
            <a:r>
              <a:rPr lang="en-US" altLang="zh-TW" dirty="0">
                <a:solidFill>
                  <a:srgbClr val="C00000"/>
                </a:solidFill>
              </a:rPr>
              <a:t>2*2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2F44BB7-A7D7-F879-D4C3-C524C7A11D7F}"/>
              </a:ext>
            </a:extLst>
          </p:cNvPr>
          <p:cNvSpPr/>
          <p:nvPr/>
        </p:nvSpPr>
        <p:spPr>
          <a:xfrm>
            <a:off x="373514" y="3486446"/>
            <a:ext cx="5392350" cy="1476531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F7A7B32D-2560-8C06-816B-7C50E9769DCD}"/>
              </a:ext>
            </a:extLst>
          </p:cNvPr>
          <p:cNvSpPr txBox="1"/>
          <p:nvPr/>
        </p:nvSpPr>
        <p:spPr>
          <a:xfrm>
            <a:off x="486028" y="3575935"/>
            <a:ext cx="26308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/>
              <a:t>The formula to be used:</a:t>
            </a:r>
            <a:endParaRPr lang="zh-TW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F2667E8E-CA68-808C-31CD-C6DB92F7E613}"/>
                  </a:ext>
                </a:extLst>
              </p:cNvPr>
              <p:cNvSpPr txBox="1"/>
              <p:nvPr/>
            </p:nvSpPr>
            <p:spPr>
              <a:xfrm>
                <a:off x="469566" y="4072918"/>
                <a:ext cx="5294620" cy="756617"/>
              </a:xfrm>
              <a:prstGeom prst="rect">
                <a:avLst/>
              </a:prstGeom>
              <a:solidFill>
                <a:srgbClr val="D9F2D0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000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zh-TW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zh-TW" altLang="en-US" sz="20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zh-TW" altLang="en-US" sz="20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zh-TW" alt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TW" altLang="en-US" sz="20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TW" altLang="en-US" sz="200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zh-TW" altLang="en-US" sz="20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00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TW" altLang="en-US" sz="200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TW" altLang="en-US" sz="20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zh-TW" altLang="en-US" sz="20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TW" altLang="en-US" sz="20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  <m:e>
                              <m: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zh-TW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TW" alt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zh-TW" altLang="en-US" sz="200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TW" altLang="en-US" sz="2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</m:nary>
                        </m:e>
                      </m:nary>
                      <m:r>
                        <a:rPr lang="zh-TW" altLang="en-US" sz="200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TW" altLang="en-US" sz="20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TW" alt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TW" altLang="en-US" sz="2000"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 sz="2000" i="1">
                                      <a:latin typeface="Cambria Math" panose="02040503050406030204" pitchFamily="18" charset="0"/>
                                    </a:rPr>
                                    <m:t>𝑢𝑥</m:t>
                                  </m:r>
                                </m:num>
                                <m:den>
                                  <m:r>
                                    <a:rPr lang="zh-TW" altLang="en-US" sz="2000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den>
                              </m:f>
                              <m:r>
                                <a:rPr lang="zh-TW" altLang="en-US" sz="20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 sz="2000" i="1">
                                      <a:latin typeface="Cambria Math" panose="02040503050406030204" pitchFamily="18" charset="0"/>
                                    </a:rPr>
                                    <m:t>𝑣𝑦</m:t>
                                  </m:r>
                                </m:num>
                                <m:den>
                                  <m:r>
                                    <a:rPr lang="zh-TW" altLang="en-US" sz="20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zh-TW" altLang="en-US" sz="2000"/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D3FFA06D-AE60-252F-4B28-F7EDD1F6B7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566" y="4072918"/>
                <a:ext cx="5294620" cy="75661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753BC095-3F59-EE73-304C-30E1CDA6561B}"/>
              </a:ext>
            </a:extLst>
          </p:cNvPr>
          <p:cNvGraphicFramePr>
            <a:graphicFrameLocks noGrp="1"/>
          </p:cNvGraphicFramePr>
          <p:nvPr/>
        </p:nvGraphicFramePr>
        <p:xfrm>
          <a:off x="7172913" y="2413578"/>
          <a:ext cx="1225550" cy="8900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2775">
                  <a:extLst>
                    <a:ext uri="{9D8B030D-6E8A-4147-A177-3AD203B41FA5}">
                      <a16:colId xmlns:a16="http://schemas.microsoft.com/office/drawing/2014/main" val="3449512421"/>
                    </a:ext>
                  </a:extLst>
                </a:gridCol>
                <a:gridCol w="612775">
                  <a:extLst>
                    <a:ext uri="{9D8B030D-6E8A-4147-A177-3AD203B41FA5}">
                      <a16:colId xmlns:a16="http://schemas.microsoft.com/office/drawing/2014/main" val="2036633976"/>
                    </a:ext>
                  </a:extLst>
                </a:gridCol>
              </a:tblGrid>
              <a:tr h="44503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-2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098941"/>
                  </a:ext>
                </a:extLst>
              </a:tr>
              <a:tr h="44503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-4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8338930"/>
                  </a:ext>
                </a:extLst>
              </a:tr>
            </a:tbl>
          </a:graphicData>
        </a:graphic>
      </p:graphicFrame>
      <p:sp>
        <p:nvSpPr>
          <p:cNvPr id="11" name="箭號: 向右 10">
            <a:extLst>
              <a:ext uri="{FF2B5EF4-FFF2-40B4-BE49-F238E27FC236}">
                <a16:creationId xmlns:a16="http://schemas.microsoft.com/office/drawing/2014/main" id="{EA32DFFF-954E-49B1-FFFB-A9C1A784C221}"/>
              </a:ext>
            </a:extLst>
          </p:cNvPr>
          <p:cNvSpPr/>
          <p:nvPr/>
        </p:nvSpPr>
        <p:spPr>
          <a:xfrm>
            <a:off x="4894217" y="2734492"/>
            <a:ext cx="339635" cy="24384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箭號: 向右 12">
            <a:extLst>
              <a:ext uri="{FF2B5EF4-FFF2-40B4-BE49-F238E27FC236}">
                <a16:creationId xmlns:a16="http://schemas.microsoft.com/office/drawing/2014/main" id="{F2FD14BC-4F7E-786E-FA01-AF60920CBF96}"/>
              </a:ext>
            </a:extLst>
          </p:cNvPr>
          <p:cNvSpPr/>
          <p:nvPr/>
        </p:nvSpPr>
        <p:spPr>
          <a:xfrm>
            <a:off x="6683828" y="2738846"/>
            <a:ext cx="339635" cy="24384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D699DCAB-06B0-BF37-126D-6BE64122B371}"/>
              </a:ext>
            </a:extLst>
          </p:cNvPr>
          <p:cNvSpPr txBox="1"/>
          <p:nvPr/>
        </p:nvSpPr>
        <p:spPr>
          <a:xfrm>
            <a:off x="7023463" y="1978142"/>
            <a:ext cx="1473480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C00000"/>
                </a:solidFill>
              </a:rPr>
              <a:t>Spectrum</a:t>
            </a:r>
            <a:r>
              <a:rPr lang="zh-TW" altLang="en-US" dirty="0">
                <a:solidFill>
                  <a:srgbClr val="C00000"/>
                </a:solidFill>
              </a:rPr>
              <a:t> </a:t>
            </a:r>
            <a:r>
              <a:rPr lang="en-US" altLang="zh-TW" dirty="0">
                <a:solidFill>
                  <a:srgbClr val="C00000"/>
                </a:solidFill>
              </a:rPr>
              <a:t>2*2</a:t>
            </a:r>
            <a:endParaRPr lang="zh-TW" altLang="en-US" dirty="0">
              <a:solidFill>
                <a:srgbClr val="C00000"/>
              </a:solidFill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2D9D739-5484-D953-B8F1-C6C0F0EC41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2487035"/>
              </p:ext>
            </p:extLst>
          </p:nvPr>
        </p:nvGraphicFramePr>
        <p:xfrm>
          <a:off x="7172913" y="3925457"/>
          <a:ext cx="1225550" cy="8900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2775">
                  <a:extLst>
                    <a:ext uri="{9D8B030D-6E8A-4147-A177-3AD203B41FA5}">
                      <a16:colId xmlns:a16="http://schemas.microsoft.com/office/drawing/2014/main" val="3449512421"/>
                    </a:ext>
                  </a:extLst>
                </a:gridCol>
                <a:gridCol w="612775">
                  <a:extLst>
                    <a:ext uri="{9D8B030D-6E8A-4147-A177-3AD203B41FA5}">
                      <a16:colId xmlns:a16="http://schemas.microsoft.com/office/drawing/2014/main" val="2036633976"/>
                    </a:ext>
                  </a:extLst>
                </a:gridCol>
              </a:tblGrid>
              <a:tr h="44503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(0,0)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(1,0)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098941"/>
                  </a:ext>
                </a:extLst>
              </a:tr>
              <a:tr h="44503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(0,1)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(1,1)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8338930"/>
                  </a:ext>
                </a:extLst>
              </a:tr>
            </a:tbl>
          </a:graphicData>
        </a:graphic>
      </p:graphicFrame>
      <p:sp>
        <p:nvSpPr>
          <p:cNvPr id="20" name="文字方塊 19">
            <a:extLst>
              <a:ext uri="{FF2B5EF4-FFF2-40B4-BE49-F238E27FC236}">
                <a16:creationId xmlns:a16="http://schemas.microsoft.com/office/drawing/2014/main" id="{DF699C8C-794E-89D4-88C3-269E6D72E402}"/>
              </a:ext>
            </a:extLst>
          </p:cNvPr>
          <p:cNvSpPr txBox="1"/>
          <p:nvPr/>
        </p:nvSpPr>
        <p:spPr>
          <a:xfrm>
            <a:off x="5856613" y="3888252"/>
            <a:ext cx="1225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C</a:t>
            </a:r>
            <a:r>
              <a:rPr lang="zh-TW" altLang="en-US" dirty="0"/>
              <a:t>oordinate</a:t>
            </a:r>
            <a:r>
              <a:rPr lang="en-US" altLang="zh-TW" dirty="0"/>
              <a:t>: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444508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7D3FC4A-8C4A-4EC0-8DBC-39C88097E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30</a:t>
            </a:fld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78C809B-D23D-F2B8-7D88-5BBDB2088326}"/>
              </a:ext>
            </a:extLst>
          </p:cNvPr>
          <p:cNvSpPr txBox="1"/>
          <p:nvPr/>
        </p:nvSpPr>
        <p:spPr>
          <a:xfrm>
            <a:off x="0" y="32385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/>
              <a:t>Example 2:</a:t>
            </a:r>
            <a:r>
              <a:rPr lang="zh-TW" altLang="en-US" sz="3200" dirty="0"/>
              <a:t> </a:t>
            </a:r>
            <a:r>
              <a:rPr lang="en-US" altLang="zh-TW" sz="3200" dirty="0"/>
              <a:t>Fourier Transform </a:t>
            </a:r>
            <a:endParaRPr lang="zh-TW" altLang="en-US" sz="3200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A920B7C7-1E64-4006-6DFC-AF12FF549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7829" y="5010117"/>
            <a:ext cx="6408573" cy="923958"/>
          </a:xfrm>
          <a:prstGeom prst="rect">
            <a:avLst/>
          </a:prstGeom>
        </p:spPr>
      </p:pic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4A86FD4B-4BA9-ACE8-59E7-3480D944E058}"/>
              </a:ext>
            </a:extLst>
          </p:cNvPr>
          <p:cNvGraphicFramePr>
            <a:graphicFrameLocks noGrp="1"/>
          </p:cNvGraphicFramePr>
          <p:nvPr/>
        </p:nvGraphicFramePr>
        <p:xfrm>
          <a:off x="2311893" y="2099226"/>
          <a:ext cx="2921082" cy="21561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0541">
                  <a:extLst>
                    <a:ext uri="{9D8B030D-6E8A-4147-A177-3AD203B41FA5}">
                      <a16:colId xmlns:a16="http://schemas.microsoft.com/office/drawing/2014/main" val="3449512421"/>
                    </a:ext>
                  </a:extLst>
                </a:gridCol>
                <a:gridCol w="1460541">
                  <a:extLst>
                    <a:ext uri="{9D8B030D-6E8A-4147-A177-3AD203B41FA5}">
                      <a16:colId xmlns:a16="http://schemas.microsoft.com/office/drawing/2014/main" val="2036633976"/>
                    </a:ext>
                  </a:extLst>
                </a:gridCol>
              </a:tblGrid>
              <a:tr h="107809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1</a:t>
                      </a:r>
                      <a:endParaRPr lang="zh-TW" alt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2</a:t>
                      </a:r>
                      <a:endParaRPr lang="zh-TW" altLang="en-US" sz="3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098941"/>
                  </a:ext>
                </a:extLst>
              </a:tr>
              <a:tr h="107809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/>
                        <a:t>3</a:t>
                      </a:r>
                      <a:endParaRPr lang="zh-TW" altLang="en-US" sz="3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4</a:t>
                      </a:r>
                      <a:endParaRPr lang="zh-TW" altLang="en-US" sz="3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8338930"/>
                  </a:ext>
                </a:extLst>
              </a:tr>
            </a:tbl>
          </a:graphicData>
        </a:graphic>
      </p:graphicFrame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F1CD5152-679A-A92F-2463-DF411BE7125F}"/>
              </a:ext>
            </a:extLst>
          </p:cNvPr>
          <p:cNvGraphicFramePr>
            <a:graphicFrameLocks noGrp="1"/>
          </p:cNvGraphicFramePr>
          <p:nvPr/>
        </p:nvGraphicFramePr>
        <p:xfrm>
          <a:off x="6629789" y="2101491"/>
          <a:ext cx="2923786" cy="21561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1893">
                  <a:extLst>
                    <a:ext uri="{9D8B030D-6E8A-4147-A177-3AD203B41FA5}">
                      <a16:colId xmlns:a16="http://schemas.microsoft.com/office/drawing/2014/main" val="3449512421"/>
                    </a:ext>
                  </a:extLst>
                </a:gridCol>
                <a:gridCol w="1461893">
                  <a:extLst>
                    <a:ext uri="{9D8B030D-6E8A-4147-A177-3AD203B41FA5}">
                      <a16:colId xmlns:a16="http://schemas.microsoft.com/office/drawing/2014/main" val="2036633976"/>
                    </a:ext>
                  </a:extLst>
                </a:gridCol>
              </a:tblGrid>
              <a:tr h="107809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3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098941"/>
                  </a:ext>
                </a:extLst>
              </a:tr>
              <a:tr h="1078092">
                <a:tc>
                  <a:txBody>
                    <a:bodyPr/>
                    <a:lstStyle/>
                    <a:p>
                      <a:pPr algn="ctr"/>
                      <a:endParaRPr lang="zh-TW" alt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FF0000"/>
                          </a:solidFill>
                        </a:rPr>
                        <a:t>F(1,1)?</a:t>
                      </a:r>
                      <a:endParaRPr lang="zh-TW" altLang="en-US" sz="36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8338930"/>
                  </a:ext>
                </a:extLst>
              </a:tr>
            </a:tbl>
          </a:graphicData>
        </a:graphic>
      </p:graphicFrame>
      <p:sp>
        <p:nvSpPr>
          <p:cNvPr id="19" name="文字方塊 18">
            <a:extLst>
              <a:ext uri="{FF2B5EF4-FFF2-40B4-BE49-F238E27FC236}">
                <a16:creationId xmlns:a16="http://schemas.microsoft.com/office/drawing/2014/main" id="{56C28549-8777-1634-6550-6504B17EDE38}"/>
              </a:ext>
            </a:extLst>
          </p:cNvPr>
          <p:cNvSpPr txBox="1"/>
          <p:nvPr/>
        </p:nvSpPr>
        <p:spPr>
          <a:xfrm>
            <a:off x="7140940" y="1488392"/>
            <a:ext cx="1901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solidFill>
                  <a:srgbClr val="C00000"/>
                </a:solidFill>
              </a:rPr>
              <a:t>Spectrum</a:t>
            </a:r>
            <a:r>
              <a:rPr lang="zh-TW" altLang="en-US" sz="2400" dirty="0">
                <a:solidFill>
                  <a:srgbClr val="C00000"/>
                </a:solidFill>
              </a:rPr>
              <a:t> </a:t>
            </a:r>
            <a:r>
              <a:rPr lang="en-US" altLang="zh-TW" sz="2400" dirty="0">
                <a:solidFill>
                  <a:srgbClr val="C00000"/>
                </a:solidFill>
              </a:rPr>
              <a:t>2*2</a:t>
            </a:r>
            <a:endParaRPr lang="zh-TW" altLang="en-US" sz="2400" dirty="0">
              <a:solidFill>
                <a:srgbClr val="C00000"/>
              </a:solidFill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5C367415-D480-4651-31DF-C247B623F9AA}"/>
              </a:ext>
            </a:extLst>
          </p:cNvPr>
          <p:cNvSpPr txBox="1"/>
          <p:nvPr/>
        </p:nvSpPr>
        <p:spPr>
          <a:xfrm>
            <a:off x="3149577" y="1507032"/>
            <a:ext cx="12618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/>
              <a:t>頻譜</a:t>
            </a:r>
            <a:r>
              <a:rPr lang="en-US" altLang="zh-TW" sz="2400" dirty="0"/>
              <a:t>2*2</a:t>
            </a:r>
            <a:endParaRPr lang="zh-TW" altLang="en-US" sz="2400" dirty="0"/>
          </a:p>
        </p:txBody>
      </p:sp>
      <p:sp>
        <p:nvSpPr>
          <p:cNvPr id="21" name="箭號: 向右 20">
            <a:extLst>
              <a:ext uri="{FF2B5EF4-FFF2-40B4-BE49-F238E27FC236}">
                <a16:creationId xmlns:a16="http://schemas.microsoft.com/office/drawing/2014/main" id="{F846B864-8CA7-0DF9-3639-D44576772606}"/>
              </a:ext>
            </a:extLst>
          </p:cNvPr>
          <p:cNvSpPr/>
          <p:nvPr/>
        </p:nvSpPr>
        <p:spPr>
          <a:xfrm>
            <a:off x="5600700" y="2971800"/>
            <a:ext cx="676275" cy="419100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90302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484FF-D2C4-A637-F0FF-FF5496298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B7BDE7B-F079-9089-BF96-7CCB4546D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31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CD367BC7-6C1D-1891-9181-8C4B5F875656}"/>
                  </a:ext>
                </a:extLst>
              </p:cNvPr>
              <p:cNvSpPr txBox="1"/>
              <p:nvPr/>
            </p:nvSpPr>
            <p:spPr>
              <a:xfrm>
                <a:off x="371476" y="1210639"/>
                <a:ext cx="11715750" cy="7844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zh-TW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TW" sz="2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TW" sz="20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zh-TW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0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US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TW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0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US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zh-TW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TW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TW" sz="20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zh-TW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TW" sz="20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zh-TW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00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US" altLang="zh-TW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TW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zh-TW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00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i="1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zh-TW" sz="2000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sz="2000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TW" sz="200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zh-TW" sz="2000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000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000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TW" sz="200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zh-TW" sz="2000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sz="2000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000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000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2000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2000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TW" sz="2000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zh-TW" sz="2000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000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000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2000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US" altLang="zh-TW" sz="2000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zh-TW" sz="2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sz="2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TW" sz="20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zh-TW" sz="2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TW" sz="20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zh-TW" sz="20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sz="20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0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00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20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20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TW" sz="20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zh-TW" sz="20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0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00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20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20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en-US" altLang="zh-TW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CD367BC7-6C1D-1891-9181-8C4B5F8756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6" y="1210639"/>
                <a:ext cx="11715750" cy="78444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4A37FDE3-5F04-7E48-9AEF-3270D59AAFB3}"/>
                  </a:ext>
                </a:extLst>
              </p:cNvPr>
              <p:cNvSpPr txBox="1"/>
              <p:nvPr/>
            </p:nvSpPr>
            <p:spPr>
              <a:xfrm>
                <a:off x="633413" y="4528027"/>
                <a:ext cx="5014912" cy="7271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TW" altLang="zh-TW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TW" sz="2800"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80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80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a:rPr lang="en-US" altLang="zh-TW" sz="2800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TW" altLang="zh-TW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TW" sz="2800"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m:rPr>
                          <m:nor/>
                        </m:rPr>
                        <a:rPr lang="en-US" altLang="zh-TW" sz="2800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TW" altLang="zh-TW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m:rPr>
                              <m:sty m:val="p"/>
                            </m:rPr>
                            <a:rPr lang="en-US" altLang="zh-TW" sz="2800">
                              <a:latin typeface="Cambria Math" panose="02040503050406030204" pitchFamily="18" charset="0"/>
                            </a:rPr>
                            <m:t>π</m:t>
                          </m:r>
                        </m:sup>
                      </m:sSup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4A37FDE3-5F04-7E48-9AEF-3270D59AAF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413" y="4528027"/>
                <a:ext cx="5014912" cy="7271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FC32BE2E-B823-DE4D-EA2B-D97A3C655924}"/>
                  </a:ext>
                </a:extLst>
              </p:cNvPr>
              <p:cNvSpPr txBox="1"/>
              <p:nvPr/>
            </p:nvSpPr>
            <p:spPr>
              <a:xfrm>
                <a:off x="633413" y="5621078"/>
                <a:ext cx="8386761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zh-TW" altLang="zh-TW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US" altLang="zh-TW" sz="2800"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p>
                    <m:r>
                      <a:rPr lang="en-US" altLang="zh-TW" sz="28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zh-TW" altLang="zh-TW" sz="2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28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zh-TW" altLang="zh-TW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800" b="0" i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 altLang="zh-TW" sz="2800"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</m:d>
                      </m:e>
                    </m:func>
                    <m:r>
                      <a:rPr lang="en-US" altLang="zh-TW" sz="2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sz="2800" i="1">
                        <a:latin typeface="Cambria Math" panose="02040503050406030204" pitchFamily="18" charset="0"/>
                      </a:rPr>
                      <m:t>𝑗</m:t>
                    </m:r>
                    <m:func>
                      <m:funcPr>
                        <m:ctrlPr>
                          <a:rPr lang="zh-TW" altLang="zh-TW" sz="2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28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zh-TW" altLang="zh-TW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 altLang="zh-TW" sz="2800"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</m:d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=−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func>
                  </m:oMath>
                </a14:m>
                <a:r>
                  <a:rPr lang="zh-TW" altLang="en-US" sz="3600" dirty="0"/>
                  <a:t> </a:t>
                </a:r>
                <a:r>
                  <a:rPr lang="en-US" altLang="zh-TW" sz="3600" dirty="0"/>
                  <a:t>= </a:t>
                </a:r>
                <a:r>
                  <a:rPr lang="en-US" altLang="zh-TW" sz="3600" dirty="0">
                    <a:solidFill>
                      <a:srgbClr val="0000FF"/>
                    </a:solidFill>
                  </a:rPr>
                  <a:t>-1 </a:t>
                </a:r>
                <a:endParaRPr lang="zh-TW" altLang="en-US" sz="36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FC32BE2E-B823-DE4D-EA2B-D97A3C6559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413" y="5621078"/>
                <a:ext cx="8386761" cy="646331"/>
              </a:xfrm>
              <a:prstGeom prst="rect">
                <a:avLst/>
              </a:prstGeom>
              <a:blipFill>
                <a:blip r:embed="rId4"/>
                <a:stretch>
                  <a:fillRect t="-15094" b="-339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矩形 43">
            <a:extLst>
              <a:ext uri="{FF2B5EF4-FFF2-40B4-BE49-F238E27FC236}">
                <a16:creationId xmlns:a16="http://schemas.microsoft.com/office/drawing/2014/main" id="{75EA7204-8FA4-D743-DEE1-E38F163DEFE9}"/>
              </a:ext>
            </a:extLst>
          </p:cNvPr>
          <p:cNvSpPr/>
          <p:nvPr/>
        </p:nvSpPr>
        <p:spPr>
          <a:xfrm>
            <a:off x="642456" y="4502749"/>
            <a:ext cx="2203574" cy="738509"/>
          </a:xfrm>
          <a:prstGeom prst="rect">
            <a:avLst/>
          </a:prstGeom>
          <a:noFill/>
          <a:ln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5636ABCE-77AE-8C2C-F526-36BA09609DB5}"/>
                  </a:ext>
                </a:extLst>
              </p:cNvPr>
              <p:cNvSpPr txBox="1"/>
              <p:nvPr/>
            </p:nvSpPr>
            <p:spPr>
              <a:xfrm>
                <a:off x="576807" y="2242027"/>
                <a:ext cx="5083764" cy="7271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TW" altLang="zh-TW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TW" sz="2800"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80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80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a:rPr lang="en-US" altLang="zh-TW" sz="2800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TW" altLang="zh-TW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TW" sz="2800"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m:rPr>
                          <m:nor/>
                        </m:rPr>
                        <a:rPr lang="en-US" altLang="zh-TW" sz="2800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TW" altLang="zh-TW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TW" sz="2800">
                              <a:latin typeface="Cambria Math" panose="02040503050406030204" pitchFamily="18" charset="0"/>
                            </a:rPr>
                            <m:t>π</m:t>
                          </m:r>
                        </m:sup>
                      </m:sSup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5636ABCE-77AE-8C2C-F526-36BA09609D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807" y="2242027"/>
                <a:ext cx="5083764" cy="7271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字方塊 3">
            <a:extLst>
              <a:ext uri="{FF2B5EF4-FFF2-40B4-BE49-F238E27FC236}">
                <a16:creationId xmlns:a16="http://schemas.microsoft.com/office/drawing/2014/main" id="{A4388E49-F163-29D9-D529-660BE1C625F7}"/>
              </a:ext>
            </a:extLst>
          </p:cNvPr>
          <p:cNvSpPr txBox="1"/>
          <p:nvPr/>
        </p:nvSpPr>
        <p:spPr>
          <a:xfrm>
            <a:off x="6121001" y="2427328"/>
            <a:ext cx="171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Euler’s formula!</a:t>
            </a:r>
            <a:endParaRPr lang="zh-TW" alt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82B65819-48CE-25E3-3DFE-A3E488D24015}"/>
                  </a:ext>
                </a:extLst>
              </p:cNvPr>
              <p:cNvSpPr txBox="1"/>
              <p:nvPr/>
            </p:nvSpPr>
            <p:spPr>
              <a:xfrm>
                <a:off x="7833970" y="2373050"/>
                <a:ext cx="3400425" cy="477888"/>
              </a:xfrm>
              <a:prstGeom prst="rect">
                <a:avLst/>
              </a:prstGeom>
              <a:solidFill>
                <a:srgbClr val="F9C9C9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θ</m:t>
                          </m:r>
                        </m:sup>
                      </m:sSup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zh-TW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d>
                        </m:e>
                      </m:func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𝑗</m:t>
                      </m:r>
                      <m:func>
                        <m:func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zh-TW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zh-TW" altLang="en-US" sz="3200" dirty="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82B65819-48CE-25E3-3DFE-A3E488D240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3970" y="2373050"/>
                <a:ext cx="3400425" cy="47788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B714DA9E-3516-8AD4-A1A7-FED8037F3FC5}"/>
                  </a:ext>
                </a:extLst>
              </p:cNvPr>
              <p:cNvSpPr txBox="1"/>
              <p:nvPr/>
            </p:nvSpPr>
            <p:spPr>
              <a:xfrm>
                <a:off x="576807" y="3335078"/>
                <a:ext cx="8386761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zh-TW" altLang="zh-TW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altLang="zh-TW" sz="2800"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p>
                    <m:r>
                      <a:rPr lang="en-US" altLang="zh-TW" sz="28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zh-TW" altLang="zh-TW" sz="2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28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zh-TW" altLang="zh-TW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800" b="0" i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US" altLang="zh-TW" sz="2800"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</m:d>
                      </m:e>
                    </m:func>
                    <m:r>
                      <a:rPr lang="en-US" altLang="zh-TW" sz="2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sz="2800" i="1">
                        <a:latin typeface="Cambria Math" panose="02040503050406030204" pitchFamily="18" charset="0"/>
                      </a:rPr>
                      <m:t>𝑗</m:t>
                    </m:r>
                    <m:func>
                      <m:funcPr>
                        <m:ctrlPr>
                          <a:rPr lang="zh-TW" altLang="zh-TW" sz="2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28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zh-TW" altLang="zh-TW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US" altLang="zh-TW" sz="2800"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</m:d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func>
                  </m:oMath>
                </a14:m>
                <a:r>
                  <a:rPr lang="zh-TW" altLang="en-US" sz="3600" dirty="0"/>
                  <a:t> </a:t>
                </a:r>
                <a:r>
                  <a:rPr lang="en-US" altLang="zh-TW" sz="3600" dirty="0"/>
                  <a:t>= </a:t>
                </a:r>
                <a:r>
                  <a:rPr lang="en-US" altLang="zh-TW" sz="3600" dirty="0">
                    <a:solidFill>
                      <a:srgbClr val="FF0000"/>
                    </a:solidFill>
                  </a:rPr>
                  <a:t>1</a:t>
                </a:r>
                <a:r>
                  <a:rPr lang="en-US" altLang="zh-TW" sz="3600" dirty="0"/>
                  <a:t> </a:t>
                </a:r>
                <a:endParaRPr lang="zh-TW" altLang="en-US" sz="3600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B714DA9E-3516-8AD4-A1A7-FED8037F3F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807" y="3335078"/>
                <a:ext cx="8386761" cy="646331"/>
              </a:xfrm>
              <a:prstGeom prst="rect">
                <a:avLst/>
              </a:prstGeom>
              <a:blipFill>
                <a:blip r:embed="rId7"/>
                <a:stretch>
                  <a:fillRect t="-15094" b="-339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>
            <a:extLst>
              <a:ext uri="{FF2B5EF4-FFF2-40B4-BE49-F238E27FC236}">
                <a16:creationId xmlns:a16="http://schemas.microsoft.com/office/drawing/2014/main" id="{263A672D-29D9-D58F-37BA-EDECEEB56FD9}"/>
              </a:ext>
            </a:extLst>
          </p:cNvPr>
          <p:cNvSpPr/>
          <p:nvPr/>
        </p:nvSpPr>
        <p:spPr>
          <a:xfrm>
            <a:off x="585850" y="2216749"/>
            <a:ext cx="2203574" cy="738509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E02EE60B-125E-FDC6-87C7-F5027BEF1F0C}"/>
                  </a:ext>
                </a:extLst>
              </p:cNvPr>
              <p:cNvSpPr txBox="1"/>
              <p:nvPr/>
            </p:nvSpPr>
            <p:spPr>
              <a:xfrm>
                <a:off x="574766" y="3072341"/>
                <a:ext cx="1088571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l-GR" altLang="zh-TW" sz="14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altLang="zh-TW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14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 lang="en-US" altLang="zh-TW" sz="14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US" altLang="zh-TW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E02EE60B-125E-FDC6-87C7-F5027BEF1F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766" y="3072341"/>
                <a:ext cx="1088571" cy="307777"/>
              </a:xfrm>
              <a:prstGeom prst="rect">
                <a:avLst/>
              </a:prstGeom>
              <a:blipFill>
                <a:blip r:embed="rId8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D010C936-563A-900F-5310-D9FE0D152359}"/>
                  </a:ext>
                </a:extLst>
              </p:cNvPr>
              <p:cNvSpPr txBox="1"/>
              <p:nvPr/>
            </p:nvSpPr>
            <p:spPr>
              <a:xfrm>
                <a:off x="561703" y="5393175"/>
                <a:ext cx="1088571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l-GR" altLang="zh-TW" sz="14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altLang="zh-TW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14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altLang="zh-TW" sz="14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US" altLang="zh-TW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D010C936-563A-900F-5310-D9FE0D1523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703" y="5393175"/>
                <a:ext cx="1088571" cy="307777"/>
              </a:xfrm>
              <a:prstGeom prst="rect">
                <a:avLst/>
              </a:prstGeom>
              <a:blipFill>
                <a:blip r:embed="rId9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1" name="表格 30">
            <a:extLst>
              <a:ext uri="{FF2B5EF4-FFF2-40B4-BE49-F238E27FC236}">
                <a16:creationId xmlns:a16="http://schemas.microsoft.com/office/drawing/2014/main" id="{9513FDD7-4B68-A84E-777D-FB8CA00F7E76}"/>
              </a:ext>
            </a:extLst>
          </p:cNvPr>
          <p:cNvGraphicFramePr>
            <a:graphicFrameLocks noGrp="1"/>
          </p:cNvGraphicFramePr>
          <p:nvPr/>
        </p:nvGraphicFramePr>
        <p:xfrm>
          <a:off x="1206994" y="146602"/>
          <a:ext cx="1225550" cy="8900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2775">
                  <a:extLst>
                    <a:ext uri="{9D8B030D-6E8A-4147-A177-3AD203B41FA5}">
                      <a16:colId xmlns:a16="http://schemas.microsoft.com/office/drawing/2014/main" val="3449512421"/>
                    </a:ext>
                  </a:extLst>
                </a:gridCol>
                <a:gridCol w="612775">
                  <a:extLst>
                    <a:ext uri="{9D8B030D-6E8A-4147-A177-3AD203B41FA5}">
                      <a16:colId xmlns:a16="http://schemas.microsoft.com/office/drawing/2014/main" val="2036633976"/>
                    </a:ext>
                  </a:extLst>
                </a:gridCol>
              </a:tblGrid>
              <a:tr h="44503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2</a:t>
                      </a:r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098941"/>
                  </a:ext>
                </a:extLst>
              </a:tr>
              <a:tr h="445030"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3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8338930"/>
                  </a:ext>
                </a:extLst>
              </a:tr>
            </a:tbl>
          </a:graphicData>
        </a:graphic>
      </p:graphicFrame>
      <p:graphicFrame>
        <p:nvGraphicFramePr>
          <p:cNvPr id="32" name="表格 31">
            <a:extLst>
              <a:ext uri="{FF2B5EF4-FFF2-40B4-BE49-F238E27FC236}">
                <a16:creationId xmlns:a16="http://schemas.microsoft.com/office/drawing/2014/main" id="{AD5CBCD4-A2A9-8F8A-AE18-C25A704CB19A}"/>
              </a:ext>
            </a:extLst>
          </p:cNvPr>
          <p:cNvGraphicFramePr>
            <a:graphicFrameLocks noGrp="1"/>
          </p:cNvGraphicFramePr>
          <p:nvPr/>
        </p:nvGraphicFramePr>
        <p:xfrm>
          <a:off x="3753239" y="120292"/>
          <a:ext cx="1466460" cy="8900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3230">
                  <a:extLst>
                    <a:ext uri="{9D8B030D-6E8A-4147-A177-3AD203B41FA5}">
                      <a16:colId xmlns:a16="http://schemas.microsoft.com/office/drawing/2014/main" val="3449512421"/>
                    </a:ext>
                  </a:extLst>
                </a:gridCol>
                <a:gridCol w="733230">
                  <a:extLst>
                    <a:ext uri="{9D8B030D-6E8A-4147-A177-3AD203B41FA5}">
                      <a16:colId xmlns:a16="http://schemas.microsoft.com/office/drawing/2014/main" val="2036633976"/>
                    </a:ext>
                  </a:extLst>
                </a:gridCol>
              </a:tblGrid>
              <a:tr h="44503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zh-TW" altLang="en-US"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098941"/>
                  </a:ext>
                </a:extLst>
              </a:tr>
              <a:tr h="445030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F(1,1)?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8338930"/>
                  </a:ext>
                </a:extLst>
              </a:tr>
            </a:tbl>
          </a:graphicData>
        </a:graphic>
      </p:graphicFrame>
      <p:sp>
        <p:nvSpPr>
          <p:cNvPr id="33" name="文字方塊 32">
            <a:extLst>
              <a:ext uri="{FF2B5EF4-FFF2-40B4-BE49-F238E27FC236}">
                <a16:creationId xmlns:a16="http://schemas.microsoft.com/office/drawing/2014/main" id="{83CD8799-48CD-1400-C6BC-AAC7E5DFA3B1}"/>
              </a:ext>
            </a:extLst>
          </p:cNvPr>
          <p:cNvSpPr txBox="1"/>
          <p:nvPr/>
        </p:nvSpPr>
        <p:spPr>
          <a:xfrm>
            <a:off x="371476" y="253914"/>
            <a:ext cx="7617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/>
              <a:t>Image</a:t>
            </a:r>
          </a:p>
          <a:p>
            <a:pPr algn="ctr"/>
            <a:r>
              <a:rPr lang="en-US" altLang="zh-TW" dirty="0"/>
              <a:t>2*2</a:t>
            </a:r>
            <a:endParaRPr lang="zh-TW" altLang="en-US" dirty="0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B913DC7B-5D39-D81A-4544-21B5ECA44D48}"/>
              </a:ext>
            </a:extLst>
          </p:cNvPr>
          <p:cNvSpPr txBox="1"/>
          <p:nvPr/>
        </p:nvSpPr>
        <p:spPr>
          <a:xfrm>
            <a:off x="2626788" y="260892"/>
            <a:ext cx="10695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/>
              <a:t>Spectrum</a:t>
            </a:r>
          </a:p>
          <a:p>
            <a:pPr algn="ctr"/>
            <a:r>
              <a:rPr lang="zh-TW" altLang="en-US" dirty="0"/>
              <a:t> </a:t>
            </a:r>
            <a:r>
              <a:rPr lang="en-US" altLang="zh-TW" dirty="0"/>
              <a:t>2*2</a:t>
            </a:r>
            <a:endParaRPr lang="zh-TW" altLang="en-US" dirty="0"/>
          </a:p>
        </p:txBody>
      </p: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D34A505B-BABC-2049-516C-E10A38144E39}"/>
              </a:ext>
            </a:extLst>
          </p:cNvPr>
          <p:cNvCxnSpPr/>
          <p:nvPr/>
        </p:nvCxnSpPr>
        <p:spPr>
          <a:xfrm>
            <a:off x="241897" y="1181100"/>
            <a:ext cx="1195010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圖片 8">
            <a:extLst>
              <a:ext uri="{FF2B5EF4-FFF2-40B4-BE49-F238E27FC236}">
                <a16:creationId xmlns:a16="http://schemas.microsoft.com/office/drawing/2014/main" id="{B19CE711-E967-71B2-BED3-A4B92466919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29351" y="182145"/>
            <a:ext cx="5493030" cy="791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8915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67565DA-6DB4-BD54-9253-34ED279A8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32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1458EAE2-5101-BF0D-EC68-37D5312A6F95}"/>
                  </a:ext>
                </a:extLst>
              </p:cNvPr>
              <p:cNvSpPr txBox="1"/>
              <p:nvPr/>
            </p:nvSpPr>
            <p:spPr>
              <a:xfrm>
                <a:off x="371476" y="1210639"/>
                <a:ext cx="11715750" cy="7844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zh-TW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1,1</m:t>
                          </m:r>
                        </m:e>
                      </m:d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0,0</m:t>
                          </m:r>
                        </m:e>
                      </m:d>
                      <m:r>
                        <a:rPr lang="en-US" altLang="zh-TW" sz="2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TW" sz="20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zh-TW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0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US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TW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0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US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zh-TW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  <m:r>
                        <a:rPr lang="en-US" altLang="zh-TW" sz="20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zh-TW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TW" sz="20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zh-TW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00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US" altLang="zh-TW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TW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zh-TW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00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i="1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zh-TW" sz="2000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1,0</m:t>
                          </m:r>
                        </m:e>
                      </m:d>
                      <m:r>
                        <a:rPr lang="en-US" altLang="zh-TW" sz="200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zh-TW" sz="2000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000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000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TW" sz="200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zh-TW" sz="2000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sz="2000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000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000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2000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2000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TW" sz="2000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zh-TW" sz="2000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000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000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2000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US" altLang="zh-TW" sz="2000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zh-TW" sz="2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e>
                      </m:d>
                      <m:r>
                        <a:rPr lang="en-US" altLang="zh-TW" sz="20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zh-TW" sz="2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TW" sz="20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zh-TW" sz="20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sz="20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0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00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20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20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TW" sz="20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zh-TW" sz="20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0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00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20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20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en-US" altLang="zh-TW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1458EAE2-5101-BF0D-EC68-37D5312A6F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6" y="1210639"/>
                <a:ext cx="11715750" cy="78444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45780891-7429-25A9-5C5E-7D000832B568}"/>
                  </a:ext>
                </a:extLst>
              </p:cNvPr>
              <p:cNvSpPr txBox="1"/>
              <p:nvPr/>
            </p:nvSpPr>
            <p:spPr>
              <a:xfrm>
                <a:off x="490538" y="2224338"/>
                <a:ext cx="5014912" cy="7271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TW" altLang="zh-TW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TW" sz="2800"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80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80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a:rPr lang="en-US" altLang="zh-TW" sz="2800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TW" altLang="zh-TW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TW" sz="2800"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m:rPr>
                          <m:nor/>
                        </m:rPr>
                        <a:rPr lang="en-US" altLang="zh-TW" sz="2800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TW" altLang="zh-TW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m:rPr>
                              <m:sty m:val="p"/>
                            </m:rPr>
                            <a:rPr lang="en-US" altLang="zh-TW" sz="2800">
                              <a:latin typeface="Cambria Math" panose="02040503050406030204" pitchFamily="18" charset="0"/>
                            </a:rPr>
                            <m:t>π</m:t>
                          </m:r>
                        </m:sup>
                      </m:sSup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45780891-7429-25A9-5C5E-7D000832B5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538" y="2224338"/>
                <a:ext cx="5014912" cy="7271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E9873404-D08E-C618-E3D9-EDCAE5A4D415}"/>
                  </a:ext>
                </a:extLst>
              </p:cNvPr>
              <p:cNvSpPr txBox="1"/>
              <p:nvPr/>
            </p:nvSpPr>
            <p:spPr>
              <a:xfrm>
                <a:off x="633413" y="3269764"/>
                <a:ext cx="8386761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zh-TW" altLang="zh-TW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US" altLang="zh-TW" sz="2800"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p>
                    <m:r>
                      <a:rPr lang="en-US" altLang="zh-TW" sz="28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zh-TW" altLang="zh-TW" sz="2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28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zh-TW" altLang="zh-TW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800" b="0" i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 altLang="zh-TW" sz="2800"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</m:d>
                      </m:e>
                    </m:func>
                    <m:r>
                      <a:rPr lang="en-US" altLang="zh-TW" sz="2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sz="2800" i="1">
                        <a:latin typeface="Cambria Math" panose="02040503050406030204" pitchFamily="18" charset="0"/>
                      </a:rPr>
                      <m:t>𝑗</m:t>
                    </m:r>
                    <m:func>
                      <m:funcPr>
                        <m:ctrlPr>
                          <a:rPr lang="zh-TW" altLang="zh-TW" sz="2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28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zh-TW" altLang="zh-TW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 altLang="zh-TW" sz="2800"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</m:d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=−1+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func>
                  </m:oMath>
                </a14:m>
                <a:r>
                  <a:rPr lang="zh-TW" altLang="en-US" sz="3600" dirty="0"/>
                  <a:t> </a:t>
                </a:r>
                <a:r>
                  <a:rPr lang="en-US" altLang="zh-TW" sz="3600" dirty="0"/>
                  <a:t>= </a:t>
                </a:r>
                <a:r>
                  <a:rPr lang="en-US" altLang="zh-TW" sz="3600" dirty="0">
                    <a:solidFill>
                      <a:schemeClr val="accent6">
                        <a:lumMod val="75000"/>
                      </a:schemeClr>
                    </a:solidFill>
                  </a:rPr>
                  <a:t>-1</a:t>
                </a:r>
                <a:r>
                  <a:rPr lang="en-US" altLang="zh-TW" sz="3600" dirty="0"/>
                  <a:t> </a:t>
                </a:r>
                <a:endParaRPr lang="zh-TW" altLang="en-US" sz="3600" dirty="0"/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E9873404-D08E-C618-E3D9-EDCAE5A4D4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413" y="3269764"/>
                <a:ext cx="8386761" cy="646331"/>
              </a:xfrm>
              <a:prstGeom prst="rect">
                <a:avLst/>
              </a:prstGeom>
              <a:blipFill>
                <a:blip r:embed="rId5"/>
                <a:stretch>
                  <a:fillRect t="-15094" b="-339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7EAF460D-BFF0-176F-E7BE-708DA9931D8C}"/>
                  </a:ext>
                </a:extLst>
              </p:cNvPr>
              <p:cNvSpPr txBox="1"/>
              <p:nvPr/>
            </p:nvSpPr>
            <p:spPr>
              <a:xfrm>
                <a:off x="597694" y="4302257"/>
                <a:ext cx="11263313" cy="7271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TW" altLang="zh-TW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TW" sz="2800"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80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80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a:rPr lang="en-US" altLang="zh-TW" sz="2800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TW" altLang="zh-TW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TW" sz="2800"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m:rPr>
                          <m:nor/>
                        </m:rPr>
                        <a:rPr lang="en-US" altLang="zh-TW" sz="2800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TW" altLang="zh-TW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TW" sz="2800">
                              <a:latin typeface="Cambria Math" panose="02040503050406030204" pitchFamily="18" charset="0"/>
                            </a:rPr>
                            <m:t>π</m:t>
                          </m:r>
                        </m:sup>
                      </m:sSup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TW" altLang="zh-TW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8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8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280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2800"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e>
                          </m:d>
                        </m:e>
                      </m:func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𝑗</m:t>
                      </m:r>
                      <m:func>
                        <m:funcPr>
                          <m:ctrlPr>
                            <a:rPr lang="zh-TW" altLang="zh-TW" sz="28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8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2800"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e>
                          </m:d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0=</m:t>
                          </m:r>
                          <m:r>
                            <a:rPr lang="en-US" altLang="zh-TW" sz="2800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func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7EAF460D-BFF0-176F-E7BE-708DA9931D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694" y="4302257"/>
                <a:ext cx="11263313" cy="7271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矩形 27">
            <a:extLst>
              <a:ext uri="{FF2B5EF4-FFF2-40B4-BE49-F238E27FC236}">
                <a16:creationId xmlns:a16="http://schemas.microsoft.com/office/drawing/2014/main" id="{73E5AC08-6A44-5A8D-C905-D53FAA2A5A72}"/>
              </a:ext>
            </a:extLst>
          </p:cNvPr>
          <p:cNvSpPr/>
          <p:nvPr/>
        </p:nvSpPr>
        <p:spPr>
          <a:xfrm>
            <a:off x="547688" y="4179892"/>
            <a:ext cx="2213426" cy="849551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3E6569B9-67DF-F88D-DA57-AF1F4E63E5A3}"/>
              </a:ext>
            </a:extLst>
          </p:cNvPr>
          <p:cNvSpPr/>
          <p:nvPr/>
        </p:nvSpPr>
        <p:spPr>
          <a:xfrm>
            <a:off x="556731" y="2170485"/>
            <a:ext cx="2203574" cy="738509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8E04D429-CB85-725B-C951-3EE3322D7E51}"/>
                  </a:ext>
                </a:extLst>
              </p:cNvPr>
              <p:cNvSpPr txBox="1"/>
              <p:nvPr/>
            </p:nvSpPr>
            <p:spPr>
              <a:xfrm>
                <a:off x="388144" y="5455885"/>
                <a:ext cx="9453562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TW" altLang="en-US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TW" altLang="en-US" sz="28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zh-TW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zh-TW" altLang="en-US" sz="2800" i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zh-TW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8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TW" altLang="en-US" sz="2800" i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zh-TW" sz="28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800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zh-TW" altLang="en-US" sz="2800" i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zh-TW" sz="2800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TW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8E04D429-CB85-725B-C951-3EE3322D7E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144" y="5455885"/>
                <a:ext cx="9453562" cy="73866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2" name="表格 51">
            <a:extLst>
              <a:ext uri="{FF2B5EF4-FFF2-40B4-BE49-F238E27FC236}">
                <a16:creationId xmlns:a16="http://schemas.microsoft.com/office/drawing/2014/main" id="{3151940D-FC6D-0C9B-A985-E1F7FEE001A5}"/>
              </a:ext>
            </a:extLst>
          </p:cNvPr>
          <p:cNvGraphicFramePr>
            <a:graphicFrameLocks noGrp="1"/>
          </p:cNvGraphicFramePr>
          <p:nvPr/>
        </p:nvGraphicFramePr>
        <p:xfrm>
          <a:off x="9020174" y="5647361"/>
          <a:ext cx="1466460" cy="8900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3230">
                  <a:extLst>
                    <a:ext uri="{9D8B030D-6E8A-4147-A177-3AD203B41FA5}">
                      <a16:colId xmlns:a16="http://schemas.microsoft.com/office/drawing/2014/main" val="3449512421"/>
                    </a:ext>
                  </a:extLst>
                </a:gridCol>
                <a:gridCol w="733230">
                  <a:extLst>
                    <a:ext uri="{9D8B030D-6E8A-4147-A177-3AD203B41FA5}">
                      <a16:colId xmlns:a16="http://schemas.microsoft.com/office/drawing/2014/main" val="2036633976"/>
                    </a:ext>
                  </a:extLst>
                </a:gridCol>
              </a:tblGrid>
              <a:tr h="44503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zh-TW" altLang="en-US"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?</a:t>
                      </a:r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098941"/>
                  </a:ext>
                </a:extLst>
              </a:tr>
              <a:tr h="445030"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?</a:t>
                      </a:r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8338930"/>
                  </a:ext>
                </a:extLst>
              </a:tr>
            </a:tbl>
          </a:graphicData>
        </a:graphic>
      </p:graphicFrame>
      <p:sp>
        <p:nvSpPr>
          <p:cNvPr id="53" name="文字方塊 52">
            <a:extLst>
              <a:ext uri="{FF2B5EF4-FFF2-40B4-BE49-F238E27FC236}">
                <a16:creationId xmlns:a16="http://schemas.microsoft.com/office/drawing/2014/main" id="{8873F1A8-D4C4-7BE4-131C-F4A86E333801}"/>
              </a:ext>
            </a:extLst>
          </p:cNvPr>
          <p:cNvSpPr txBox="1"/>
          <p:nvPr/>
        </p:nvSpPr>
        <p:spPr>
          <a:xfrm>
            <a:off x="9257114" y="5267624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/>
              <a:t>頻譜</a:t>
            </a:r>
            <a:r>
              <a:rPr lang="en-US" altLang="zh-TW"/>
              <a:t>2*2</a:t>
            </a:r>
            <a:endParaRPr lang="zh-TW" altLang="en-US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22554CA-89CD-12E9-1EB2-0893D8DCECFD}"/>
              </a:ext>
            </a:extLst>
          </p:cNvPr>
          <p:cNvGraphicFramePr>
            <a:graphicFrameLocks noGrp="1"/>
          </p:cNvGraphicFramePr>
          <p:nvPr/>
        </p:nvGraphicFramePr>
        <p:xfrm>
          <a:off x="1206994" y="146602"/>
          <a:ext cx="1225550" cy="8900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2775">
                  <a:extLst>
                    <a:ext uri="{9D8B030D-6E8A-4147-A177-3AD203B41FA5}">
                      <a16:colId xmlns:a16="http://schemas.microsoft.com/office/drawing/2014/main" val="3449512421"/>
                    </a:ext>
                  </a:extLst>
                </a:gridCol>
                <a:gridCol w="612775">
                  <a:extLst>
                    <a:ext uri="{9D8B030D-6E8A-4147-A177-3AD203B41FA5}">
                      <a16:colId xmlns:a16="http://schemas.microsoft.com/office/drawing/2014/main" val="2036633976"/>
                    </a:ext>
                  </a:extLst>
                </a:gridCol>
              </a:tblGrid>
              <a:tr h="44503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2</a:t>
                      </a:r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098941"/>
                  </a:ext>
                </a:extLst>
              </a:tr>
              <a:tr h="445030"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3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8338930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0CEC2160-147E-05B3-B74C-71F31B6B4CBD}"/>
              </a:ext>
            </a:extLst>
          </p:cNvPr>
          <p:cNvGraphicFramePr>
            <a:graphicFrameLocks noGrp="1"/>
          </p:cNvGraphicFramePr>
          <p:nvPr/>
        </p:nvGraphicFramePr>
        <p:xfrm>
          <a:off x="3753239" y="120292"/>
          <a:ext cx="1466460" cy="8900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3230">
                  <a:extLst>
                    <a:ext uri="{9D8B030D-6E8A-4147-A177-3AD203B41FA5}">
                      <a16:colId xmlns:a16="http://schemas.microsoft.com/office/drawing/2014/main" val="3449512421"/>
                    </a:ext>
                  </a:extLst>
                </a:gridCol>
                <a:gridCol w="733230">
                  <a:extLst>
                    <a:ext uri="{9D8B030D-6E8A-4147-A177-3AD203B41FA5}">
                      <a16:colId xmlns:a16="http://schemas.microsoft.com/office/drawing/2014/main" val="2036633976"/>
                    </a:ext>
                  </a:extLst>
                </a:gridCol>
              </a:tblGrid>
              <a:tr h="44503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zh-TW" altLang="en-US"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098941"/>
                  </a:ext>
                </a:extLst>
              </a:tr>
              <a:tr h="445030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F(1,1)?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8338930"/>
                  </a:ext>
                </a:extLst>
              </a:tr>
            </a:tbl>
          </a:graphicData>
        </a:graphic>
      </p:graphicFrame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76638399-272F-428C-9622-ED403059207C}"/>
              </a:ext>
            </a:extLst>
          </p:cNvPr>
          <p:cNvCxnSpPr/>
          <p:nvPr/>
        </p:nvCxnSpPr>
        <p:spPr>
          <a:xfrm>
            <a:off x="241897" y="1181100"/>
            <a:ext cx="1195010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BEC69457-8EC3-0A3D-347F-728D5342EE2C}"/>
                  </a:ext>
                </a:extLst>
              </p:cNvPr>
              <p:cNvSpPr txBox="1"/>
              <p:nvPr/>
            </p:nvSpPr>
            <p:spPr>
              <a:xfrm>
                <a:off x="574766" y="3072341"/>
                <a:ext cx="1088571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l-GR" altLang="zh-TW" sz="14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altLang="zh-TW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14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altLang="zh-TW" sz="14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US" altLang="zh-TW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BEC69457-8EC3-0A3D-347F-728D5342EE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766" y="3072341"/>
                <a:ext cx="1088571" cy="307777"/>
              </a:xfrm>
              <a:prstGeom prst="rect">
                <a:avLst/>
              </a:prstGeom>
              <a:blipFill>
                <a:blip r:embed="rId9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1FAFF7BC-74F8-346F-561D-6C4E90B351B6}"/>
                  </a:ext>
                </a:extLst>
              </p:cNvPr>
              <p:cNvSpPr txBox="1"/>
              <p:nvPr/>
            </p:nvSpPr>
            <p:spPr>
              <a:xfrm>
                <a:off x="4575266" y="4139141"/>
                <a:ext cx="1088571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l-GR" altLang="zh-TW" sz="14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altLang="zh-TW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14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14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 lang="en-US" altLang="zh-TW" sz="14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US" altLang="zh-TW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1FAFF7BC-74F8-346F-561D-6C4E90B351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5266" y="4139141"/>
                <a:ext cx="1088571" cy="307777"/>
              </a:xfrm>
              <a:prstGeom prst="rect">
                <a:avLst/>
              </a:prstGeom>
              <a:blipFill>
                <a:blip r:embed="rId10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字方塊 2">
            <a:extLst>
              <a:ext uri="{FF2B5EF4-FFF2-40B4-BE49-F238E27FC236}">
                <a16:creationId xmlns:a16="http://schemas.microsoft.com/office/drawing/2014/main" id="{132F5B21-2AB2-660A-CDDB-A15BDF3BEB86}"/>
              </a:ext>
            </a:extLst>
          </p:cNvPr>
          <p:cNvSpPr txBox="1"/>
          <p:nvPr/>
        </p:nvSpPr>
        <p:spPr>
          <a:xfrm>
            <a:off x="6121001" y="2427328"/>
            <a:ext cx="171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Euler’s formula!</a:t>
            </a:r>
            <a:endParaRPr lang="zh-TW" alt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4C5D1AEA-E008-EA30-7C14-85871FB4F7E4}"/>
                  </a:ext>
                </a:extLst>
              </p:cNvPr>
              <p:cNvSpPr txBox="1"/>
              <p:nvPr/>
            </p:nvSpPr>
            <p:spPr>
              <a:xfrm>
                <a:off x="7833970" y="2373050"/>
                <a:ext cx="3400425" cy="477888"/>
              </a:xfrm>
              <a:prstGeom prst="rect">
                <a:avLst/>
              </a:prstGeom>
              <a:solidFill>
                <a:srgbClr val="F9C9C9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θ</m:t>
                          </m:r>
                        </m:sup>
                      </m:sSup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zh-TW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d>
                        </m:e>
                      </m:func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𝑗</m:t>
                      </m:r>
                      <m:func>
                        <m:func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zh-TW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zh-TW" altLang="en-US" sz="3200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4C5D1AEA-E008-EA30-7C14-85871FB4F7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3970" y="2373050"/>
                <a:ext cx="3400425" cy="47788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字方塊 8">
            <a:extLst>
              <a:ext uri="{FF2B5EF4-FFF2-40B4-BE49-F238E27FC236}">
                <a16:creationId xmlns:a16="http://schemas.microsoft.com/office/drawing/2014/main" id="{2D73F62A-CB6B-D73A-C0F4-58324855C519}"/>
              </a:ext>
            </a:extLst>
          </p:cNvPr>
          <p:cNvSpPr txBox="1"/>
          <p:nvPr/>
        </p:nvSpPr>
        <p:spPr>
          <a:xfrm>
            <a:off x="371476" y="253914"/>
            <a:ext cx="7617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/>
              <a:t>Image</a:t>
            </a:r>
          </a:p>
          <a:p>
            <a:pPr algn="ctr"/>
            <a:r>
              <a:rPr lang="en-US" altLang="zh-TW" dirty="0"/>
              <a:t>2*2</a:t>
            </a:r>
            <a:endParaRPr lang="zh-TW" altLang="en-US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140B77D3-0033-FB0A-18BD-A0733F05E450}"/>
              </a:ext>
            </a:extLst>
          </p:cNvPr>
          <p:cNvSpPr txBox="1"/>
          <p:nvPr/>
        </p:nvSpPr>
        <p:spPr>
          <a:xfrm>
            <a:off x="2626788" y="260892"/>
            <a:ext cx="10695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/>
              <a:t>Spectrum</a:t>
            </a:r>
          </a:p>
          <a:p>
            <a:pPr algn="ctr"/>
            <a:r>
              <a:rPr lang="zh-TW" altLang="en-US" dirty="0"/>
              <a:t> </a:t>
            </a:r>
            <a:r>
              <a:rPr lang="en-US" altLang="zh-TW" dirty="0"/>
              <a:t>2*2</a:t>
            </a:r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DC4A2890-BB25-89FD-8463-EE5F9C8811C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26543" y="197659"/>
            <a:ext cx="5661894" cy="816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3816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A57CE6A-69AE-A45B-01C2-B5F3E0C5F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33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49FD58DD-D0A5-0FDF-0C2F-01FF2C5B188E}"/>
                  </a:ext>
                </a:extLst>
              </p:cNvPr>
              <p:cNvSpPr txBox="1"/>
              <p:nvPr/>
            </p:nvSpPr>
            <p:spPr>
              <a:xfrm>
                <a:off x="3736975" y="5008058"/>
                <a:ext cx="7448549" cy="71865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𝑀𝑎𝑔𝑛𝑖𝑡𝑢𝑑𝑒</m:t>
                      </m:r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zh-TW" altLang="en-US" sz="20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e>
                      </m:d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實部</m:t>
                              </m:r>
                              <m:d>
                                <m:dPr>
                                  <m:ctrlP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  <m:d>
                                    <m:dPr>
                                      <m:ctrlPr>
                                        <a:rPr lang="zh-TW" alt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TW" alt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  <m:r>
                                        <a:rPr lang="zh-TW" altLang="en-US" sz="20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zh-TW" alt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zh-TW" altLang="en-US" sz="20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虛部</m:t>
                              </m:r>
                              <m:d>
                                <m:dPr>
                                  <m:ctrlP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  <m:d>
                                    <m:dPr>
                                      <m:ctrlPr>
                                        <a:rPr lang="zh-TW" alt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TW" alt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  <m:r>
                                        <a:rPr lang="zh-TW" altLang="en-US" sz="20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zh-TW" alt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zh-TW" altLang="en-US" sz="20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49FD58DD-D0A5-0FDF-0C2F-01FF2C5B18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6975" y="5008058"/>
                <a:ext cx="7448549" cy="71865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44AD313B-28E8-F21A-0D7F-BA06CD371CC0}"/>
                  </a:ext>
                </a:extLst>
              </p:cNvPr>
              <p:cNvSpPr txBox="1"/>
              <p:nvPr/>
            </p:nvSpPr>
            <p:spPr>
              <a:xfrm>
                <a:off x="3497974" y="1424659"/>
                <a:ext cx="24163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Spectrum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zh-TW" altLang="en-US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sz="1800" i="1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zh-TW" alt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TW" altLang="en-US" sz="18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zh-TW" altLang="en-US" sz="180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zh-TW" altLang="en-US" sz="18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e>
                    </m:d>
                    <m:r>
                      <a:rPr lang="zh-TW" altLang="en-US" sz="1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dirty="0"/>
                  <a:t> 3*3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44AD313B-28E8-F21A-0D7F-BA06CD371C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7974" y="1424659"/>
                <a:ext cx="2416339" cy="369332"/>
              </a:xfrm>
              <a:prstGeom prst="rect">
                <a:avLst/>
              </a:prstGeom>
              <a:blipFill>
                <a:blip r:embed="rId3"/>
                <a:stretch>
                  <a:fillRect l="-2273" t="-10000" r="-2020" b="-2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字方塊 7">
            <a:extLst>
              <a:ext uri="{FF2B5EF4-FFF2-40B4-BE49-F238E27FC236}">
                <a16:creationId xmlns:a16="http://schemas.microsoft.com/office/drawing/2014/main" id="{68857FAE-0211-4D8B-72E6-29869E6F1407}"/>
              </a:ext>
            </a:extLst>
          </p:cNvPr>
          <p:cNvSpPr txBox="1"/>
          <p:nvPr/>
        </p:nvSpPr>
        <p:spPr>
          <a:xfrm>
            <a:off x="1093932" y="1424659"/>
            <a:ext cx="1742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Image</a:t>
            </a:r>
            <a:r>
              <a:rPr lang="zh-TW" altLang="en-US" dirty="0"/>
              <a:t> </a:t>
            </a:r>
            <a:r>
              <a:rPr lang="en-US" altLang="zh-TW" dirty="0"/>
              <a:t>f(</a:t>
            </a:r>
            <a:r>
              <a:rPr lang="en-US" altLang="zh-TW" dirty="0" err="1"/>
              <a:t>x,y</a:t>
            </a:r>
            <a:r>
              <a:rPr lang="en-US" altLang="zh-TW" dirty="0"/>
              <a:t>) 3*3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1D2C00A-DF40-3A66-DE37-BC424F554B15}"/>
              </a:ext>
            </a:extLst>
          </p:cNvPr>
          <p:cNvSpPr txBox="1"/>
          <p:nvPr/>
        </p:nvSpPr>
        <p:spPr>
          <a:xfrm>
            <a:off x="1" y="286131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Example 3 :</a:t>
            </a:r>
            <a:r>
              <a:rPr lang="zh-TW" altLang="en-US" sz="3600" dirty="0"/>
              <a:t> </a:t>
            </a:r>
            <a:r>
              <a:rPr lang="en-US" altLang="zh-TW" sz="3600" dirty="0"/>
              <a:t>Fourier Transform </a:t>
            </a:r>
            <a:endParaRPr lang="zh-TW" altLang="en-US" sz="3600" dirty="0"/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5817B854-C4BB-B087-C14A-06763E5D50A2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872845"/>
          <a:ext cx="2254251" cy="149400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51417">
                  <a:extLst>
                    <a:ext uri="{9D8B030D-6E8A-4147-A177-3AD203B41FA5}">
                      <a16:colId xmlns:a16="http://schemas.microsoft.com/office/drawing/2014/main" val="4190247630"/>
                    </a:ext>
                  </a:extLst>
                </a:gridCol>
                <a:gridCol w="751417">
                  <a:extLst>
                    <a:ext uri="{9D8B030D-6E8A-4147-A177-3AD203B41FA5}">
                      <a16:colId xmlns:a16="http://schemas.microsoft.com/office/drawing/2014/main" val="4266881757"/>
                    </a:ext>
                  </a:extLst>
                </a:gridCol>
                <a:gridCol w="751417">
                  <a:extLst>
                    <a:ext uri="{9D8B030D-6E8A-4147-A177-3AD203B41FA5}">
                      <a16:colId xmlns:a16="http://schemas.microsoft.com/office/drawing/2014/main" val="2617362399"/>
                    </a:ext>
                  </a:extLst>
                </a:gridCol>
              </a:tblGrid>
              <a:tr h="498002"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1</a:t>
                      </a:r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2</a:t>
                      </a:r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3</a:t>
                      </a:r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366033"/>
                  </a:ext>
                </a:extLst>
              </a:tr>
              <a:tr h="498002"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4</a:t>
                      </a:r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5</a:t>
                      </a:r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6</a:t>
                      </a:r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3114739"/>
                  </a:ext>
                </a:extLst>
              </a:tr>
              <a:tr h="498002"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7</a:t>
                      </a:r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8</a:t>
                      </a:r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9</a:t>
                      </a:r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855424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表格 10">
                <a:extLst>
                  <a:ext uri="{FF2B5EF4-FFF2-40B4-BE49-F238E27FC236}">
                    <a16:creationId xmlns:a16="http://schemas.microsoft.com/office/drawing/2014/main" id="{BD12E043-1ABA-8145-C2CB-04248D0B1C4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579019" y="1882077"/>
              <a:ext cx="2254251" cy="149400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51417">
                      <a:extLst>
                        <a:ext uri="{9D8B030D-6E8A-4147-A177-3AD203B41FA5}">
                          <a16:colId xmlns:a16="http://schemas.microsoft.com/office/drawing/2014/main" val="4190247630"/>
                        </a:ext>
                      </a:extLst>
                    </a:gridCol>
                    <a:gridCol w="751417">
                      <a:extLst>
                        <a:ext uri="{9D8B030D-6E8A-4147-A177-3AD203B41FA5}">
                          <a16:colId xmlns:a16="http://schemas.microsoft.com/office/drawing/2014/main" val="4266881757"/>
                        </a:ext>
                      </a:extLst>
                    </a:gridCol>
                    <a:gridCol w="751417">
                      <a:extLst>
                        <a:ext uri="{9D8B030D-6E8A-4147-A177-3AD203B41FA5}">
                          <a16:colId xmlns:a16="http://schemas.microsoft.com/office/drawing/2014/main" val="2617362399"/>
                        </a:ext>
                      </a:extLst>
                    </a:gridCol>
                  </a:tblGrid>
                  <a:tr h="498002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2366033"/>
                      </a:ext>
                    </a:extLst>
                  </a:tr>
                  <a:tr h="49800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zh-TW" altLang="en-US" sz="160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TW" altLang="en-US" sz="16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  <m:d>
                                      <m:dPr>
                                        <m:ctrlPr>
                                          <a:rPr lang="zh-TW" altLang="en-US" sz="1600" i="1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sz="1600" b="0" i="0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  <m:r>
                                          <a:rPr lang="zh-TW" altLang="en-US" sz="160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TW" sz="16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33114739"/>
                      </a:ext>
                    </a:extLst>
                  </a:tr>
                  <a:tr h="498002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985542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表格 10">
                <a:extLst>
                  <a:ext uri="{FF2B5EF4-FFF2-40B4-BE49-F238E27FC236}">
                    <a16:creationId xmlns:a16="http://schemas.microsoft.com/office/drawing/2014/main" id="{BD12E043-1ABA-8145-C2CB-04248D0B1C4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579019" y="1882077"/>
              <a:ext cx="2254251" cy="149400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51417">
                      <a:extLst>
                        <a:ext uri="{9D8B030D-6E8A-4147-A177-3AD203B41FA5}">
                          <a16:colId xmlns:a16="http://schemas.microsoft.com/office/drawing/2014/main" val="4190247630"/>
                        </a:ext>
                      </a:extLst>
                    </a:gridCol>
                    <a:gridCol w="751417">
                      <a:extLst>
                        <a:ext uri="{9D8B030D-6E8A-4147-A177-3AD203B41FA5}">
                          <a16:colId xmlns:a16="http://schemas.microsoft.com/office/drawing/2014/main" val="4266881757"/>
                        </a:ext>
                      </a:extLst>
                    </a:gridCol>
                    <a:gridCol w="751417">
                      <a:extLst>
                        <a:ext uri="{9D8B030D-6E8A-4147-A177-3AD203B41FA5}">
                          <a16:colId xmlns:a16="http://schemas.microsoft.com/office/drawing/2014/main" val="2617362399"/>
                        </a:ext>
                      </a:extLst>
                    </a:gridCol>
                  </a:tblGrid>
                  <a:tr h="498002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2366033"/>
                      </a:ext>
                    </a:extLst>
                  </a:tr>
                  <a:tr h="498002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813" t="-101220" r="-202439" b="-10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33114739"/>
                      </a:ext>
                    </a:extLst>
                  </a:tr>
                  <a:tr h="498002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9855424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文字方塊 12">
            <a:extLst>
              <a:ext uri="{FF2B5EF4-FFF2-40B4-BE49-F238E27FC236}">
                <a16:creationId xmlns:a16="http://schemas.microsoft.com/office/drawing/2014/main" id="{08EB9782-8729-09CF-46F3-6243331E3264}"/>
              </a:ext>
            </a:extLst>
          </p:cNvPr>
          <p:cNvSpPr txBox="1"/>
          <p:nvPr/>
        </p:nvSpPr>
        <p:spPr>
          <a:xfrm>
            <a:off x="342421" y="5115018"/>
            <a:ext cx="33945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800" dirty="0"/>
              <a:t>Magnitude Spectrum</a:t>
            </a:r>
            <a:endParaRPr lang="zh-TW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6AB1D4DD-CACC-5F7A-1948-77CD5598C1E6}"/>
                  </a:ext>
                </a:extLst>
              </p:cNvPr>
              <p:cNvSpPr txBox="1"/>
              <p:nvPr/>
            </p:nvSpPr>
            <p:spPr>
              <a:xfrm>
                <a:off x="6219498" y="2238910"/>
                <a:ext cx="546066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800" dirty="0">
                    <a:solidFill>
                      <a:srgbClr val="C00000"/>
                    </a:solidFill>
                  </a:rPr>
                  <a:t>Q: </a:t>
                </a:r>
                <a:r>
                  <a:rPr lang="en-US" altLang="zh-TW" sz="2800" dirty="0"/>
                  <a:t>Find the magnitude of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zh-TW" altLang="en-US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sz="2800" i="1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zh-TW" alt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800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zh-TW" altLang="en-US" sz="280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d>
                  </m:oMath>
                </a14:m>
                <a:r>
                  <a:rPr lang="zh-TW" altLang="en-US" sz="2800" dirty="0"/>
                  <a:t> </a:t>
                </a:r>
                <a:r>
                  <a:rPr lang="en-US" altLang="zh-TW" sz="2800" dirty="0"/>
                  <a:t>?</a:t>
                </a:r>
                <a:endParaRPr lang="zh-TW" altLang="en-US" sz="2800" dirty="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6AB1D4DD-CACC-5F7A-1948-77CD5598C1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9498" y="2238910"/>
                <a:ext cx="5460668" cy="523220"/>
              </a:xfrm>
              <a:prstGeom prst="rect">
                <a:avLst/>
              </a:prstGeom>
              <a:blipFill>
                <a:blip r:embed="rId5"/>
                <a:stretch>
                  <a:fillRect l="-1004" t="-11628" r="-1004" b="-3139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950A056B-F583-8C39-BDB3-82A3675398AA}"/>
                  </a:ext>
                </a:extLst>
              </p:cNvPr>
              <p:cNvSpPr txBox="1"/>
              <p:nvPr/>
            </p:nvSpPr>
            <p:spPr>
              <a:xfrm>
                <a:off x="3727738" y="4010356"/>
                <a:ext cx="5286375" cy="756617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TW" altLang="en-US" sz="20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zh-TW" altLang="en-US" sz="20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zh-TW" altLang="en-US" sz="20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</m:nary>
                        </m:e>
                      </m:nary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en-US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𝑢𝑥</m:t>
                                  </m:r>
                                </m:num>
                                <m:den>
                                  <m: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den>
                              </m:f>
                              <m:r>
                                <a:rPr lang="zh-TW" altLang="en-US" sz="20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𝑣𝑦</m:t>
                                  </m:r>
                                </m:num>
                                <m:den>
                                  <m: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zh-TW" altLang="en-US" sz="20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950A056B-F583-8C39-BDB3-82A3675398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7738" y="4010356"/>
                <a:ext cx="5286375" cy="75661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字方塊 11">
            <a:extLst>
              <a:ext uri="{FF2B5EF4-FFF2-40B4-BE49-F238E27FC236}">
                <a16:creationId xmlns:a16="http://schemas.microsoft.com/office/drawing/2014/main" id="{380BE4C3-A5F6-6DE7-730F-F98681A74246}"/>
              </a:ext>
            </a:extLst>
          </p:cNvPr>
          <p:cNvSpPr txBox="1"/>
          <p:nvPr/>
        </p:nvSpPr>
        <p:spPr>
          <a:xfrm>
            <a:off x="680606" y="4112873"/>
            <a:ext cx="30702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800" dirty="0"/>
              <a:t>Fourier Transform</a:t>
            </a:r>
            <a:endParaRPr lang="zh-TW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C9EEC58E-8531-62AB-3207-DF5D8CAA4B79}"/>
                  </a:ext>
                </a:extLst>
              </p:cNvPr>
              <p:cNvSpPr txBox="1"/>
              <p:nvPr/>
            </p:nvSpPr>
            <p:spPr>
              <a:xfrm>
                <a:off x="3736975" y="5817766"/>
                <a:ext cx="7448548" cy="656013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mtClean="0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sepChr m:val=","/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e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ar-AE" altLang="zh-TW" i="0">
                          <a:latin typeface="Cambria Math" panose="02040503050406030204" pitchFamily="18" charset="0"/>
                        </a:rPr>
                        <m:t>∣=</m:t>
                      </m:r>
                      <m:rad>
                        <m:radPr>
                          <m:degHide m:val="on"/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d>
                            <m:dPr>
                              <m:endChr m:val=""/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altLang="zh-TW" b="0" i="1">
                                  <a:latin typeface="Cambria Math" panose="02040503050406030204" pitchFamily="18" charset="0"/>
                                </a:rPr>
                                <m:t>Re</m:t>
                              </m:r>
                              <m:sSup>
                                <m:sSupPr>
                                  <m:ctrlPr>
                                    <a:rPr lang="ar-AE" altLang="zh-TW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TW" altLang="ar-AE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  <m:d>
                                    <m:dPr>
                                      <m:ctrlPr>
                                        <a:rPr lang="zh-TW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TW" altLang="en-US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  <m:r>
                                        <a:rPr lang="zh-TW" altLang="en-US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zh-TW" altLang="en-US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d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ar-AE" altLang="zh-TW" b="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ar-AE" altLang="zh-TW" b="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endChr m:val=""/>
                                  <m:ctrlPr>
                                    <a:rPr lang="ar-AE" altLang="zh-TW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TW" b="0" i="1">
                                      <a:latin typeface="Cambria Math" panose="02040503050406030204" pitchFamily="18" charset="0"/>
                                    </a:rPr>
                                    <m:t>Im</m:t>
                                  </m:r>
                                  <m:sSup>
                                    <m:sSupPr>
                                      <m:ctrlPr>
                                        <a:rPr lang="ar-AE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zh-TW" altLang="ar-AE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  <m:d>
                                        <m:dPr>
                                          <m:ctrlPr>
                                            <a:rPr lang="zh-TW" alt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TW" altLang="en-US" i="1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  <m:r>
                                            <a:rPr lang="zh-TW" altLang="en-US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zh-TW" altLang="en-US" i="1"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</m:d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ar-AE" altLang="zh-TW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rad>
                    </m:oMath>
                  </m:oMathPara>
                </a14:m>
                <a:endParaRPr lang="ar-AE" altLang="zh-TW" b="0" dirty="0"/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C9EEC58E-8531-62AB-3207-DF5D8CAA4B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6975" y="5817766"/>
                <a:ext cx="7448548" cy="65601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93265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EBA08-113B-9BE2-59C6-E3B3C7F1F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5CBE431-7C3A-BB66-EA5D-15753622A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34</a:t>
            </a:fld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A687D26-7F85-9133-34D1-B60930A8C494}"/>
              </a:ext>
            </a:extLst>
          </p:cNvPr>
          <p:cNvSpPr txBox="1"/>
          <p:nvPr/>
        </p:nvSpPr>
        <p:spPr>
          <a:xfrm>
            <a:off x="1" y="286131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Fourier Spectrum</a:t>
            </a:r>
            <a:endParaRPr lang="zh-TW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93009C57-625F-DBA9-F5E0-397B0FF35919}"/>
                  </a:ext>
                </a:extLst>
              </p:cNvPr>
              <p:cNvSpPr txBox="1"/>
              <p:nvPr/>
            </p:nvSpPr>
            <p:spPr>
              <a:xfrm>
                <a:off x="1029855" y="2279103"/>
                <a:ext cx="3629892" cy="19286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zh-TW" altLang="zh-TW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,1</m:t>
                          </m:r>
                        </m:e>
                      </m:d>
                      <m:r>
                        <a:rPr lang="en-US" altLang="zh-TW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18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zh-TW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,0</m:t>
                          </m:r>
                        </m:e>
                      </m:d>
                      <m:r>
                        <a:rPr lang="en-US" altLang="zh-TW" sz="180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zh-TW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TW" sz="1800"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zh-TW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altLang="zh-TW" sz="180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18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US" altLang="zh-TW" sz="1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zh-TW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180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18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en-US" altLang="zh-TW" sz="1800" i="1" dirty="0">
                  <a:latin typeface="Cambria Math" panose="02040503050406030204" pitchFamily="18" charset="0"/>
                </a:endParaRPr>
              </a:p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0" i="1" smtClean="0">
                          <a:latin typeface="Cambria Math" panose="02040503050406030204" pitchFamily="18" charset="0"/>
                        </a:rPr>
                        <m:t>              </m:t>
                      </m:r>
                      <m:r>
                        <a:rPr lang="en-US" altLang="zh-TW" sz="1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zh-TW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800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TW" sz="180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zh-TW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TW" sz="1800"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zh-TW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altLang="zh-TW" sz="180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18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US" altLang="zh-TW" sz="1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zh-TW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180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1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en-US" altLang="zh-TW" sz="1800" i="1" dirty="0">
                  <a:latin typeface="Cambria Math" panose="02040503050406030204" pitchFamily="18" charset="0"/>
                </a:endParaRPr>
              </a:p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0" i="1" smtClean="0">
                          <a:latin typeface="Cambria Math" panose="02040503050406030204" pitchFamily="18" charset="0"/>
                        </a:rPr>
                        <m:t>              </m:t>
                      </m:r>
                      <m:r>
                        <a:rPr lang="en-US" altLang="zh-TW" sz="1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zh-TW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altLang="zh-TW" sz="180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zh-TW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TW" sz="1800"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zh-TW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altLang="zh-TW" sz="180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18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US" altLang="zh-TW" sz="1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zh-TW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180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en-US" altLang="zh-TW" sz="18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93009C57-625F-DBA9-F5E0-397B0FF35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855" y="2279103"/>
                <a:ext cx="3629892" cy="192860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B972B76E-D7F3-0252-0D95-C7E677FBC1D3}"/>
                  </a:ext>
                </a:extLst>
              </p:cNvPr>
              <p:cNvSpPr txBox="1"/>
              <p:nvPr/>
            </p:nvSpPr>
            <p:spPr>
              <a:xfrm>
                <a:off x="4824835" y="2273922"/>
                <a:ext cx="2623127" cy="19261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zh-TW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TW" sz="180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zh-TW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TW" sz="1800"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zh-TW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altLang="zh-TW" sz="180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1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US" altLang="zh-TW" sz="1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zh-TW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180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18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en-US" altLang="zh-TW" sz="18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zh-TW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1,1</m:t>
                          </m:r>
                        </m:e>
                      </m:d>
                      <m:r>
                        <a:rPr lang="en-US" altLang="zh-TW" sz="180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zh-TW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TW" sz="1800"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zh-TW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altLang="zh-TW" sz="180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1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US" altLang="zh-TW" sz="1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zh-TW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180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1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zh-TW" altLang="en-US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zh-TW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altLang="zh-TW" sz="180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zh-TW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TW" sz="1800"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zh-TW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altLang="zh-TW" sz="180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1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US" altLang="zh-TW" sz="1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zh-TW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180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B972B76E-D7F3-0252-0D95-C7E677FBC1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4835" y="2273922"/>
                <a:ext cx="2623127" cy="19261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CAB3365E-A7F3-AAEC-AD87-695FB08DB621}"/>
                  </a:ext>
                </a:extLst>
              </p:cNvPr>
              <p:cNvSpPr txBox="1"/>
              <p:nvPr/>
            </p:nvSpPr>
            <p:spPr>
              <a:xfrm>
                <a:off x="8142132" y="2273922"/>
                <a:ext cx="2623127" cy="19261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zh-TW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TW" sz="180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zh-TW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TW" sz="1800"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zh-TW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altLang="zh-TW" sz="180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altLang="zh-TW" sz="18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US" altLang="zh-TW" sz="1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zh-TW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180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18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US" altLang="zh-TW" sz="18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en-US" altLang="zh-TW" sz="18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zh-TW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,1</m:t>
                          </m:r>
                        </m:e>
                      </m:d>
                      <m:r>
                        <a:rPr lang="en-US" altLang="zh-TW" sz="180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zh-TW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TW" sz="1800"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zh-TW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altLang="zh-TW" sz="180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altLang="zh-TW" sz="18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US" altLang="zh-TW" sz="1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zh-TW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180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1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8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zh-TW" altLang="en-US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zh-TW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altLang="zh-TW" sz="180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zh-TW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TW" sz="1800"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zh-TW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altLang="zh-TW" sz="180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altLang="zh-TW" sz="18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US" altLang="zh-TW" sz="1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zh-TW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180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altLang="zh-TW" sz="18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CAB3365E-A7F3-AAEC-AD87-695FB08DB6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2132" y="2273922"/>
                <a:ext cx="2623127" cy="192610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F6395148-B8E5-4F6E-9C21-1C74B8AFC76D}"/>
                  </a:ext>
                </a:extLst>
              </p:cNvPr>
              <p:cNvSpPr txBox="1"/>
              <p:nvPr/>
            </p:nvSpPr>
            <p:spPr>
              <a:xfrm>
                <a:off x="3365788" y="1097726"/>
                <a:ext cx="5286375" cy="756617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TW" altLang="en-US" sz="20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zh-TW" altLang="en-US" sz="20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zh-TW" altLang="en-US" sz="20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</m:nary>
                        </m:e>
                      </m:nary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en-US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𝑢𝑥</m:t>
                                  </m:r>
                                </m:num>
                                <m:den>
                                  <m: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den>
                              </m:f>
                              <m:r>
                                <a:rPr lang="zh-TW" altLang="en-US" sz="20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𝑣𝑦</m:t>
                                  </m:r>
                                </m:num>
                                <m:den>
                                  <m: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zh-TW" altLang="en-US" sz="20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F6395148-B8E5-4F6E-9C21-1C74B8AFC7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5788" y="1097726"/>
                <a:ext cx="5286375" cy="75661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字方塊 16">
            <a:extLst>
              <a:ext uri="{FF2B5EF4-FFF2-40B4-BE49-F238E27FC236}">
                <a16:creationId xmlns:a16="http://schemas.microsoft.com/office/drawing/2014/main" id="{973246C5-3839-2B6F-0EBB-52EEC671BE98}"/>
              </a:ext>
            </a:extLst>
          </p:cNvPr>
          <p:cNvSpPr txBox="1"/>
          <p:nvPr/>
        </p:nvSpPr>
        <p:spPr>
          <a:xfrm>
            <a:off x="318656" y="1200243"/>
            <a:ext cx="30702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800" dirty="0"/>
              <a:t>Fourier Transform</a:t>
            </a:r>
            <a:endParaRPr lang="zh-TW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715587BD-677A-96B0-7E7D-214A3BE08071}"/>
                  </a:ext>
                </a:extLst>
              </p:cNvPr>
              <p:cNvSpPr txBox="1"/>
              <p:nvPr/>
            </p:nvSpPr>
            <p:spPr>
              <a:xfrm>
                <a:off x="3560618" y="2149825"/>
                <a:ext cx="39716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TW" altLang="en-US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TW" altLang="en-US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14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715587BD-677A-96B0-7E7D-214A3BE080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0618" y="2149825"/>
                <a:ext cx="397164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E8CAFC34-5E12-1005-E883-A0C68328A5B7}"/>
                  </a:ext>
                </a:extLst>
              </p:cNvPr>
              <p:cNvSpPr txBox="1"/>
              <p:nvPr/>
            </p:nvSpPr>
            <p:spPr>
              <a:xfrm>
                <a:off x="3934691" y="2135971"/>
                <a:ext cx="39716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zh-TW" altLang="en-US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14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E8CAFC34-5E12-1005-E883-A0C68328A5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4691" y="2135971"/>
                <a:ext cx="397164" cy="307777"/>
              </a:xfrm>
              <a:prstGeom prst="rect">
                <a:avLst/>
              </a:prstGeom>
              <a:blipFill>
                <a:blip r:embed="rId7"/>
                <a:stretch>
                  <a:fillRect b="-19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EA033B06-108B-ECB1-8AA9-60E626B74196}"/>
                  </a:ext>
                </a:extLst>
              </p:cNvPr>
              <p:cNvSpPr txBox="1"/>
              <p:nvPr/>
            </p:nvSpPr>
            <p:spPr>
              <a:xfrm>
                <a:off x="1505527" y="2311462"/>
                <a:ext cx="39716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TW" altLang="en-US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TW" altLang="en-US" sz="14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EA033B06-108B-ECB1-8AA9-60E626B741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5527" y="2311462"/>
                <a:ext cx="397164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4195E0A1-9C29-DF04-8C11-8E921EDEDB5C}"/>
                  </a:ext>
                </a:extLst>
              </p:cNvPr>
              <p:cNvSpPr txBox="1"/>
              <p:nvPr/>
            </p:nvSpPr>
            <p:spPr>
              <a:xfrm>
                <a:off x="2452254" y="2316081"/>
                <a:ext cx="39716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TW" altLang="en-US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14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4195E0A1-9C29-DF04-8C11-8E921EDEDB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2254" y="2316081"/>
                <a:ext cx="397164" cy="307777"/>
              </a:xfrm>
              <a:prstGeom prst="rect">
                <a:avLst/>
              </a:prstGeom>
              <a:blipFill>
                <a:blip r:embed="rId9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2406BE52-D772-87FE-7D4A-0B20DC6BC98F}"/>
                  </a:ext>
                </a:extLst>
              </p:cNvPr>
              <p:cNvSpPr txBox="1"/>
              <p:nvPr/>
            </p:nvSpPr>
            <p:spPr>
              <a:xfrm>
                <a:off x="473364" y="4529312"/>
                <a:ext cx="3629892" cy="19286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zh-TW" altLang="zh-TW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,1</m:t>
                          </m:r>
                        </m:e>
                      </m:d>
                      <m:r>
                        <a:rPr lang="en-US" altLang="zh-TW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1800" b="0" i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TW" sz="180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zh-TW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𝑗</m:t>
                          </m:r>
                          <m:d>
                            <m:dPr>
                              <m:ctrlPr>
                                <a:rPr lang="zh-TW" altLang="zh-TW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8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en-US" altLang="zh-TW" sz="1800" i="1" dirty="0">
                  <a:latin typeface="Cambria Math" panose="02040503050406030204" pitchFamily="18" charset="0"/>
                </a:endParaRPr>
              </a:p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0" i="1" smtClean="0">
                          <a:latin typeface="Cambria Math" panose="02040503050406030204" pitchFamily="18" charset="0"/>
                        </a:rPr>
                        <m:t>              </m:t>
                      </m:r>
                      <m:r>
                        <a:rPr lang="en-US" altLang="zh-TW" sz="1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b="0" i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altLang="zh-TW" sz="180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𝑗</m:t>
                          </m:r>
                          <m:d>
                            <m:dPr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en-US" altLang="zh-TW" sz="1800" i="1" dirty="0">
                  <a:latin typeface="Cambria Math" panose="02040503050406030204" pitchFamily="18" charset="0"/>
                </a:endParaRPr>
              </a:p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0" i="1" smtClean="0">
                          <a:latin typeface="Cambria Math" panose="02040503050406030204" pitchFamily="18" charset="0"/>
                        </a:rPr>
                        <m:t>              </m:t>
                      </m:r>
                      <m:r>
                        <a:rPr lang="en-US" altLang="zh-TW" sz="1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b="0" i="0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altLang="zh-TW" sz="180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𝑗</m:t>
                          </m:r>
                          <m:d>
                            <m:dPr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en-US" altLang="zh-TW" sz="18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2406BE52-D772-87FE-7D4A-0B20DC6BC9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364" y="4529312"/>
                <a:ext cx="3629892" cy="192860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5B84B98F-A866-F509-7B30-10CF0C344DF0}"/>
                  </a:ext>
                </a:extLst>
              </p:cNvPr>
              <p:cNvSpPr txBox="1"/>
              <p:nvPr/>
            </p:nvSpPr>
            <p:spPr>
              <a:xfrm>
                <a:off x="4277869" y="4476506"/>
                <a:ext cx="2623127" cy="19261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b="0" i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TW" sz="180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𝑗</m:t>
                          </m:r>
                          <m:d>
                            <m:dPr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en-US" altLang="zh-TW" sz="18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b="0" i="0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altLang="zh-TW" sz="180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𝑗</m:t>
                          </m:r>
                          <m:d>
                            <m:dPr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zh-TW" altLang="en-US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b="0" i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altLang="zh-TW" sz="180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𝑗</m:t>
                          </m:r>
                          <m:d>
                            <m:dPr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5B84B98F-A866-F509-7B30-10CF0C344D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7869" y="4476506"/>
                <a:ext cx="2623127" cy="192610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873D91FE-51D1-D469-4DF7-D0C85528F7CE}"/>
                  </a:ext>
                </a:extLst>
              </p:cNvPr>
              <p:cNvSpPr txBox="1"/>
              <p:nvPr/>
            </p:nvSpPr>
            <p:spPr>
              <a:xfrm>
                <a:off x="7595166" y="4466981"/>
                <a:ext cx="2623127" cy="19261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b="0" i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zh-TW" sz="180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𝑗</m:t>
                          </m:r>
                          <m:d>
                            <m:dPr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en-US" altLang="zh-TW" sz="18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b="0" i="0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altLang="zh-TW" sz="180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𝑗</m:t>
                          </m:r>
                          <m:d>
                            <m:dPr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zh-TW" altLang="en-US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b="0" i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US" altLang="zh-TW" sz="180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𝑗</m:t>
                          </m:r>
                          <m:d>
                            <m:dPr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873D91FE-51D1-D469-4DF7-D0C85528F7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5166" y="4466981"/>
                <a:ext cx="2623127" cy="192610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593DA61C-65C1-D5ED-58C2-EB48043FE8EA}"/>
                  </a:ext>
                </a:extLst>
              </p:cNvPr>
              <p:cNvSpPr txBox="1"/>
              <p:nvPr/>
            </p:nvSpPr>
            <p:spPr>
              <a:xfrm>
                <a:off x="1961284" y="4539447"/>
                <a:ext cx="697346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TW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(0,0)</m:t>
                      </m:r>
                    </m:oMath>
                  </m:oMathPara>
                </a14:m>
                <a:endParaRPr lang="zh-TW" alt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593DA61C-65C1-D5ED-58C2-EB48043FE8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1284" y="4539447"/>
                <a:ext cx="697346" cy="307777"/>
              </a:xfrm>
              <a:prstGeom prst="rect">
                <a:avLst/>
              </a:prstGeom>
              <a:blipFill>
                <a:blip r:embed="rId1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文字方塊 29">
            <a:extLst>
              <a:ext uri="{FF2B5EF4-FFF2-40B4-BE49-F238E27FC236}">
                <a16:creationId xmlns:a16="http://schemas.microsoft.com/office/drawing/2014/main" id="{0C7E2EDE-9A2F-E0B9-4307-DED08407C313}"/>
              </a:ext>
            </a:extLst>
          </p:cNvPr>
          <p:cNvSpPr txBox="1"/>
          <p:nvPr/>
        </p:nvSpPr>
        <p:spPr>
          <a:xfrm>
            <a:off x="8855941" y="1160606"/>
            <a:ext cx="3228769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1 radian = 180/π degrees</a:t>
            </a:r>
            <a:endParaRPr lang="zh-TW" altLang="en-US" sz="2400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A1AC676-27AA-84DC-8BC0-B07D06813826}"/>
              </a:ext>
            </a:extLst>
          </p:cNvPr>
          <p:cNvSpPr/>
          <p:nvPr/>
        </p:nvSpPr>
        <p:spPr>
          <a:xfrm>
            <a:off x="5872163" y="5838825"/>
            <a:ext cx="228600" cy="3524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EC1C0CCA-C235-BABA-1A6C-8A69A3B56025}"/>
                  </a:ext>
                </a:extLst>
              </p:cNvPr>
              <p:cNvSpPr txBox="1"/>
              <p:nvPr/>
            </p:nvSpPr>
            <p:spPr>
              <a:xfrm>
                <a:off x="6363277" y="5789325"/>
                <a:ext cx="1263295" cy="4517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TW" altLang="zh-TW" sz="1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zh-TW" altLang="en-US" sz="1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zh-TW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TW" sz="1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US" altLang="zh-TW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US" altLang="zh-TW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altLang="zh-TW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TW" sz="160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240</m:t>
                        </m:r>
                      </m:e>
                      <m:sup>
                        <m:r>
                          <a:rPr lang="en-US" altLang="zh-TW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sup>
                    </m:sSup>
                  </m:oMath>
                </a14:m>
                <a:endParaRPr lang="zh-TW" altLang="en-US" sz="16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EC1C0CCA-C235-BABA-1A6C-8A69A3B560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3277" y="5789325"/>
                <a:ext cx="1263295" cy="45172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手繪多邊形: 圖案 32">
            <a:extLst>
              <a:ext uri="{FF2B5EF4-FFF2-40B4-BE49-F238E27FC236}">
                <a16:creationId xmlns:a16="http://schemas.microsoft.com/office/drawing/2014/main" id="{3BD4C12E-CA8F-6B0F-65DF-8A95F1528152}"/>
              </a:ext>
            </a:extLst>
          </p:cNvPr>
          <p:cNvSpPr/>
          <p:nvPr/>
        </p:nvSpPr>
        <p:spPr>
          <a:xfrm>
            <a:off x="6005513" y="6196013"/>
            <a:ext cx="614362" cy="223837"/>
          </a:xfrm>
          <a:custGeom>
            <a:avLst/>
            <a:gdLst>
              <a:gd name="connsiteX0" fmla="*/ 0 w 614362"/>
              <a:gd name="connsiteY0" fmla="*/ 0 h 223837"/>
              <a:gd name="connsiteX1" fmla="*/ 28575 w 614362"/>
              <a:gd name="connsiteY1" fmla="*/ 61912 h 223837"/>
              <a:gd name="connsiteX2" fmla="*/ 38100 w 614362"/>
              <a:gd name="connsiteY2" fmla="*/ 80962 h 223837"/>
              <a:gd name="connsiteX3" fmla="*/ 61912 w 614362"/>
              <a:gd name="connsiteY3" fmla="*/ 142875 h 223837"/>
              <a:gd name="connsiteX4" fmla="*/ 80962 w 614362"/>
              <a:gd name="connsiteY4" fmla="*/ 171450 h 223837"/>
              <a:gd name="connsiteX5" fmla="*/ 109537 w 614362"/>
              <a:gd name="connsiteY5" fmla="*/ 195262 h 223837"/>
              <a:gd name="connsiteX6" fmla="*/ 128587 w 614362"/>
              <a:gd name="connsiteY6" fmla="*/ 204787 h 223837"/>
              <a:gd name="connsiteX7" fmla="*/ 204787 w 614362"/>
              <a:gd name="connsiteY7" fmla="*/ 223837 h 223837"/>
              <a:gd name="connsiteX8" fmla="*/ 395287 w 614362"/>
              <a:gd name="connsiteY8" fmla="*/ 209550 h 223837"/>
              <a:gd name="connsiteX9" fmla="*/ 438150 w 614362"/>
              <a:gd name="connsiteY9" fmla="*/ 190500 h 223837"/>
              <a:gd name="connsiteX10" fmla="*/ 476250 w 614362"/>
              <a:gd name="connsiteY10" fmla="*/ 171450 h 223837"/>
              <a:gd name="connsiteX11" fmla="*/ 533400 w 614362"/>
              <a:gd name="connsiteY11" fmla="*/ 123825 h 223837"/>
              <a:gd name="connsiteX12" fmla="*/ 557212 w 614362"/>
              <a:gd name="connsiteY12" fmla="*/ 95250 h 223837"/>
              <a:gd name="connsiteX13" fmla="*/ 581025 w 614362"/>
              <a:gd name="connsiteY13" fmla="*/ 71437 h 223837"/>
              <a:gd name="connsiteX14" fmla="*/ 604837 w 614362"/>
              <a:gd name="connsiteY14" fmla="*/ 33337 h 223837"/>
              <a:gd name="connsiteX15" fmla="*/ 614362 w 614362"/>
              <a:gd name="connsiteY15" fmla="*/ 28575 h 223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14362" h="223837">
                <a:moveTo>
                  <a:pt x="0" y="0"/>
                </a:moveTo>
                <a:cubicBezTo>
                  <a:pt x="14798" y="36995"/>
                  <a:pt x="5702" y="16166"/>
                  <a:pt x="28575" y="61912"/>
                </a:cubicBezTo>
                <a:cubicBezTo>
                  <a:pt x="31750" y="68262"/>
                  <a:pt x="35855" y="74227"/>
                  <a:pt x="38100" y="80962"/>
                </a:cubicBezTo>
                <a:cubicBezTo>
                  <a:pt x="45135" y="102067"/>
                  <a:pt x="51272" y="123115"/>
                  <a:pt x="61912" y="142875"/>
                </a:cubicBezTo>
                <a:cubicBezTo>
                  <a:pt x="67339" y="152954"/>
                  <a:pt x="72168" y="164121"/>
                  <a:pt x="80962" y="171450"/>
                </a:cubicBezTo>
                <a:cubicBezTo>
                  <a:pt x="90487" y="179387"/>
                  <a:pt x="99380" y="188152"/>
                  <a:pt x="109537" y="195262"/>
                </a:cubicBezTo>
                <a:cubicBezTo>
                  <a:pt x="115353" y="199333"/>
                  <a:pt x="121995" y="202150"/>
                  <a:pt x="128587" y="204787"/>
                </a:cubicBezTo>
                <a:cubicBezTo>
                  <a:pt x="157876" y="216503"/>
                  <a:pt x="170930" y="217066"/>
                  <a:pt x="204787" y="223837"/>
                </a:cubicBezTo>
                <a:cubicBezTo>
                  <a:pt x="246649" y="222342"/>
                  <a:pt x="342369" y="224669"/>
                  <a:pt x="395287" y="209550"/>
                </a:cubicBezTo>
                <a:cubicBezTo>
                  <a:pt x="410321" y="205255"/>
                  <a:pt x="424003" y="197157"/>
                  <a:pt x="438150" y="190500"/>
                </a:cubicBezTo>
                <a:cubicBezTo>
                  <a:pt x="450998" y="184454"/>
                  <a:pt x="466210" y="181490"/>
                  <a:pt x="476250" y="171450"/>
                </a:cubicBezTo>
                <a:cubicBezTo>
                  <a:pt x="516135" y="131565"/>
                  <a:pt x="471128" y="174776"/>
                  <a:pt x="533400" y="123825"/>
                </a:cubicBezTo>
                <a:cubicBezTo>
                  <a:pt x="558628" y="103183"/>
                  <a:pt x="538092" y="117101"/>
                  <a:pt x="557212" y="95250"/>
                </a:cubicBezTo>
                <a:cubicBezTo>
                  <a:pt x="564604" y="86802"/>
                  <a:pt x="573567" y="79827"/>
                  <a:pt x="581025" y="71437"/>
                </a:cubicBezTo>
                <a:cubicBezTo>
                  <a:pt x="656383" y="-13342"/>
                  <a:pt x="540948" y="113197"/>
                  <a:pt x="604837" y="33337"/>
                </a:cubicBezTo>
                <a:cubicBezTo>
                  <a:pt x="607054" y="30565"/>
                  <a:pt x="611187" y="30162"/>
                  <a:pt x="614362" y="28575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DFE9CC4-40DC-95AE-485E-E8291E210FE1}"/>
              </a:ext>
            </a:extLst>
          </p:cNvPr>
          <p:cNvSpPr/>
          <p:nvPr/>
        </p:nvSpPr>
        <p:spPr>
          <a:xfrm>
            <a:off x="1123950" y="2085975"/>
            <a:ext cx="9725025" cy="2200275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B516592-09B4-8C89-5C56-9F7EAA6AD1CD}"/>
              </a:ext>
            </a:extLst>
          </p:cNvPr>
          <p:cNvSpPr/>
          <p:nvPr/>
        </p:nvSpPr>
        <p:spPr>
          <a:xfrm>
            <a:off x="1123950" y="4343400"/>
            <a:ext cx="9725025" cy="2200275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箭號: 向右 4">
            <a:extLst>
              <a:ext uri="{FF2B5EF4-FFF2-40B4-BE49-F238E27FC236}">
                <a16:creationId xmlns:a16="http://schemas.microsoft.com/office/drawing/2014/main" id="{F607E40E-DEA7-525C-A0E3-50B800168EED}"/>
              </a:ext>
            </a:extLst>
          </p:cNvPr>
          <p:cNvSpPr/>
          <p:nvPr/>
        </p:nvSpPr>
        <p:spPr>
          <a:xfrm rot="5400000">
            <a:off x="5972175" y="4191000"/>
            <a:ext cx="323850" cy="304800"/>
          </a:xfrm>
          <a:prstGeom prst="rightArrow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71676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5FE96-1EEC-1AF1-7758-66FB91B27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6E5700D-E1D3-50E1-B729-CCA9858BC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35</a:t>
            </a:fld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4F00880-C979-9E32-95FC-D7809348EAC8}"/>
              </a:ext>
            </a:extLst>
          </p:cNvPr>
          <p:cNvSpPr txBox="1"/>
          <p:nvPr/>
        </p:nvSpPr>
        <p:spPr>
          <a:xfrm>
            <a:off x="1" y="286131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Fourier Spectrum</a:t>
            </a:r>
            <a:endParaRPr lang="zh-TW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B70CBB65-14D0-501C-4AFA-4B70BF1A58A8}"/>
                  </a:ext>
                </a:extLst>
              </p:cNvPr>
              <p:cNvSpPr txBox="1"/>
              <p:nvPr/>
            </p:nvSpPr>
            <p:spPr>
              <a:xfrm>
                <a:off x="200025" y="1937358"/>
                <a:ext cx="4641272" cy="13896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zh-TW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,1</m:t>
                          </m:r>
                        </m:e>
                      </m:d>
                      <m:r>
                        <a:rPr lang="en-US" altLang="zh-TW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1∗(</m:t>
                      </m:r>
                      <m:func>
                        <m:funcPr>
                          <m:ctrlP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TW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sup>
                                  <m: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°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altLang="zh-TW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TW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𝑗𝑠𝑖𝑛</m:t>
                      </m:r>
                      <m:d>
                        <m:dPr>
                          <m:ctrlP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°</m:t>
                              </m:r>
                            </m:sup>
                          </m:sSup>
                        </m:e>
                      </m:d>
                      <m:r>
                        <a:rPr lang="en-US" altLang="zh-TW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16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                 </m:t>
                      </m:r>
                      <m:r>
                        <a:rPr lang="en-US" altLang="zh-TW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4</m:t>
                      </m:r>
                      <m:r>
                        <a:rPr lang="en-US" altLang="zh-TW" sz="16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∗(</m:t>
                      </m:r>
                      <m:func>
                        <m:funcPr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16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16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TW" sz="16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sup>
                                  <m: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°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altLang="zh-TW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TW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𝑗𝑠𝑖𝑛</m:t>
                      </m:r>
                      <m:d>
                        <m:dPr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120</m:t>
                              </m:r>
                            </m:e>
                            <m:sup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°</m:t>
                              </m:r>
                            </m:sup>
                          </m:sSup>
                        </m:e>
                      </m:d>
                      <m:r>
                        <a:rPr lang="en-US" altLang="zh-TW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16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                 </m:t>
                      </m:r>
                      <m:r>
                        <a:rPr lang="en-US" altLang="zh-TW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7</m:t>
                      </m:r>
                      <m:r>
                        <a:rPr lang="en-US" altLang="zh-TW" sz="16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∗(</m:t>
                      </m:r>
                      <m:func>
                        <m:funcPr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16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16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altLang="zh-TW" sz="16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sup>
                                  <m: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°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altLang="zh-TW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TW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𝑗𝑠𝑖𝑛</m:t>
                      </m:r>
                      <m:d>
                        <m:dPr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240</m:t>
                              </m:r>
                            </m:e>
                            <m:sup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°</m:t>
                              </m:r>
                            </m:sup>
                          </m:sSup>
                        </m:e>
                      </m:d>
                      <m:r>
                        <a:rPr lang="en-US" altLang="zh-TW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16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B70CBB65-14D0-501C-4AFA-4B70BF1A58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025" y="1937358"/>
                <a:ext cx="4641272" cy="13896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ACB2B306-2188-8449-DB90-282A2AF164A7}"/>
                  </a:ext>
                </a:extLst>
              </p:cNvPr>
              <p:cNvSpPr txBox="1"/>
              <p:nvPr/>
            </p:nvSpPr>
            <p:spPr>
              <a:xfrm>
                <a:off x="4904499" y="1932177"/>
                <a:ext cx="3283537" cy="13432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TW" sz="16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∗(</m:t>
                      </m:r>
                      <m:func>
                        <m:funcPr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16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sup>
                                  <m: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°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altLang="zh-TW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TW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𝑗𝑠𝑖𝑛</m:t>
                      </m:r>
                      <m:d>
                        <m:dPr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°</m:t>
                              </m:r>
                            </m:sup>
                          </m:sSup>
                        </m:e>
                      </m:d>
                      <m:r>
                        <a:rPr lang="en-US" altLang="zh-TW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16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altLang="zh-TW" sz="16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∗(</m:t>
                      </m:r>
                      <m:func>
                        <m:funcPr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16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16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TW" sz="16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sup>
                                  <m: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°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altLang="zh-TW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TW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𝑗𝑠𝑖𝑛</m:t>
                      </m:r>
                      <m:d>
                        <m:dPr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120</m:t>
                              </m:r>
                            </m:e>
                            <m:sup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°</m:t>
                              </m:r>
                            </m:sup>
                          </m:sSup>
                        </m:e>
                      </m:d>
                      <m:r>
                        <a:rPr lang="en-US" altLang="zh-TW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altLang="zh-TW" sz="16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∗(</m:t>
                      </m:r>
                      <m:func>
                        <m:funcPr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16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160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TW" sz="1600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altLang="zh-TW" sz="160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sup>
                                  <m: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°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altLang="zh-TW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TW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𝑗𝑠𝑖𝑛</m:t>
                      </m:r>
                      <m:d>
                        <m:dPr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240</m:t>
                              </m:r>
                            </m:e>
                            <m:sup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°</m:t>
                              </m:r>
                            </m:sup>
                          </m:sSup>
                        </m:e>
                      </m:d>
                      <m:r>
                        <a:rPr lang="en-US" altLang="zh-TW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16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ACB2B306-2188-8449-DB90-282A2AF164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4499" y="1932177"/>
                <a:ext cx="3283537" cy="13432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D1C9E6D7-C9F7-A5C0-0F01-9F82D08E83E7}"/>
                  </a:ext>
                </a:extLst>
              </p:cNvPr>
              <p:cNvSpPr txBox="1"/>
              <p:nvPr/>
            </p:nvSpPr>
            <p:spPr>
              <a:xfrm>
                <a:off x="8386028" y="1932178"/>
                <a:ext cx="3251212" cy="13432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600" b="0" i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∗(</m:t>
                      </m:r>
                      <m:func>
                        <m:func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16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6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16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sup>
                                  <m:r>
                                    <a:rPr lang="en-US" altLang="zh-TW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°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altLang="zh-TW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𝑗𝑠𝑖𝑛</m:t>
                      </m:r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°</m:t>
                              </m:r>
                            </m:sup>
                          </m:sSup>
                        </m:e>
                      </m:d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16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600" b="0" i="0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∗(</m:t>
                      </m:r>
                      <m:func>
                        <m:func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16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6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1600" i="1">
                                      <a:latin typeface="Cambria Math" panose="02040503050406030204" pitchFamily="18" charset="0"/>
                                    </a:rPr>
                                    <m:t>120</m:t>
                                  </m:r>
                                </m:e>
                                <m:sup>
                                  <m:r>
                                    <a:rPr lang="en-US" altLang="zh-TW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°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altLang="zh-TW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𝑗𝑠𝑖𝑛</m:t>
                      </m:r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120</m:t>
                              </m:r>
                            </m:e>
                            <m:sup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°</m:t>
                              </m:r>
                            </m:sup>
                          </m:sSup>
                        </m:e>
                      </m:d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16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600" b="0" i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∗(</m:t>
                      </m:r>
                      <m:func>
                        <m:func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16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6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1600" i="1">
                                      <a:latin typeface="Cambria Math" panose="02040503050406030204" pitchFamily="18" charset="0"/>
                                    </a:rPr>
                                    <m:t>120</m:t>
                                  </m:r>
                                </m:e>
                                <m:sup>
                                  <m:r>
                                    <a:rPr lang="en-US" altLang="zh-TW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°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altLang="zh-TW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𝑗𝑠𝑖𝑛</m:t>
                      </m:r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240</m:t>
                              </m:r>
                            </m:e>
                            <m:sup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°</m:t>
                              </m:r>
                            </m:sup>
                          </m:sSup>
                        </m:e>
                      </m:d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D1C9E6D7-C9F7-A5C0-0F01-9F82D08E83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6028" y="1932178"/>
                <a:ext cx="3251212" cy="13432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D2478177-068C-8147-0DA4-F59158E3C4C1}"/>
                  </a:ext>
                </a:extLst>
              </p:cNvPr>
              <p:cNvSpPr txBox="1"/>
              <p:nvPr/>
            </p:nvSpPr>
            <p:spPr>
              <a:xfrm>
                <a:off x="4262249" y="999604"/>
                <a:ext cx="3400425" cy="477888"/>
              </a:xfrm>
              <a:prstGeom prst="rect">
                <a:avLst/>
              </a:prstGeom>
              <a:solidFill>
                <a:srgbClr val="F9C9C9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θ</m:t>
                          </m:r>
                        </m:sup>
                      </m:sSup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zh-TW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d>
                        </m:e>
                      </m:func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𝑗</m:t>
                      </m:r>
                      <m:func>
                        <m:func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zh-TW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zh-TW" altLang="en-US" sz="3200"/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D2478177-068C-8147-0DA4-F59158E3C4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2249" y="999604"/>
                <a:ext cx="3400425" cy="4778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7091F1C0-7694-29A8-22B8-D31AE6C3286A}"/>
                  </a:ext>
                </a:extLst>
              </p:cNvPr>
              <p:cNvSpPr txBox="1"/>
              <p:nvPr/>
            </p:nvSpPr>
            <p:spPr>
              <a:xfrm>
                <a:off x="799522" y="4358729"/>
                <a:ext cx="3537527" cy="1338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zh-TW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,1</m:t>
                          </m:r>
                        </m:e>
                      </m:d>
                      <m:r>
                        <a:rPr lang="en-US" altLang="zh-TW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1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1∗(</m:t>
                      </m:r>
                      <m:r>
                        <a:rPr lang="en-US" altLang="zh-TW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1+</m:t>
                      </m:r>
                      <m:r>
                        <a:rPr lang="en-US" altLang="zh-TW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TW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18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            </m:t>
                      </m:r>
                      <m:r>
                        <a:rPr lang="en-US" altLang="zh-TW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altLang="zh-TW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∗(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−0.5+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d>
                        <m:dPr>
                          <m:ctrlP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−0.866</m:t>
                          </m:r>
                        </m:e>
                      </m:d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18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        </m:t>
                      </m:r>
                      <m:r>
                        <a:rPr lang="en-US" altLang="zh-TW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altLang="zh-TW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∗(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−0.5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0.866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7091F1C0-7694-29A8-22B8-D31AE6C328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522" y="4358729"/>
                <a:ext cx="3537527" cy="13388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1506C4C5-56AC-FF9A-D66C-F3293E9B2BB2}"/>
                  </a:ext>
                </a:extLst>
              </p:cNvPr>
              <p:cNvSpPr txBox="1"/>
              <p:nvPr/>
            </p:nvSpPr>
            <p:spPr>
              <a:xfrm>
                <a:off x="4875924" y="4353548"/>
                <a:ext cx="3283537" cy="13923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TW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∗(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1+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18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altLang="zh-TW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−0.5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d>
                            <m:d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−0.866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zh-TW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altLang="zh-TW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∗(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−0.5+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(0.866))</m:t>
                      </m:r>
                    </m:oMath>
                  </m:oMathPara>
                </a14:m>
                <a:endParaRPr lang="en-US" altLang="zh-TW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1506C4C5-56AC-FF9A-D66C-F3293E9B2B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5924" y="4353548"/>
                <a:ext cx="3283537" cy="139230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CD4C2658-EE0F-DE20-0132-2323712F74F9}"/>
                  </a:ext>
                </a:extLst>
              </p:cNvPr>
              <p:cNvSpPr txBox="1"/>
              <p:nvPr/>
            </p:nvSpPr>
            <p:spPr>
              <a:xfrm>
                <a:off x="8357453" y="4353549"/>
                <a:ext cx="3251212" cy="1338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b="0" i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zh-TW">
                          <a:latin typeface="Cambria Math" panose="02040503050406030204" pitchFamily="18" charset="0"/>
                        </a:rPr>
                        <m:t>∗(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1+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0)</m:t>
                      </m:r>
                    </m:oMath>
                  </m:oMathPara>
                </a14:m>
                <a:endParaRPr lang="en-US" altLang="zh-TW" sz="18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b="0" i="0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altLang="zh-TW">
                          <a:latin typeface="Cambria Math" panose="02040503050406030204" pitchFamily="18" charset="0"/>
                        </a:rPr>
                        <m:t>∗(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−0.5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𝑗</m:t>
                      </m:r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−0.866</m:t>
                          </m:r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b="0" i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US" altLang="zh-TW">
                          <a:latin typeface="Cambria Math" panose="02040503050406030204" pitchFamily="18" charset="0"/>
                        </a:rPr>
                        <m:t>∗(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−0.5+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(0.866))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CD4C2658-EE0F-DE20-0132-2323712F74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7453" y="4353549"/>
                <a:ext cx="3251212" cy="133882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82EB797D-8394-573E-5BB1-1EE71E11175F}"/>
              </a:ext>
            </a:extLst>
          </p:cNvPr>
          <p:cNvSpPr/>
          <p:nvPr/>
        </p:nvSpPr>
        <p:spPr>
          <a:xfrm>
            <a:off x="609600" y="1628775"/>
            <a:ext cx="11229975" cy="2200275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CEBD9C5-1681-FB75-D8BE-04C0774E82E3}"/>
              </a:ext>
            </a:extLst>
          </p:cNvPr>
          <p:cNvSpPr/>
          <p:nvPr/>
        </p:nvSpPr>
        <p:spPr>
          <a:xfrm>
            <a:off x="628650" y="3952875"/>
            <a:ext cx="11229975" cy="2200275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箭號: 向右 9">
            <a:extLst>
              <a:ext uri="{FF2B5EF4-FFF2-40B4-BE49-F238E27FC236}">
                <a16:creationId xmlns:a16="http://schemas.microsoft.com/office/drawing/2014/main" id="{5C026365-3492-2AB8-F3EE-C775B72544BA}"/>
              </a:ext>
            </a:extLst>
          </p:cNvPr>
          <p:cNvSpPr/>
          <p:nvPr/>
        </p:nvSpPr>
        <p:spPr>
          <a:xfrm rot="5400000">
            <a:off x="5843587" y="3738563"/>
            <a:ext cx="371475" cy="304800"/>
          </a:xfrm>
          <a:prstGeom prst="rightArrow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76699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04B9B-053D-C92B-0953-509169243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箭號: 向右 22">
            <a:extLst>
              <a:ext uri="{FF2B5EF4-FFF2-40B4-BE49-F238E27FC236}">
                <a16:creationId xmlns:a16="http://schemas.microsoft.com/office/drawing/2014/main" id="{1F67E31A-3153-A917-2279-A4592F9A9D6D}"/>
              </a:ext>
            </a:extLst>
          </p:cNvPr>
          <p:cNvSpPr/>
          <p:nvPr/>
        </p:nvSpPr>
        <p:spPr>
          <a:xfrm rot="5400000">
            <a:off x="1924051" y="4610101"/>
            <a:ext cx="1619248" cy="304800"/>
          </a:xfrm>
          <a:prstGeom prst="rightArrow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5682E7B-C0D6-4C3E-7780-8D7C998D3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36</a:t>
            </a:fld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0E1A887-2588-4296-DAA5-DA25D507E648}"/>
              </a:ext>
            </a:extLst>
          </p:cNvPr>
          <p:cNvSpPr txBox="1"/>
          <p:nvPr/>
        </p:nvSpPr>
        <p:spPr>
          <a:xfrm>
            <a:off x="1" y="286131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Fourier Spectrum</a:t>
            </a:r>
            <a:endParaRPr lang="zh-TW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DDA92613-195B-A68C-8E95-D4117258C091}"/>
                  </a:ext>
                </a:extLst>
              </p:cNvPr>
              <p:cNvSpPr txBox="1"/>
              <p:nvPr/>
            </p:nvSpPr>
            <p:spPr>
              <a:xfrm>
                <a:off x="4262249" y="999604"/>
                <a:ext cx="3400425" cy="477888"/>
              </a:xfrm>
              <a:prstGeom prst="rect">
                <a:avLst/>
              </a:prstGeom>
              <a:solidFill>
                <a:srgbClr val="F9C9C9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θ</m:t>
                          </m:r>
                        </m:sup>
                      </m:sSup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zh-TW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d>
                        </m:e>
                      </m:func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𝑗</m:t>
                      </m:r>
                      <m:func>
                        <m:func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zh-TW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zh-TW" altLang="en-US" sz="3200"/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DDA92613-195B-A68C-8E95-D4117258C0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2249" y="999604"/>
                <a:ext cx="3400425" cy="47788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522CA167-21CD-C35E-A742-1D03BE15B60E}"/>
                  </a:ext>
                </a:extLst>
              </p:cNvPr>
              <p:cNvSpPr txBox="1"/>
              <p:nvPr/>
            </p:nvSpPr>
            <p:spPr>
              <a:xfrm>
                <a:off x="942397" y="1671236"/>
                <a:ext cx="3537527" cy="1338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zh-TW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,1</m:t>
                          </m:r>
                        </m:e>
                      </m:d>
                      <m:r>
                        <a:rPr lang="en-US" altLang="zh-TW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1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(1</m:t>
                      </m:r>
                      <m:r>
                        <a:rPr lang="en-US" altLang="zh-TW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TW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18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            </m:t>
                      </m:r>
                      <m:r>
                        <a:rPr lang="en-US" altLang="zh-TW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3.464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18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        </m:t>
                      </m:r>
                      <m:r>
                        <a:rPr lang="en-US" altLang="zh-TW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.5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(6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062))</m:t>
                      </m:r>
                    </m:oMath>
                  </m:oMathPara>
                </a14:m>
                <a:endParaRPr lang="en-US" altLang="zh-TW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522CA167-21CD-C35E-A742-1D03BE15B6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397" y="1671236"/>
                <a:ext cx="3537527" cy="13388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373A6D8F-FB63-8B04-25A2-C38FEED0F7B3}"/>
                  </a:ext>
                </a:extLst>
              </p:cNvPr>
              <p:cNvSpPr txBox="1"/>
              <p:nvPr/>
            </p:nvSpPr>
            <p:spPr>
              <a:xfrm>
                <a:off x="5218824" y="1666055"/>
                <a:ext cx="3283537" cy="1338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2+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18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.5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33)</m:t>
                      </m:r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6.928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373A6D8F-FB63-8B04-25A2-C38FEED0F7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8824" y="1666055"/>
                <a:ext cx="3283537" cy="133882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31799A98-71BA-91AA-FB0B-D5C94D3DDEBA}"/>
                  </a:ext>
                </a:extLst>
              </p:cNvPr>
              <p:cNvSpPr txBox="1"/>
              <p:nvPr/>
            </p:nvSpPr>
            <p:spPr>
              <a:xfrm>
                <a:off x="8871803" y="1666056"/>
                <a:ext cx="3251212" cy="1338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3+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0)</m:t>
                      </m:r>
                    </m:oMath>
                  </m:oMathPara>
                </a14:m>
                <a:endParaRPr lang="en-US" altLang="zh-TW" sz="18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196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.5+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7.794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31799A98-71BA-91AA-FB0B-D5C94D3DDE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1803" y="1666056"/>
                <a:ext cx="3251212" cy="133882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>
            <a:extLst>
              <a:ext uri="{FF2B5EF4-FFF2-40B4-BE49-F238E27FC236}">
                <a16:creationId xmlns:a16="http://schemas.microsoft.com/office/drawing/2014/main" id="{7E289BB1-0305-07C9-9707-C1DE90ECFE8F}"/>
              </a:ext>
            </a:extLst>
          </p:cNvPr>
          <p:cNvSpPr/>
          <p:nvPr/>
        </p:nvSpPr>
        <p:spPr>
          <a:xfrm>
            <a:off x="628650" y="1571625"/>
            <a:ext cx="11229975" cy="1647825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8071C804-712E-7475-2C69-1F918B5D31CE}"/>
                  </a:ext>
                </a:extLst>
              </p:cNvPr>
              <p:cNvSpPr txBox="1"/>
              <p:nvPr/>
            </p:nvSpPr>
            <p:spPr>
              <a:xfrm>
                <a:off x="4614431" y="3454906"/>
                <a:ext cx="6967970" cy="71865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𝑀𝑎𝑔𝑛𝑖𝑡𝑢𝑑𝑒</m:t>
                      </m:r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zh-TW" altLang="en-US" sz="20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e>
                      </m:d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實部</m:t>
                              </m:r>
                              <m:d>
                                <m:dPr>
                                  <m:ctrlP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  <m:d>
                                    <m:dPr>
                                      <m:ctrlPr>
                                        <a:rPr lang="zh-TW" alt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TW" alt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  <m:r>
                                        <a:rPr lang="zh-TW" altLang="en-US" sz="20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zh-TW" alt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zh-TW" altLang="en-US" sz="20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虛部</m:t>
                              </m:r>
                              <m:d>
                                <m:dPr>
                                  <m:ctrlP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  <m:d>
                                    <m:dPr>
                                      <m:ctrlPr>
                                        <a:rPr lang="zh-TW" alt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TW" alt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  <m:r>
                                        <a:rPr lang="zh-TW" altLang="en-US" sz="20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zh-TW" alt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zh-TW" altLang="en-US" sz="20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8071C804-712E-7475-2C69-1F918B5D31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4431" y="3454906"/>
                <a:ext cx="6967970" cy="71865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箭號: 彎曲 15">
            <a:extLst>
              <a:ext uri="{FF2B5EF4-FFF2-40B4-BE49-F238E27FC236}">
                <a16:creationId xmlns:a16="http://schemas.microsoft.com/office/drawing/2014/main" id="{E47935DE-6C02-913E-B0DD-23DC69BF6BA6}"/>
              </a:ext>
            </a:extLst>
          </p:cNvPr>
          <p:cNvSpPr/>
          <p:nvPr/>
        </p:nvSpPr>
        <p:spPr>
          <a:xfrm flipV="1">
            <a:off x="790575" y="3219450"/>
            <a:ext cx="647700" cy="657224"/>
          </a:xfrm>
          <a:prstGeom prst="bentArrow">
            <a:avLst>
              <a:gd name="adj1" fmla="val 25000"/>
              <a:gd name="adj2" fmla="val 27174"/>
              <a:gd name="adj3" fmla="val 25000"/>
              <a:gd name="adj4" fmla="val 4375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EEEEBE47-33EA-094D-FF6D-95DC2523BDE8}"/>
                  </a:ext>
                </a:extLst>
              </p:cNvPr>
              <p:cNvSpPr txBox="1"/>
              <p:nvPr/>
            </p:nvSpPr>
            <p:spPr>
              <a:xfrm>
                <a:off x="853785" y="5572764"/>
                <a:ext cx="4701310" cy="427746"/>
              </a:xfrm>
              <a:prstGeom prst="rect">
                <a:avLst/>
              </a:prstGeom>
              <a:noFill/>
              <a:ln w="19050">
                <a:noFill/>
                <a:prstDash val="dash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zh-TW" altLang="en-US" sz="18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1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zh-TW" altLang="en-US" sz="1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800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zh-TW" altLang="en-US" sz="18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1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d>
                      <m:r>
                        <a:rPr lang="zh-TW" altLang="en-US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TW" alt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zh-TW" alt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TW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3.5</m:t>
                                  </m:r>
                                </m:e>
                              </m:d>
                            </m:e>
                            <m:sup>
                              <m:r>
                                <a:rPr lang="zh-TW" altLang="en-US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TW" altLang="en-US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TW" alt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TW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7.794</m:t>
                                  </m:r>
                                </m:e>
                              </m:d>
                            </m:e>
                            <m:sup>
                              <m:r>
                                <a:rPr lang="zh-TW" altLang="en-US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15.588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EEEEBE47-33EA-094D-FF6D-95DC2523BD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785" y="5572764"/>
                <a:ext cx="4701310" cy="42774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9050">
                <a:noFill/>
                <a:prstDash val="dash"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字方塊 18">
            <a:extLst>
              <a:ext uri="{FF2B5EF4-FFF2-40B4-BE49-F238E27FC236}">
                <a16:creationId xmlns:a16="http://schemas.microsoft.com/office/drawing/2014/main" id="{9C0CB6F7-9896-2C98-9E1C-80712584CD04}"/>
              </a:ext>
            </a:extLst>
          </p:cNvPr>
          <p:cNvSpPr txBox="1"/>
          <p:nvPr/>
        </p:nvSpPr>
        <p:spPr>
          <a:xfrm>
            <a:off x="5286375" y="5724525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#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BA6CF9C6-F4D3-55E3-D65F-A55536AEBC32}"/>
                  </a:ext>
                </a:extLst>
              </p:cNvPr>
              <p:cNvSpPr txBox="1"/>
              <p:nvPr/>
            </p:nvSpPr>
            <p:spPr>
              <a:xfrm>
                <a:off x="7480199" y="4461691"/>
                <a:ext cx="20235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/>
                  <a:t>Spectrum</a:t>
                </a:r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zh-TW" altLang="en-US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sz="1800" i="1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zh-TW" alt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TW" altLang="en-US" sz="18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zh-TW" altLang="en-US" sz="180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zh-TW" altLang="en-US" sz="18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e>
                    </m:d>
                    <m:r>
                      <a:rPr lang="zh-TW" altLang="en-US" sz="1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BA6CF9C6-F4D3-55E3-D65F-A55536AEBC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0199" y="4461691"/>
                <a:ext cx="2023503" cy="369332"/>
              </a:xfrm>
              <a:prstGeom prst="rect">
                <a:avLst/>
              </a:prstGeom>
              <a:blipFill>
                <a:blip r:embed="rId8"/>
                <a:stretch>
                  <a:fillRect l="-2410" t="-10000" b="-2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" name="表格 20">
                <a:extLst>
                  <a:ext uri="{FF2B5EF4-FFF2-40B4-BE49-F238E27FC236}">
                    <a16:creationId xmlns:a16="http://schemas.microsoft.com/office/drawing/2014/main" id="{079DBDEB-5875-D5D0-2A19-EDE229FA679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55019787"/>
                  </p:ext>
                </p:extLst>
              </p:nvPr>
            </p:nvGraphicFramePr>
            <p:xfrm>
              <a:off x="7032842" y="4928634"/>
              <a:ext cx="2587407" cy="149400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62469">
                      <a:extLst>
                        <a:ext uri="{9D8B030D-6E8A-4147-A177-3AD203B41FA5}">
                          <a16:colId xmlns:a16="http://schemas.microsoft.com/office/drawing/2014/main" val="4190247630"/>
                        </a:ext>
                      </a:extLst>
                    </a:gridCol>
                    <a:gridCol w="862469">
                      <a:extLst>
                        <a:ext uri="{9D8B030D-6E8A-4147-A177-3AD203B41FA5}">
                          <a16:colId xmlns:a16="http://schemas.microsoft.com/office/drawing/2014/main" val="4266881757"/>
                        </a:ext>
                      </a:extLst>
                    </a:gridCol>
                    <a:gridCol w="862469">
                      <a:extLst>
                        <a:ext uri="{9D8B030D-6E8A-4147-A177-3AD203B41FA5}">
                          <a16:colId xmlns:a16="http://schemas.microsoft.com/office/drawing/2014/main" val="2617362399"/>
                        </a:ext>
                      </a:extLst>
                    </a:gridCol>
                  </a:tblGrid>
                  <a:tr h="4980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</a:rPr>
                            <a:t>45</a:t>
                          </a:r>
                          <a:endParaRPr lang="zh-TW" altLang="en-US" dirty="0">
                            <a:solidFill>
                              <a:schemeClr val="bg1">
                                <a:lumMod val="65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</a:rPr>
                            <a:t>5.196</a:t>
                          </a:r>
                          <a:endParaRPr lang="zh-TW" altLang="en-US" dirty="0">
                            <a:solidFill>
                              <a:schemeClr val="bg1">
                                <a:lumMod val="65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</a:rPr>
                            <a:t>5.196</a:t>
                          </a:r>
                          <a:endParaRPr lang="zh-TW" altLang="en-US" dirty="0">
                            <a:solidFill>
                              <a:schemeClr val="bg1">
                                <a:lumMod val="65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2366033"/>
                      </a:ext>
                    </a:extLst>
                  </a:tr>
                  <a:tr h="49800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15.588</m:t>
                                </m:r>
                              </m:oMath>
                            </m:oMathPara>
                          </a14:m>
                          <a:endParaRPr lang="zh-TW" alt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TW" sz="1800" kern="1200" dirty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endParaRPr lang="zh-TW" altLang="en-US" sz="1800" kern="1200" dirty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TW" sz="1800" kern="1200" dirty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endParaRPr lang="zh-TW" altLang="en-US" sz="1800" kern="1200" dirty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33114739"/>
                      </a:ext>
                    </a:extLst>
                  </a:tr>
                  <a:tr h="498002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TW" sz="1800" kern="1200" dirty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15.588</a:t>
                          </a:r>
                          <a:endParaRPr lang="zh-TW" altLang="en-US" sz="1800" kern="1200" dirty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TW" sz="1800" kern="1200" dirty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endParaRPr lang="zh-TW" altLang="en-US" sz="1800" kern="1200" dirty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TW" sz="1800" kern="1200" dirty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endParaRPr lang="zh-TW" altLang="en-US" sz="1800" kern="1200" dirty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985542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" name="表格 20">
                <a:extLst>
                  <a:ext uri="{FF2B5EF4-FFF2-40B4-BE49-F238E27FC236}">
                    <a16:creationId xmlns:a16="http://schemas.microsoft.com/office/drawing/2014/main" id="{079DBDEB-5875-D5D0-2A19-EDE229FA679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55019787"/>
                  </p:ext>
                </p:extLst>
              </p:nvPr>
            </p:nvGraphicFramePr>
            <p:xfrm>
              <a:off x="7032842" y="4928634"/>
              <a:ext cx="2587407" cy="149400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62469">
                      <a:extLst>
                        <a:ext uri="{9D8B030D-6E8A-4147-A177-3AD203B41FA5}">
                          <a16:colId xmlns:a16="http://schemas.microsoft.com/office/drawing/2014/main" val="4190247630"/>
                        </a:ext>
                      </a:extLst>
                    </a:gridCol>
                    <a:gridCol w="862469">
                      <a:extLst>
                        <a:ext uri="{9D8B030D-6E8A-4147-A177-3AD203B41FA5}">
                          <a16:colId xmlns:a16="http://schemas.microsoft.com/office/drawing/2014/main" val="4266881757"/>
                        </a:ext>
                      </a:extLst>
                    </a:gridCol>
                    <a:gridCol w="862469">
                      <a:extLst>
                        <a:ext uri="{9D8B030D-6E8A-4147-A177-3AD203B41FA5}">
                          <a16:colId xmlns:a16="http://schemas.microsoft.com/office/drawing/2014/main" val="2617362399"/>
                        </a:ext>
                      </a:extLst>
                    </a:gridCol>
                  </a:tblGrid>
                  <a:tr h="4980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</a:rPr>
                            <a:t>45</a:t>
                          </a:r>
                          <a:endParaRPr lang="zh-TW" altLang="en-US" dirty="0">
                            <a:solidFill>
                              <a:schemeClr val="bg1">
                                <a:lumMod val="65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</a:rPr>
                            <a:t>5.196</a:t>
                          </a:r>
                          <a:endParaRPr lang="zh-TW" altLang="en-US" dirty="0">
                            <a:solidFill>
                              <a:schemeClr val="bg1">
                                <a:lumMod val="65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</a:rPr>
                            <a:t>5.196</a:t>
                          </a:r>
                          <a:endParaRPr lang="zh-TW" altLang="en-US" dirty="0">
                            <a:solidFill>
                              <a:schemeClr val="bg1">
                                <a:lumMod val="65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2366033"/>
                      </a:ext>
                    </a:extLst>
                  </a:tr>
                  <a:tr h="498002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9"/>
                          <a:stretch>
                            <a:fillRect l="-704" t="-101220" r="-201408" b="-1060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TW" sz="1800" kern="1200" dirty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endParaRPr lang="zh-TW" altLang="en-US" sz="1800" kern="1200" dirty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TW" sz="1800" kern="1200" dirty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endParaRPr lang="zh-TW" altLang="en-US" sz="1800" kern="1200" dirty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33114739"/>
                      </a:ext>
                    </a:extLst>
                  </a:tr>
                  <a:tr h="498002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TW" sz="1800" kern="1200" dirty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15.588</a:t>
                          </a:r>
                          <a:endParaRPr lang="zh-TW" altLang="en-US" sz="1800" kern="1200" dirty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TW" sz="1800" kern="1200" dirty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endParaRPr lang="zh-TW" altLang="en-US" sz="1800" kern="1200" dirty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TW" sz="1800" kern="1200" dirty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endParaRPr lang="zh-TW" altLang="en-US" sz="1800" kern="1200" dirty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9855424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2" name="文字方塊 21">
            <a:extLst>
              <a:ext uri="{FF2B5EF4-FFF2-40B4-BE49-F238E27FC236}">
                <a16:creationId xmlns:a16="http://schemas.microsoft.com/office/drawing/2014/main" id="{EA3BAD1E-B475-5512-E850-32D0D16784C4}"/>
              </a:ext>
            </a:extLst>
          </p:cNvPr>
          <p:cNvSpPr txBox="1"/>
          <p:nvPr/>
        </p:nvSpPr>
        <p:spPr>
          <a:xfrm>
            <a:off x="9601200" y="603885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#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EA2185CB-E401-FC4D-1972-34E02EF25EC3}"/>
                  </a:ext>
                </a:extLst>
              </p:cNvPr>
              <p:cNvSpPr txBox="1"/>
              <p:nvPr/>
            </p:nvSpPr>
            <p:spPr>
              <a:xfrm>
                <a:off x="1425863" y="3448082"/>
                <a:ext cx="2692401" cy="507831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zh-TW" altLang="zh-TW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3.5+7.794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US" altLang="zh-TW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EA2185CB-E401-FC4D-1972-34E02EF25E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5863" y="3448082"/>
                <a:ext cx="2692401" cy="50783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9824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8AB40-F68F-4B85-04AD-E29B6A779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5242235-29B0-47B1-5974-902F59001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37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F2AC52B-B852-ADA3-BC4E-D27DFB4ADA78}"/>
              </a:ext>
            </a:extLst>
          </p:cNvPr>
          <p:cNvSpPr txBox="1"/>
          <p:nvPr/>
        </p:nvSpPr>
        <p:spPr>
          <a:xfrm>
            <a:off x="0" y="2567710"/>
            <a:ext cx="12192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重點公式整理</a:t>
            </a:r>
            <a:endParaRPr lang="en-US" altLang="zh-TW" sz="4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en-US" altLang="zh-TW" sz="4000" dirty="0"/>
              <a:t>(</a:t>
            </a:r>
            <a:r>
              <a:rPr lang="de-DE" altLang="zh-TW" sz="4000" dirty="0"/>
              <a:t>Key formula summary</a:t>
            </a:r>
            <a:r>
              <a:rPr lang="en-US" altLang="zh-TW" sz="4000" dirty="0"/>
              <a:t>)</a:t>
            </a:r>
            <a:endParaRPr lang="en-US" altLang="zh-TW" sz="4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32977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C05962D-5058-9885-3D6D-B58E54164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38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948A4B1-6FA8-CD58-1029-A51A5C1FED69}"/>
              </a:ext>
            </a:extLst>
          </p:cNvPr>
          <p:cNvSpPr txBox="1"/>
          <p:nvPr/>
        </p:nvSpPr>
        <p:spPr>
          <a:xfrm>
            <a:off x="1" y="286131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600"/>
              <a:t>公式整理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838B5C56-7ADD-6761-EF1A-FE2283310736}"/>
                  </a:ext>
                </a:extLst>
              </p:cNvPr>
              <p:cNvSpPr txBox="1"/>
              <p:nvPr/>
            </p:nvSpPr>
            <p:spPr>
              <a:xfrm>
                <a:off x="555913" y="1390429"/>
                <a:ext cx="4041106" cy="27699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zh-TW" altLang="en-US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索引值</a:t>
                </a:r>
                <a14:m>
                  <m:oMath xmlns:m="http://schemas.openxmlformats.org/officeDocument/2006/math">
                    <m:r>
                      <a:rPr lang="zh-TW" altLang="en-US" sz="1600" i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16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zh-TW" altLang="en-US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sz="1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sz="1600" i="1">
                        <a:latin typeface="Cambria Math" panose="02040503050406030204" pitchFamily="18" charset="0"/>
                      </a:rPr>
                      <m:t>𝑀𝑦</m:t>
                    </m:r>
                    <m:r>
                      <a:rPr lang="en-US" altLang="zh-TW" sz="1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sz="1600" i="1">
                        <a:latin typeface="Cambria Math" panose="02040503050406030204" pitchFamily="18" charset="0"/>
                      </a:rPr>
                      <m:t>𝑀𝑁𝑧</m:t>
                    </m:r>
                    <m:r>
                      <a:rPr lang="en-US" altLang="zh-TW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TW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TW" altLang="en-US" sz="16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TW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𝑁𝑧</m:t>
                    </m:r>
                    <m:r>
                      <a:rPr lang="en-US" altLang="zh-TW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TW" altLang="en-US" i="1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838B5C56-7ADD-6761-EF1A-FE22833107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913" y="1390429"/>
                <a:ext cx="4041106" cy="276999"/>
              </a:xfrm>
              <a:prstGeom prst="rect">
                <a:avLst/>
              </a:prstGeom>
              <a:blipFill>
                <a:blip r:embed="rId3"/>
                <a:stretch>
                  <a:fillRect l="-3469" t="-28261" r="-1357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E1DC33A8-0950-0DCB-070C-76EBB1AEDD0C}"/>
                  </a:ext>
                </a:extLst>
              </p:cNvPr>
              <p:cNvSpPr txBox="1"/>
              <p:nvPr/>
            </p:nvSpPr>
            <p:spPr>
              <a:xfrm>
                <a:off x="730857" y="1830445"/>
                <a:ext cx="3453215" cy="92333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𝑀𝑁</m:t>
                    </m:r>
                  </m:oMath>
                </a14:m>
                <a:r>
                  <a:rPr lang="zh-TW" altLang="en-US" i="1"/>
                  <a:t> </a:t>
                </a:r>
                <a:r>
                  <a:rPr lang="en-US" altLang="zh-TW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</a:t>
                </a:r>
                <a:r>
                  <a:rPr lang="zh-TW" altLang="en-US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取商數</a:t>
                </a:r>
                <a:r>
                  <a:rPr lang="en-US" altLang="zh-TW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</a:t>
                </a:r>
              </a:p>
              <a:p>
                <a:pPr marL="457200" indent="-45720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𝑀𝑁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zh-TW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</a:t>
                </a:r>
                <a:r>
                  <a:rPr lang="zh-TW" altLang="en-US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取商數</a:t>
                </a:r>
                <a:r>
                  <a:rPr lang="en-US" altLang="zh-TW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</a:t>
                </a:r>
                <a:endParaRPr lang="en-US" altLang="zh-TW" b="0" i="1">
                  <a:latin typeface="Cambria Math" panose="02040503050406030204" pitchFamily="18" charset="0"/>
                </a:endParaRPr>
              </a:p>
              <a:p>
                <a:pPr marL="457200" indent="-45720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TW" b="0" i="1" smtClean="0">
                        <a:latin typeface="Cambria Math" panose="02040503050406030204" pitchFamily="18" charset="0"/>
                      </a:rPr>
                      <m:t>S</m:t>
                    </m:r>
                    <m:r>
                      <m:rPr>
                        <m:nor/>
                      </m:rP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TW" b="0" i="1" smtClean="0">
                        <a:latin typeface="Cambria Math" panose="02040503050406030204" pitchFamily="18" charset="0"/>
                      </a:rPr>
                      <m:t>mod</m:t>
                    </m:r>
                    <m:r>
                      <m:rPr>
                        <m:nor/>
                      </m:rP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TW" b="0" i="1" smtClean="0">
                        <a:latin typeface="Cambria Math" panose="02040503050406030204" pitchFamily="18" charset="0"/>
                      </a:rPr>
                      <m:t>MN</m:t>
                    </m:r>
                    <m:r>
                      <m:rPr>
                        <m:nor/>
                      </m:rP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TW" b="0" i="1" smtClean="0">
                        <a:latin typeface="Cambria Math" panose="02040503050406030204" pitchFamily="18" charset="0"/>
                      </a:rPr>
                      <m:t>mod</m:t>
                    </m:r>
                    <m:r>
                      <m:rPr>
                        <m:nor/>
                      </m:rP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TW" b="0" i="1" smtClean="0"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lang="en-US" altLang="zh-TW" b="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E1DC33A8-0950-0DCB-070C-76EBB1AEDD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857" y="1830445"/>
                <a:ext cx="3453215" cy="923330"/>
              </a:xfrm>
              <a:prstGeom prst="rect">
                <a:avLst/>
              </a:prstGeom>
              <a:blipFill>
                <a:blip r:embed="rId4"/>
                <a:stretch>
                  <a:fillRect l="-1237" t="-3289" b="-72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字方塊 5">
            <a:extLst>
              <a:ext uri="{FF2B5EF4-FFF2-40B4-BE49-F238E27FC236}">
                <a16:creationId xmlns:a16="http://schemas.microsoft.com/office/drawing/2014/main" id="{B36DA8B6-57A1-9BAE-CCED-CB88C00F98D4}"/>
              </a:ext>
            </a:extLst>
          </p:cNvPr>
          <p:cNvSpPr txBox="1"/>
          <p:nvPr/>
        </p:nvSpPr>
        <p:spPr>
          <a:xfrm>
            <a:off x="2022764" y="923637"/>
            <a:ext cx="64633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zh-TW" altLang="en-US"/>
              <a:t>索引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5F3CA7A9-E362-4278-5CFA-A7A3946923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85" b="28976"/>
          <a:stretch/>
        </p:blipFill>
        <p:spPr bwMode="auto">
          <a:xfrm>
            <a:off x="304800" y="3578732"/>
            <a:ext cx="4229386" cy="2923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738408B5-E4A2-2DB3-E145-DD912C292CFE}"/>
              </a:ext>
            </a:extLst>
          </p:cNvPr>
          <p:cNvSpPr txBox="1"/>
          <p:nvPr/>
        </p:nvSpPr>
        <p:spPr>
          <a:xfrm>
            <a:off x="1981201" y="3080327"/>
            <a:ext cx="64633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zh-TW" altLang="en-US"/>
              <a:t>仿射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27436D4D-330A-93D6-829C-87063330DEE7}"/>
                  </a:ext>
                </a:extLst>
              </p:cNvPr>
              <p:cNvSpPr txBox="1"/>
              <p:nvPr/>
            </p:nvSpPr>
            <p:spPr>
              <a:xfrm>
                <a:off x="5942509" y="2169767"/>
                <a:ext cx="5294620" cy="400110"/>
              </a:xfrm>
              <a:prstGeom prst="rect">
                <a:avLst/>
              </a:prstGeom>
              <a:solidFill>
                <a:srgbClr val="D9F2D0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ar-AE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zh-TW" altLang="ar-AE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ar-AE" altLang="zh-TW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ar-AE" sz="2000" i="1">
                          <a:latin typeface="Cambria Math" panose="02040503050406030204" pitchFamily="18" charset="0"/>
                        </a:rPr>
                        <m:t>𝑟𝑜𝑢𝑛𝑑</m:t>
                      </m:r>
                      <m:r>
                        <a:rPr lang="ar-AE" altLang="zh-TW" sz="20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TW" altLang="ar-AE" sz="2000" i="1">
                          <a:latin typeface="Cambria Math" panose="02040503050406030204" pitchFamily="18" charset="0"/>
                        </a:rPr>
                        <m:t>𝐶𝐷𝐹</m:t>
                      </m:r>
                      <m:d>
                        <m:dPr>
                          <m:ctrlPr>
                            <a:rPr lang="ar-AE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sz="20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zh-TW" altLang="ar-AE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ar-AE" altLang="zh-TW" sz="200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ar-AE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 sz="200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sub>
                          </m:sSub>
                          <m:r>
                            <a:rPr lang="ar-AE" altLang="zh-TW" sz="200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 sz="200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sub>
                          </m:sSub>
                        </m:e>
                      </m:d>
                      <m:r>
                        <a:rPr lang="ar-AE" altLang="zh-TW" sz="20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2000">
                              <a:latin typeface="Cambria Math" panose="02040503050406030204" pitchFamily="18" charset="0"/>
                            </a:rPr>
                            <m:t>min</m:t>
                          </m:r>
                        </m:sub>
                      </m:sSub>
                      <m:r>
                        <a:rPr lang="ar-AE" altLang="zh-TW" sz="200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27436D4D-330A-93D6-829C-87063330DE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2509" y="2169767"/>
                <a:ext cx="5294620" cy="400110"/>
              </a:xfrm>
              <a:prstGeom prst="rect">
                <a:avLst/>
              </a:prstGeom>
              <a:blipFill>
                <a:blip r:embed="rId6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78157683-1DA9-75FC-4489-418E62428723}"/>
                  </a:ext>
                </a:extLst>
              </p:cNvPr>
              <p:cNvSpPr txBox="1"/>
              <p:nvPr/>
            </p:nvSpPr>
            <p:spPr>
              <a:xfrm>
                <a:off x="8741729" y="1415981"/>
                <a:ext cx="2323435" cy="701346"/>
              </a:xfrm>
              <a:prstGeom prst="rect">
                <a:avLst/>
              </a:prstGeom>
              <a:solidFill>
                <a:srgbClr val="D9F2D0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1400" i="1">
                          <a:latin typeface="Cambria Math" panose="02040503050406030204" pitchFamily="18" charset="0"/>
                        </a:rPr>
                        <m:t>𝐶𝐷𝐹</m:t>
                      </m:r>
                      <m:d>
                        <m:dPr>
                          <m:ctrlPr>
                            <a:rPr lang="zh-TW" alt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zh-TW" altLang="en-US" sz="14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zh-TW" altLang="en-US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/>
                              <m:aln/>
                            </m:rPr>
                            <a:rPr lang="en-US" altLang="zh-TW" sz="140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zh-TW" altLang="en-US" sz="14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TW" altLang="en-US" sz="14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𝑃𝑀𝐹</m:t>
                          </m:r>
                          <m:d>
                            <m:dPr>
                              <m:ctrlPr>
                                <a:rPr lang="zh-TW" alt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TW" alt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zh-TW" altLang="en-US" sz="1400"/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78157683-1DA9-75FC-4489-418E624287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1729" y="1415981"/>
                <a:ext cx="2323435" cy="70134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7A5D06C2-0420-0DCC-28D3-AA0AE7BBBAB0}"/>
                  </a:ext>
                </a:extLst>
              </p:cNvPr>
              <p:cNvSpPr txBox="1"/>
              <p:nvPr/>
            </p:nvSpPr>
            <p:spPr>
              <a:xfrm>
                <a:off x="5980056" y="1406744"/>
                <a:ext cx="2323435" cy="513026"/>
              </a:xfrm>
              <a:prstGeom prst="rect">
                <a:avLst/>
              </a:prstGeom>
              <a:solidFill>
                <a:srgbClr val="D9F2D0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𝑃𝑀𝐹</m:t>
                      </m:r>
                      <m:d>
                        <m:dPr>
                          <m:ctrlPr>
                            <a:rPr lang="zh-TW" alt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TW" alt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TW" sz="1600">
                              <a:latin typeface="Cambria Math" panose="02040503050406030204" pitchFamily="18" charset="0"/>
                            </a:rPr>
                            <m:t>N</m:t>
                          </m:r>
                        </m:den>
                      </m:f>
                    </m:oMath>
                  </m:oMathPara>
                </a14:m>
                <a:endParaRPr lang="zh-TW" altLang="en-US" sz="160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7A5D06C2-0420-0DCC-28D3-AA0AE7BBBA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0056" y="1406744"/>
                <a:ext cx="2323435" cy="513026"/>
              </a:xfrm>
              <a:prstGeom prst="rect">
                <a:avLst/>
              </a:prstGeom>
              <a:blipFill>
                <a:blip r:embed="rId8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字方塊 11">
            <a:extLst>
              <a:ext uri="{FF2B5EF4-FFF2-40B4-BE49-F238E27FC236}">
                <a16:creationId xmlns:a16="http://schemas.microsoft.com/office/drawing/2014/main" id="{854929DC-35FE-9D57-2483-81B8CA3063D4}"/>
              </a:ext>
            </a:extLst>
          </p:cNvPr>
          <p:cNvSpPr txBox="1"/>
          <p:nvPr/>
        </p:nvSpPr>
        <p:spPr>
          <a:xfrm>
            <a:off x="7846292" y="928254"/>
            <a:ext cx="1338828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zh-TW" altLang="en-US"/>
              <a:t>值方圖等化</a:t>
            </a:r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996B5465-5DA6-C65B-0260-1A51BEFFA7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4298"/>
          <a:stretch/>
        </p:blipFill>
        <p:spPr bwMode="auto">
          <a:xfrm>
            <a:off x="6890328" y="3616284"/>
            <a:ext cx="4027054" cy="764261"/>
          </a:xfrm>
          <a:prstGeom prst="rect">
            <a:avLst/>
          </a:prstGeom>
          <a:noFill/>
          <a:ln w="28575">
            <a:solidFill>
              <a:schemeClr val="accent6">
                <a:lumMod val="20000"/>
                <a:lumOff val="8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2">
            <a:extLst>
              <a:ext uri="{FF2B5EF4-FFF2-40B4-BE49-F238E27FC236}">
                <a16:creationId xmlns:a16="http://schemas.microsoft.com/office/drawing/2014/main" id="{2CC3ECAF-5986-262C-B540-4C003E00C6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890328" y="2761920"/>
            <a:ext cx="4027054" cy="764261"/>
          </a:xfrm>
          <a:prstGeom prst="rect">
            <a:avLst/>
          </a:prstGeom>
          <a:noFill/>
          <a:ln w="28575">
            <a:solidFill>
              <a:schemeClr val="accent6">
                <a:lumMod val="20000"/>
                <a:lumOff val="8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3E8C4712-F8A2-18D8-2FD2-5A4A4EE52A7C}"/>
              </a:ext>
            </a:extLst>
          </p:cNvPr>
          <p:cNvSpPr txBox="1"/>
          <p:nvPr/>
        </p:nvSpPr>
        <p:spPr>
          <a:xfrm>
            <a:off x="5865091" y="2974109"/>
            <a:ext cx="877163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zh-TW" altLang="en-US"/>
              <a:t>相關性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141372B1-7272-BCE5-424B-635A2F367A08}"/>
              </a:ext>
            </a:extLst>
          </p:cNvPr>
          <p:cNvSpPr txBox="1"/>
          <p:nvPr/>
        </p:nvSpPr>
        <p:spPr>
          <a:xfrm>
            <a:off x="5934364" y="3782291"/>
            <a:ext cx="64633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zh-TW" altLang="en-US"/>
              <a:t>卷積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75C58C8F-2FDD-1A6A-06F7-B7D18256A2A7}"/>
                  </a:ext>
                </a:extLst>
              </p:cNvPr>
              <p:cNvSpPr txBox="1"/>
              <p:nvPr/>
            </p:nvSpPr>
            <p:spPr>
              <a:xfrm>
                <a:off x="9323777" y="5276040"/>
                <a:ext cx="2618842" cy="381451"/>
              </a:xfrm>
              <a:prstGeom prst="rect">
                <a:avLst/>
              </a:prstGeom>
              <a:solidFill>
                <a:srgbClr val="F9C9C9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</a:rPr>
                            <m:t>θ</m:t>
                          </m:r>
                        </m:sup>
                      </m:sSup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d>
                        </m:e>
                      </m:func>
                      <m:r>
                        <a:rPr lang="en-US" altLang="zh-TW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𝑗</m:t>
                      </m:r>
                      <m:func>
                        <m:func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zh-TW" altLang="en-US" sz="2400"/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75C58C8F-2FDD-1A6A-06F7-B7D18256A2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3777" y="5276040"/>
                <a:ext cx="2618842" cy="381451"/>
              </a:xfrm>
              <a:prstGeom prst="rect">
                <a:avLst/>
              </a:prstGeom>
              <a:blipFill>
                <a:blip r:embed="rId11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51B42B2F-08C3-B323-6724-2A6FF88DB701}"/>
                  </a:ext>
                </a:extLst>
              </p:cNvPr>
              <p:cNvSpPr txBox="1"/>
              <p:nvPr/>
            </p:nvSpPr>
            <p:spPr>
              <a:xfrm>
                <a:off x="5611959" y="5876275"/>
                <a:ext cx="5582516" cy="5934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𝑀𝑎𝑔𝑛𝑖𝑡𝑢𝑑𝑒</m:t>
                      </m:r>
                      <m:r>
                        <a:rPr lang="zh-TW" altLang="en-US" sz="16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zh-TW" alt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zh-TW" alt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zh-TW" alt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TW" alt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e>
                      </m:d>
                      <m:r>
                        <a:rPr lang="zh-TW" altLang="en-US" sz="16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TW" alt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zh-TW" alt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實部</m:t>
                              </m:r>
                              <m:d>
                                <m:dPr>
                                  <m:ctrlPr>
                                    <a:rPr lang="zh-TW" alt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TW" alt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  <m:d>
                                    <m:dPr>
                                      <m:ctrlPr>
                                        <a:rPr lang="zh-TW" alt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TW" alt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  <m:r>
                                        <a:rPr lang="zh-TW" altLang="en-US" sz="16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zh-TW" alt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zh-TW" alt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TW" alt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TW" alt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虛部</m:t>
                              </m:r>
                              <m:d>
                                <m:dPr>
                                  <m:ctrlPr>
                                    <a:rPr lang="zh-TW" alt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TW" alt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  <m:d>
                                    <m:dPr>
                                      <m:ctrlPr>
                                        <a:rPr lang="zh-TW" alt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TW" alt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  <m:r>
                                        <a:rPr lang="zh-TW" altLang="en-US" sz="16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zh-TW" alt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zh-TW" alt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zh-TW" altLang="en-US" sz="16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51B42B2F-08C3-B323-6724-2A6FF88DB7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1959" y="5876275"/>
                <a:ext cx="5582516" cy="5934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576CC2F2-4B47-129E-1CD7-1CB472F8B524}"/>
                  </a:ext>
                </a:extLst>
              </p:cNvPr>
              <p:cNvSpPr txBox="1"/>
              <p:nvPr/>
            </p:nvSpPr>
            <p:spPr>
              <a:xfrm>
                <a:off x="5002356" y="5164901"/>
                <a:ext cx="4169353" cy="623697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zh-TW" alt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zh-TW" alt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TW" alt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zh-TW" altLang="en-US" sz="16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zh-TW" alt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TW" alt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TW" alt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TW" alt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TW" alt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zh-TW" alt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zh-TW" alt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TW" alt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TW" alt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TW" alt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zh-TW" alt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zh-TW" alt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TW" alt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  <m:e>
                              <m:r>
                                <a:rPr lang="zh-TW" alt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zh-TW" alt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TW" alt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zh-TW" altLang="en-US" sz="16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TW" alt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</m:nary>
                        </m:e>
                      </m:nary>
                      <m:r>
                        <a:rPr lang="zh-TW" altLang="en-US" sz="16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TW" alt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TW" alt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TW" alt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zh-TW" alt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en-US" sz="16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𝑢𝑥</m:t>
                                  </m:r>
                                </m:num>
                                <m:den>
                                  <m:r>
                                    <a:rPr lang="zh-TW" alt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den>
                              </m:f>
                              <m:r>
                                <a:rPr lang="zh-TW" alt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TW" alt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𝑣𝑦</m:t>
                                  </m:r>
                                </m:num>
                                <m:den>
                                  <m:r>
                                    <a:rPr lang="zh-TW" alt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zh-TW" altLang="en-US" sz="16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576CC2F2-4B47-129E-1CD7-1CB472F8B5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2356" y="5164901"/>
                <a:ext cx="4169353" cy="62369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文字方塊 19">
            <a:extLst>
              <a:ext uri="{FF2B5EF4-FFF2-40B4-BE49-F238E27FC236}">
                <a16:creationId xmlns:a16="http://schemas.microsoft.com/office/drawing/2014/main" id="{D3A77CAF-ADDA-FB68-6E1A-9B5D85BC6D67}"/>
              </a:ext>
            </a:extLst>
          </p:cNvPr>
          <p:cNvSpPr txBox="1"/>
          <p:nvPr/>
        </p:nvSpPr>
        <p:spPr>
          <a:xfrm>
            <a:off x="7656947" y="4692072"/>
            <a:ext cx="2031325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zh-TW" altLang="en-US"/>
              <a:t>傅立葉變換、頻譜</a:t>
            </a:r>
          </a:p>
        </p:txBody>
      </p:sp>
    </p:spTree>
    <p:extLst>
      <p:ext uri="{BB962C8B-B14F-4D97-AF65-F5344CB8AC3E}">
        <p14:creationId xmlns:p14="http://schemas.microsoft.com/office/powerpoint/2010/main" val="41031532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7B2D4-112F-A11F-ACDD-07A68FC8A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9BB6ECD-4423-8EEF-DB55-5A492A458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39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718787F-4AC7-43AC-D0D7-A1C39D9B5D69}"/>
              </a:ext>
            </a:extLst>
          </p:cNvPr>
          <p:cNvSpPr txBox="1"/>
          <p:nvPr/>
        </p:nvSpPr>
        <p:spPr>
          <a:xfrm>
            <a:off x="1" y="24148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 sz="4000"/>
              <a:t>公式整理 </a:t>
            </a:r>
            <a:r>
              <a:rPr lang="en-US" altLang="zh-TW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2-D </a:t>
            </a:r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雙線性內插法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3B94F976-7D69-2504-B8BE-E69CC0DCAA97}"/>
                  </a:ext>
                </a:extLst>
              </p:cNvPr>
              <p:cNvSpPr txBox="1"/>
              <p:nvPr/>
            </p:nvSpPr>
            <p:spPr>
              <a:xfrm>
                <a:off x="976937" y="1541170"/>
                <a:ext cx="3863494" cy="9612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TW" altLang="en-US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原始圖像尺寸</a:t>
                </a:r>
                <a:r>
                  <a:rPr lang="en-US" altLang="zh-TW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:</a:t>
                </a:r>
                <a:r>
                  <a:rPr lang="zh-TW" altLang="en-US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寬度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zh-TW" altLang="en-US" sz="20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, </a:t>
                </a:r>
                <a:r>
                  <a:rPr lang="zh-TW" altLang="en-US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高度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zh-TW" altLang="en-US" sz="2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TW" sz="200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TW" altLang="en-US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目標圖像尺寸</a:t>
                </a:r>
                <a:r>
                  <a:rPr lang="en-US" altLang="zh-TW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:</a:t>
                </a:r>
                <a:r>
                  <a:rPr lang="zh-TW" altLang="en-US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寬度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zh-TW" altLang="en-US" sz="20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, </a:t>
                </a:r>
                <a:r>
                  <a:rPr lang="zh-TW" altLang="en-US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高度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zh-TW" altLang="en-US" sz="20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zh-TW" altLang="en-US" sz="200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3B94F976-7D69-2504-B8BE-E69CC0DCAA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937" y="1541170"/>
                <a:ext cx="3863494" cy="961289"/>
              </a:xfrm>
              <a:prstGeom prst="rect">
                <a:avLst/>
              </a:prstGeom>
              <a:blipFill>
                <a:blip r:embed="rId2"/>
                <a:stretch>
                  <a:fillRect l="-1420" b="-101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B3739A45-7C76-BF38-3AF0-0D4288FFBABB}"/>
                  </a:ext>
                </a:extLst>
              </p:cNvPr>
              <p:cNvSpPr txBox="1"/>
              <p:nvPr/>
            </p:nvSpPr>
            <p:spPr>
              <a:xfrm>
                <a:off x="1379569" y="2712187"/>
                <a:ext cx="1388264" cy="6285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zh-TW" altLang="en-US" sz="20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zh-TW" altLang="en-US" sz="20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zh-TW" altLang="en-US" sz="20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B3739A45-7C76-BF38-3AF0-0D4288FFBA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9569" y="2712187"/>
                <a:ext cx="1388264" cy="6285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8B8BD987-9E33-3AB1-45C9-5C1CF06228BE}"/>
                  </a:ext>
                </a:extLst>
              </p:cNvPr>
              <p:cNvSpPr txBox="1"/>
              <p:nvPr/>
            </p:nvSpPr>
            <p:spPr>
              <a:xfrm>
                <a:off x="3296639" y="2715366"/>
                <a:ext cx="1357871" cy="6346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zh-TW" altLang="en-US" sz="20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zh-TW" altLang="en-US" sz="20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zh-TW" altLang="en-US" sz="20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8B8BD987-9E33-3AB1-45C9-5C1CF06228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6639" y="2715366"/>
                <a:ext cx="1357871" cy="63466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EB7C0409-F22E-9C59-DBE6-CEF2C4EBF6E2}"/>
                  </a:ext>
                </a:extLst>
              </p:cNvPr>
              <p:cNvSpPr txBox="1"/>
              <p:nvPr/>
            </p:nvSpPr>
            <p:spPr>
              <a:xfrm>
                <a:off x="751716" y="4257705"/>
                <a:ext cx="4796140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28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要算目標圖</a:t>
                </a:r>
                <a:r>
                  <a:rPr lang="en-US" altLang="zh-TW" sz="28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F(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800" i="1" dirty="0" err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TW" sz="2800" i="1" dirty="0" err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TW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TW" sz="2800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TW" sz="28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</a:t>
                </a:r>
                <a:r>
                  <a:rPr lang="en-US" altLang="zh-TW" sz="2800" err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的值</a:t>
                </a:r>
                <a:endParaRPr lang="en-US" altLang="zh-TW" sz="280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r>
                  <a:rPr lang="zh-TW" altLang="en-US" sz="28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先算映射到原圖的</a:t>
                </a:r>
                <a:r>
                  <a:rPr lang="en-US" altLang="zh-TW" sz="28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f(</a:t>
                </a:r>
                <a:r>
                  <a:rPr lang="en-US" altLang="zh-TW" sz="2800" i="1" err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x,y</a:t>
                </a:r>
                <a:r>
                  <a:rPr lang="en-US" altLang="zh-TW" sz="28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EB7C0409-F22E-9C59-DBE6-CEF2C4EBF6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716" y="4257705"/>
                <a:ext cx="4796140" cy="954107"/>
              </a:xfrm>
              <a:prstGeom prst="rect">
                <a:avLst/>
              </a:prstGeom>
              <a:blipFill>
                <a:blip r:embed="rId5"/>
                <a:stretch>
                  <a:fillRect l="-2541" t="-6369" b="-16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292E3708-0465-A340-260D-DB15106C1FD2}"/>
                  </a:ext>
                </a:extLst>
              </p:cNvPr>
              <p:cNvSpPr txBox="1"/>
              <p:nvPr/>
            </p:nvSpPr>
            <p:spPr>
              <a:xfrm>
                <a:off x="719678" y="5203263"/>
                <a:ext cx="2189006" cy="9880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altLang="zh-TW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800" i="1" dirty="0" err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TW" sz="2800" i="1" dirty="0" err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TW" sz="28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2800" dirty="0"/>
                            <m:t>×</m:t>
                          </m:r>
                          <m:r>
                            <a:rPr lang="en-US" altLang="zh-TW" sz="28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zh-TW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TW" sz="280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altLang="zh-TW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8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zh-TW" sz="2800" i="1" dirty="0" err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TW" sz="28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2800" dirty="0"/>
                            <m:t>×</m:t>
                          </m:r>
                          <m:r>
                            <a:rPr lang="en-US" altLang="zh-TW" sz="28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zh-TW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800"/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292E3708-0465-A340-260D-DB15106C1F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678" y="5203263"/>
                <a:ext cx="2189006" cy="9880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11DEB7DF-A5E7-8B57-8A4C-529FF795CA9D}"/>
                  </a:ext>
                </a:extLst>
              </p:cNvPr>
              <p:cNvSpPr txBox="1"/>
              <p:nvPr/>
            </p:nvSpPr>
            <p:spPr>
              <a:xfrm>
                <a:off x="6598773" y="1662255"/>
                <a:ext cx="1533526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TW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4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​ =⌊x⌋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TW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4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​ =⌊y⌋</a:t>
                </a:r>
                <a:endParaRPr lang="zh-TW" altLang="en-US" sz="240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11DEB7DF-A5E7-8B57-8A4C-529FF795CA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8773" y="1662255"/>
                <a:ext cx="1533526" cy="830997"/>
              </a:xfrm>
              <a:prstGeom prst="rect">
                <a:avLst/>
              </a:prstGeom>
              <a:blipFill>
                <a:blip r:embed="rId7"/>
                <a:stretch>
                  <a:fillRect l="-1190" t="-6618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19B1A70C-55CF-A509-607E-09B5FDA1C268}"/>
                  </a:ext>
                </a:extLst>
              </p:cNvPr>
              <p:cNvSpPr txBox="1"/>
              <p:nvPr/>
            </p:nvSpPr>
            <p:spPr>
              <a:xfrm>
                <a:off x="8006747" y="1662255"/>
                <a:ext cx="1533525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TW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4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​ =⌊x⌋+1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TW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4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​ =⌊y⌋+1</a:t>
                </a:r>
                <a:endParaRPr lang="zh-TW" altLang="en-US" sz="240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19B1A70C-55CF-A509-607E-09B5FDA1C2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6747" y="1662255"/>
                <a:ext cx="1533525" cy="830997"/>
              </a:xfrm>
              <a:prstGeom prst="rect">
                <a:avLst/>
              </a:prstGeom>
              <a:blipFill>
                <a:blip r:embed="rId8"/>
                <a:stretch>
                  <a:fillRect l="-1190" t="-6618" r="-3175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0820C2D4-B33E-C6DA-84C6-83690420FF3D}"/>
              </a:ext>
            </a:extLst>
          </p:cNvPr>
          <p:cNvCxnSpPr>
            <a:cxnSpLocks/>
          </p:cNvCxnSpPr>
          <p:nvPr/>
        </p:nvCxnSpPr>
        <p:spPr>
          <a:xfrm>
            <a:off x="7123691" y="2538858"/>
            <a:ext cx="0" cy="3042077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BCCBC856-8593-27A0-4BE1-41D953BB9AA2}"/>
              </a:ext>
            </a:extLst>
          </p:cNvPr>
          <p:cNvCxnSpPr>
            <a:cxnSpLocks/>
          </p:cNvCxnSpPr>
          <p:nvPr/>
        </p:nvCxnSpPr>
        <p:spPr>
          <a:xfrm>
            <a:off x="10647941" y="2538858"/>
            <a:ext cx="0" cy="3042077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56FEFC21-DD98-6963-0876-CFCED5F5839D}"/>
              </a:ext>
            </a:extLst>
          </p:cNvPr>
          <p:cNvCxnSpPr>
            <a:cxnSpLocks/>
          </p:cNvCxnSpPr>
          <p:nvPr/>
        </p:nvCxnSpPr>
        <p:spPr>
          <a:xfrm>
            <a:off x="6380741" y="3116933"/>
            <a:ext cx="4667250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A6E318C0-4070-D32E-3A18-5831AE0191F2}"/>
              </a:ext>
            </a:extLst>
          </p:cNvPr>
          <p:cNvCxnSpPr>
            <a:cxnSpLocks/>
          </p:cNvCxnSpPr>
          <p:nvPr/>
        </p:nvCxnSpPr>
        <p:spPr>
          <a:xfrm>
            <a:off x="6380741" y="5136831"/>
            <a:ext cx="5172075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C2E0EF9E-6FAE-5689-FD5E-A1D532993F77}"/>
                  </a:ext>
                </a:extLst>
              </p:cNvPr>
              <p:cNvSpPr txBox="1"/>
              <p:nvPr/>
            </p:nvSpPr>
            <p:spPr>
              <a:xfrm>
                <a:off x="6549303" y="2912131"/>
                <a:ext cx="1494768" cy="40011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TW" sz="2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000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TW" sz="2000"/>
                  <a:t>f(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TW" alt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000"/>
                  <a:t>,</a:t>
                </a:r>
                <a:r>
                  <a:rPr lang="zh-TW" altLang="en-US" sz="200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2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TW" altLang="en-U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000"/>
                  <a:t>)</a:t>
                </a:r>
                <a:endParaRPr lang="zh-TW" altLang="en-US" sz="2000"/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C2E0EF9E-6FAE-5689-FD5E-A1D532993F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9303" y="2912131"/>
                <a:ext cx="1494768" cy="400110"/>
              </a:xfrm>
              <a:prstGeom prst="rect">
                <a:avLst/>
              </a:prstGeom>
              <a:blipFill>
                <a:blip r:embed="rId9"/>
                <a:stretch>
                  <a:fillRect l="-806" t="-7463" r="-4435" b="-2537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B6B7ABAD-4572-247B-4745-86B12240EF7A}"/>
                  </a:ext>
                </a:extLst>
              </p:cNvPr>
              <p:cNvSpPr txBox="1"/>
              <p:nvPr/>
            </p:nvSpPr>
            <p:spPr>
              <a:xfrm>
                <a:off x="10061813" y="2897712"/>
                <a:ext cx="1562800" cy="40011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TW" sz="20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00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000"/>
                  <a:t>f(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TW" alt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000"/>
                  <a:t>,</a:t>
                </a:r>
                <a:r>
                  <a:rPr lang="zh-TW" altLang="en-US" sz="200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2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TW" altLang="en-U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000"/>
                  <a:t>)</a:t>
                </a:r>
                <a:endParaRPr lang="zh-TW" altLang="en-US" sz="2000"/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B6B7ABAD-4572-247B-4745-86B12240EF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1813" y="2897712"/>
                <a:ext cx="1562800" cy="400110"/>
              </a:xfrm>
              <a:prstGeom prst="rect">
                <a:avLst/>
              </a:prstGeom>
              <a:blipFill>
                <a:blip r:embed="rId10"/>
                <a:stretch>
                  <a:fillRect l="-775" t="-5882" r="-4264" b="-2352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F292602E-9225-DD9C-E5DA-1CECE90F4E16}"/>
                  </a:ext>
                </a:extLst>
              </p:cNvPr>
              <p:cNvSpPr txBox="1"/>
              <p:nvPr/>
            </p:nvSpPr>
            <p:spPr>
              <a:xfrm>
                <a:off x="6549303" y="4936776"/>
                <a:ext cx="1562800" cy="40011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TW" sz="2000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TW" sz="200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000"/>
                  <a:t>f(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TW" alt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000"/>
                  <a:t>,</a:t>
                </a:r>
                <a:r>
                  <a:rPr lang="zh-TW" altLang="en-US" sz="200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20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TW" altLang="en-U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000"/>
                  <a:t>)</a:t>
                </a:r>
                <a:endParaRPr lang="zh-TW" altLang="en-US" sz="2000"/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F292602E-9225-DD9C-E5DA-1CECE90F4E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9303" y="4936776"/>
                <a:ext cx="1562800" cy="400110"/>
              </a:xfrm>
              <a:prstGeom prst="rect">
                <a:avLst/>
              </a:prstGeom>
              <a:blipFill>
                <a:blip r:embed="rId11"/>
                <a:stretch>
                  <a:fillRect l="-772" t="-7463" r="-4247" b="-2537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EA82A747-9160-2FF5-9A1F-FED0EB2902D5}"/>
                  </a:ext>
                </a:extLst>
              </p:cNvPr>
              <p:cNvSpPr txBox="1"/>
              <p:nvPr/>
            </p:nvSpPr>
            <p:spPr>
              <a:xfrm>
                <a:off x="10055851" y="4933701"/>
                <a:ext cx="1568763" cy="40011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TW" sz="2000" b="0" i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TW" sz="200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000"/>
                  <a:t>f(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TW" alt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000"/>
                  <a:t>,</a:t>
                </a:r>
                <a:r>
                  <a:rPr lang="zh-TW" altLang="en-US" sz="200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20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TW" altLang="en-U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000"/>
                  <a:t>)</a:t>
                </a:r>
                <a:endParaRPr lang="zh-TW" altLang="en-US" sz="2000"/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EA82A747-9160-2FF5-9A1F-FED0EB2902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5851" y="4933701"/>
                <a:ext cx="1568763" cy="400110"/>
              </a:xfrm>
              <a:prstGeom prst="rect">
                <a:avLst/>
              </a:prstGeom>
              <a:blipFill>
                <a:blip r:embed="rId12"/>
                <a:stretch>
                  <a:fillRect l="-772" t="-5882" r="-4247" b="-2352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36A43DFA-7D29-5B0B-0A1F-A5D1E6C546D8}"/>
                  </a:ext>
                </a:extLst>
              </p:cNvPr>
              <p:cNvSpPr txBox="1"/>
              <p:nvPr/>
            </p:nvSpPr>
            <p:spPr>
              <a:xfrm>
                <a:off x="7709820" y="3810410"/>
                <a:ext cx="1367147" cy="519351"/>
              </a:xfrm>
              <a:prstGeom prst="ellipse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altLang="zh-TW" sz="18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F(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1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1800" i="1" dirty="0" err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TW" sz="1800" i="1" dirty="0" err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sz="1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TW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TW" sz="1800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TW" sz="18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</a:t>
                </a:r>
                <a:endParaRPr lang="zh-TW" altLang="en-US"/>
              </a:p>
            </p:txBody>
          </p:sp>
        </mc:Choice>
        <mc:Fallback xmlns="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36A43DFA-7D29-5B0B-0A1F-A5D1E6C546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9820" y="3810410"/>
                <a:ext cx="1367147" cy="519351"/>
              </a:xfrm>
              <a:prstGeom prst="ellipse">
                <a:avLst/>
              </a:prstGeom>
              <a:blipFill>
                <a:blip r:embed="rId13"/>
                <a:stretch>
                  <a:fillRect b="-47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2" name="群組 41">
            <a:extLst>
              <a:ext uri="{FF2B5EF4-FFF2-40B4-BE49-F238E27FC236}">
                <a16:creationId xmlns:a16="http://schemas.microsoft.com/office/drawing/2014/main" id="{6E97A061-4E8E-FF58-F48F-FCCF096B4586}"/>
              </a:ext>
            </a:extLst>
          </p:cNvPr>
          <p:cNvGrpSpPr/>
          <p:nvPr/>
        </p:nvGrpSpPr>
        <p:grpSpPr>
          <a:xfrm>
            <a:off x="7123690" y="2626455"/>
            <a:ext cx="1269703" cy="247353"/>
            <a:chOff x="5866646" y="1457608"/>
            <a:chExt cx="977775" cy="380245"/>
          </a:xfrm>
          <a:effectLst/>
        </p:grpSpPr>
        <p:cxnSp>
          <p:nvCxnSpPr>
            <p:cNvPr id="43" name="直線接點 42">
              <a:extLst>
                <a:ext uri="{FF2B5EF4-FFF2-40B4-BE49-F238E27FC236}">
                  <a16:creationId xmlns:a16="http://schemas.microsoft.com/office/drawing/2014/main" id="{8654C173-A86F-A53D-3994-B73A5074044B}"/>
                </a:ext>
              </a:extLst>
            </p:cNvPr>
            <p:cNvCxnSpPr/>
            <p:nvPr/>
          </p:nvCxnSpPr>
          <p:spPr>
            <a:xfrm>
              <a:off x="5866646" y="1457608"/>
              <a:ext cx="0" cy="38024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線接點 43">
              <a:extLst>
                <a:ext uri="{FF2B5EF4-FFF2-40B4-BE49-F238E27FC236}">
                  <a16:creationId xmlns:a16="http://schemas.microsoft.com/office/drawing/2014/main" id="{4433D755-1696-8C8A-820F-B600742AD478}"/>
                </a:ext>
              </a:extLst>
            </p:cNvPr>
            <p:cNvCxnSpPr/>
            <p:nvPr/>
          </p:nvCxnSpPr>
          <p:spPr>
            <a:xfrm>
              <a:off x="6844421" y="1457608"/>
              <a:ext cx="0" cy="38024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線接點 44">
              <a:extLst>
                <a:ext uri="{FF2B5EF4-FFF2-40B4-BE49-F238E27FC236}">
                  <a16:creationId xmlns:a16="http://schemas.microsoft.com/office/drawing/2014/main" id="{4B84F253-C306-B0E5-7B08-DE0608C0FF52}"/>
                </a:ext>
              </a:extLst>
            </p:cNvPr>
            <p:cNvCxnSpPr/>
            <p:nvPr/>
          </p:nvCxnSpPr>
          <p:spPr>
            <a:xfrm>
              <a:off x="5866646" y="1629624"/>
              <a:ext cx="977775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E4990F0A-FAD6-6D88-923B-3BDDC5E01632}"/>
              </a:ext>
            </a:extLst>
          </p:cNvPr>
          <p:cNvSpPr txBox="1"/>
          <p:nvPr/>
        </p:nvSpPr>
        <p:spPr>
          <a:xfrm>
            <a:off x="7565252" y="2426400"/>
            <a:ext cx="328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>
                <a:solidFill>
                  <a:srgbClr val="FF0000"/>
                </a:solidFill>
              </a:rPr>
              <a:t>b</a:t>
            </a:r>
            <a:endParaRPr lang="zh-TW" altLang="en-US" sz="2000">
              <a:solidFill>
                <a:srgbClr val="FF0000"/>
              </a:solidFill>
            </a:endParaRPr>
          </a:p>
        </p:txBody>
      </p:sp>
      <p:grpSp>
        <p:nvGrpSpPr>
          <p:cNvPr id="47" name="群組 46">
            <a:extLst>
              <a:ext uri="{FF2B5EF4-FFF2-40B4-BE49-F238E27FC236}">
                <a16:creationId xmlns:a16="http://schemas.microsoft.com/office/drawing/2014/main" id="{F853BE16-C959-C38E-93E7-B025326E589F}"/>
              </a:ext>
            </a:extLst>
          </p:cNvPr>
          <p:cNvGrpSpPr/>
          <p:nvPr/>
        </p:nvGrpSpPr>
        <p:grpSpPr>
          <a:xfrm rot="5400000">
            <a:off x="5969794" y="3439196"/>
            <a:ext cx="972308" cy="323655"/>
            <a:chOff x="5866646" y="1457608"/>
            <a:chExt cx="977775" cy="380245"/>
          </a:xfrm>
        </p:grpSpPr>
        <p:cxnSp>
          <p:nvCxnSpPr>
            <p:cNvPr id="48" name="直線接點 47">
              <a:extLst>
                <a:ext uri="{FF2B5EF4-FFF2-40B4-BE49-F238E27FC236}">
                  <a16:creationId xmlns:a16="http://schemas.microsoft.com/office/drawing/2014/main" id="{A3AD8605-8FC9-DA38-18D8-D82F85EBA6CC}"/>
                </a:ext>
              </a:extLst>
            </p:cNvPr>
            <p:cNvCxnSpPr/>
            <p:nvPr/>
          </p:nvCxnSpPr>
          <p:spPr>
            <a:xfrm>
              <a:off x="5866646" y="1457608"/>
              <a:ext cx="0" cy="38024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接點 48">
              <a:extLst>
                <a:ext uri="{FF2B5EF4-FFF2-40B4-BE49-F238E27FC236}">
                  <a16:creationId xmlns:a16="http://schemas.microsoft.com/office/drawing/2014/main" id="{B2CBB263-1009-38B1-8887-AF1E73643315}"/>
                </a:ext>
              </a:extLst>
            </p:cNvPr>
            <p:cNvCxnSpPr/>
            <p:nvPr/>
          </p:nvCxnSpPr>
          <p:spPr>
            <a:xfrm>
              <a:off x="6844421" y="1457608"/>
              <a:ext cx="0" cy="38024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線接點 49">
              <a:extLst>
                <a:ext uri="{FF2B5EF4-FFF2-40B4-BE49-F238E27FC236}">
                  <a16:creationId xmlns:a16="http://schemas.microsoft.com/office/drawing/2014/main" id="{BC696019-8A45-73F6-752C-1FAAD7E3BCD0}"/>
                </a:ext>
              </a:extLst>
            </p:cNvPr>
            <p:cNvCxnSpPr/>
            <p:nvPr/>
          </p:nvCxnSpPr>
          <p:spPr>
            <a:xfrm>
              <a:off x="5866646" y="1629624"/>
              <a:ext cx="977775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2" name="直線接點 51">
            <a:extLst>
              <a:ext uri="{FF2B5EF4-FFF2-40B4-BE49-F238E27FC236}">
                <a16:creationId xmlns:a16="http://schemas.microsoft.com/office/drawing/2014/main" id="{1E8678C9-C936-3023-3806-3361501D9A3B}"/>
              </a:ext>
            </a:extLst>
          </p:cNvPr>
          <p:cNvCxnSpPr>
            <a:endCxn id="41" idx="2"/>
          </p:cNvCxnSpPr>
          <p:nvPr/>
        </p:nvCxnSpPr>
        <p:spPr>
          <a:xfrm>
            <a:off x="7108130" y="4070085"/>
            <a:ext cx="601690" cy="1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>
            <a:extLst>
              <a:ext uri="{FF2B5EF4-FFF2-40B4-BE49-F238E27FC236}">
                <a16:creationId xmlns:a16="http://schemas.microsoft.com/office/drawing/2014/main" id="{120FE8BA-EB38-88D8-96DB-09B52FF39631}"/>
              </a:ext>
            </a:extLst>
          </p:cNvPr>
          <p:cNvCxnSpPr>
            <a:cxnSpLocks/>
            <a:stCxn id="41" idx="0"/>
          </p:cNvCxnSpPr>
          <p:nvPr/>
        </p:nvCxnSpPr>
        <p:spPr>
          <a:xfrm flipV="1">
            <a:off x="8393394" y="3111129"/>
            <a:ext cx="0" cy="699281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18F1BEA1-F86A-6F6E-6E48-3F51D82DF91B}"/>
              </a:ext>
            </a:extLst>
          </p:cNvPr>
          <p:cNvSpPr txBox="1"/>
          <p:nvPr/>
        </p:nvSpPr>
        <p:spPr>
          <a:xfrm>
            <a:off x="6112170" y="3451368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>
                <a:solidFill>
                  <a:srgbClr val="FF0000"/>
                </a:solidFill>
              </a:rPr>
              <a:t>a</a:t>
            </a:r>
            <a:endParaRPr lang="zh-TW" altLang="en-US" sz="200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76EE6A79-CC8A-F81D-AB5E-CF609F6D64A5}"/>
                  </a:ext>
                </a:extLst>
              </p:cNvPr>
              <p:cNvSpPr txBox="1"/>
              <p:nvPr/>
            </p:nvSpPr>
            <p:spPr>
              <a:xfrm>
                <a:off x="3987682" y="5826530"/>
                <a:ext cx="7971602" cy="46166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altLang="zh-TW" sz="24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F(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 dirty="0" err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TW" sz="2400" i="1" dirty="0" err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TW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TW" sz="2400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TW" sz="24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</a:t>
                </a:r>
                <a:r>
                  <a:rPr lang="zh-TW" altLang="en-US" sz="2400"/>
                  <a:t> </a:t>
                </a:r>
                <a:r>
                  <a:rPr lang="en-US" altLang="zh-TW" sz="2400"/>
                  <a:t>=</a:t>
                </a:r>
                <a:r>
                  <a:rPr lang="zh-TW" altLang="en-US" sz="2400"/>
                  <a:t> </a:t>
                </a:r>
                <a:r>
                  <a:rPr lang="en-US" altLang="zh-TW" sz="2400"/>
                  <a:t>(</a:t>
                </a:r>
                <a:r>
                  <a:rPr lang="en-US" altLang="zh-TW" sz="2400">
                    <a:solidFill>
                      <a:srgbClr val="FF0000"/>
                    </a:solidFill>
                  </a:rPr>
                  <a:t>1−b</a:t>
                </a:r>
                <a:r>
                  <a:rPr lang="en-US" altLang="zh-TW" sz="2400"/>
                  <a:t>)×[(</a:t>
                </a:r>
                <a:r>
                  <a:rPr lang="en-US" altLang="zh-TW" sz="2400">
                    <a:solidFill>
                      <a:srgbClr val="FF0000"/>
                    </a:solidFill>
                  </a:rPr>
                  <a:t>1−a</a:t>
                </a:r>
                <a:r>
                  <a:rPr lang="en-US" altLang="zh-TW" sz="2400"/>
                  <a:t>)×</a:t>
                </a:r>
                <a:r>
                  <a:rPr lang="zh-TW" altLang="en-US" sz="240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TW" sz="24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400"/>
                  <a:t>+ </a:t>
                </a:r>
                <a:r>
                  <a:rPr lang="en-US" altLang="zh-TW" sz="2400">
                    <a:solidFill>
                      <a:srgbClr val="FF0000"/>
                    </a:solidFill>
                  </a:rPr>
                  <a:t>a</a:t>
                </a:r>
                <a:r>
                  <a:rPr lang="en-US" altLang="zh-TW" sz="2400"/>
                  <a:t>×</a:t>
                </a:r>
                <a:r>
                  <a:rPr lang="zh-TW" altLang="en-US" sz="240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TW" sz="2400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TW" sz="2400"/>
                  <a:t>] + </a:t>
                </a:r>
                <a:r>
                  <a:rPr lang="en-US" altLang="zh-TW" sz="2400">
                    <a:solidFill>
                      <a:srgbClr val="FF0000"/>
                    </a:solidFill>
                  </a:rPr>
                  <a:t>b</a:t>
                </a:r>
                <a:r>
                  <a:rPr lang="en-US" altLang="zh-TW" sz="2400"/>
                  <a:t>×[(</a:t>
                </a:r>
                <a:r>
                  <a:rPr lang="en-US" altLang="zh-TW" sz="2400">
                    <a:solidFill>
                      <a:srgbClr val="FF0000"/>
                    </a:solidFill>
                  </a:rPr>
                  <a:t>1−a</a:t>
                </a:r>
                <a:r>
                  <a:rPr lang="en-US" altLang="zh-TW" sz="2400"/>
                  <a:t>)×</a:t>
                </a:r>
                <a:r>
                  <a:rPr lang="zh-TW" altLang="en-US" sz="240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TW" sz="24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400"/>
                  <a:t>+</a:t>
                </a:r>
                <a:r>
                  <a:rPr lang="en-US" altLang="zh-TW" sz="2400">
                    <a:solidFill>
                      <a:srgbClr val="FF0000"/>
                    </a:solidFill>
                  </a:rPr>
                  <a:t> a </a:t>
                </a:r>
                <a:r>
                  <a:rPr lang="en-US" altLang="zh-TW" sz="2400"/>
                  <a:t>×</a:t>
                </a:r>
                <a:r>
                  <a:rPr lang="zh-TW" altLang="en-US" sz="240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TW" sz="2400" b="0" i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400"/>
                  <a:t>]</a:t>
                </a:r>
                <a:endParaRPr lang="zh-TW" altLang="en-US" sz="2400"/>
              </a:p>
            </p:txBody>
          </p:sp>
        </mc:Choice>
        <mc:Fallback xmlns="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76EE6A79-CC8A-F81D-AB5E-CF609F6D64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7682" y="5826530"/>
                <a:ext cx="7971602" cy="461665"/>
              </a:xfrm>
              <a:prstGeom prst="rect">
                <a:avLst/>
              </a:prstGeom>
              <a:blipFill>
                <a:blip r:embed="rId14"/>
                <a:stretch>
                  <a:fillRect l="-1147" t="-10526" b="-107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33318C28-81AD-C59C-A2F5-B9A9A627126F}"/>
                  </a:ext>
                </a:extLst>
              </p:cNvPr>
              <p:cNvSpPr txBox="1"/>
              <p:nvPr/>
            </p:nvSpPr>
            <p:spPr>
              <a:xfrm>
                <a:off x="9768083" y="1662255"/>
                <a:ext cx="1407321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b=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altLang="zh-TW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⌊</m:t>
                    </m:r>
                    <m:r>
                      <m:rPr>
                        <m:nor/>
                      </m:rPr>
                      <a:rPr lang="en-US" altLang="zh-TW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x</m:t>
                    </m:r>
                    <m:r>
                      <m:rPr>
                        <m:nor/>
                      </m:rPr>
                      <a:rPr lang="en-US" altLang="zh-TW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⌋</m:t>
                    </m:r>
                  </m:oMath>
                </a14:m>
                <a:endParaRPr lang="en-US" altLang="zh-TW" sz="2400">
                  <a:solidFill>
                    <a:srgbClr val="FF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r>
                  <a:rPr lang="en-US" altLang="zh-TW" sz="24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a=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TW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altLang="zh-TW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⌊</m:t>
                    </m:r>
                    <m:r>
                      <m:rPr>
                        <m:nor/>
                      </m:rPr>
                      <a:rPr lang="en-US" altLang="zh-TW" sz="2400" b="0" i="0" dirty="0" smtClean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y</m:t>
                    </m:r>
                    <m:r>
                      <m:rPr>
                        <m:nor/>
                      </m:rPr>
                      <a:rPr lang="en-US" altLang="zh-TW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⌋</m:t>
                    </m:r>
                  </m:oMath>
                </a14:m>
                <a:endParaRPr lang="zh-TW" altLang="en-US" sz="2400">
                  <a:solidFill>
                    <a:srgbClr val="FF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33318C28-81AD-C59C-A2F5-B9A9A62712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8083" y="1662255"/>
                <a:ext cx="1407321" cy="830997"/>
              </a:xfrm>
              <a:prstGeom prst="rect">
                <a:avLst/>
              </a:prstGeom>
              <a:blipFill>
                <a:blip r:embed="rId15"/>
                <a:stretch>
                  <a:fillRect l="-6494" t="-5882" r="-3463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文字方塊 65">
            <a:extLst>
              <a:ext uri="{FF2B5EF4-FFF2-40B4-BE49-F238E27FC236}">
                <a16:creationId xmlns:a16="http://schemas.microsoft.com/office/drawing/2014/main" id="{D4C49555-A92F-B0B8-2ECB-C976D22B44BC}"/>
              </a:ext>
            </a:extLst>
          </p:cNvPr>
          <p:cNvSpPr txBox="1"/>
          <p:nvPr/>
        </p:nvSpPr>
        <p:spPr>
          <a:xfrm>
            <a:off x="454347" y="1133290"/>
            <a:ext cx="3764172" cy="40011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2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Step1:</a:t>
            </a:r>
            <a:r>
              <a:rPr lang="zh-TW" altLang="en-US" sz="2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縮放比例（</a:t>
            </a:r>
            <a:r>
              <a:rPr lang="en-US" altLang="zh-TW" sz="2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Scaling Ratio</a:t>
            </a:r>
            <a:r>
              <a:rPr lang="zh-TW" altLang="en-US" sz="2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55B74B54-4F15-0025-362C-79D85867D907}"/>
              </a:ext>
            </a:extLst>
          </p:cNvPr>
          <p:cNvSpPr txBox="1"/>
          <p:nvPr/>
        </p:nvSpPr>
        <p:spPr>
          <a:xfrm>
            <a:off x="454347" y="3806580"/>
            <a:ext cx="2121093" cy="40011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2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Step2:</a:t>
            </a:r>
            <a:r>
              <a:rPr lang="zh-TW" altLang="en-US" sz="2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映射到原圖</a:t>
            </a:r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B2FAE938-A882-F599-F188-B3F2AB346D91}"/>
              </a:ext>
            </a:extLst>
          </p:cNvPr>
          <p:cNvSpPr txBox="1"/>
          <p:nvPr/>
        </p:nvSpPr>
        <p:spPr>
          <a:xfrm>
            <a:off x="6248405" y="1135027"/>
            <a:ext cx="2377574" cy="40011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2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Step3:</a:t>
            </a:r>
            <a:r>
              <a:rPr lang="zh-TW" altLang="en-US" sz="2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計算目標圖值</a:t>
            </a:r>
          </a:p>
        </p:txBody>
      </p:sp>
      <p:cxnSp>
        <p:nvCxnSpPr>
          <p:cNvPr id="70" name="直線接點 69">
            <a:extLst>
              <a:ext uri="{FF2B5EF4-FFF2-40B4-BE49-F238E27FC236}">
                <a16:creationId xmlns:a16="http://schemas.microsoft.com/office/drawing/2014/main" id="{77D65380-3E0F-D668-5551-9FAFFB6A29B5}"/>
              </a:ext>
            </a:extLst>
          </p:cNvPr>
          <p:cNvCxnSpPr/>
          <p:nvPr/>
        </p:nvCxnSpPr>
        <p:spPr>
          <a:xfrm>
            <a:off x="5466375" y="1133290"/>
            <a:ext cx="0" cy="4564018"/>
          </a:xfrm>
          <a:prstGeom prst="line">
            <a:avLst/>
          </a:prstGeom>
          <a:ln>
            <a:solidFill>
              <a:srgbClr val="0000FF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直線接點 70">
            <a:extLst>
              <a:ext uri="{FF2B5EF4-FFF2-40B4-BE49-F238E27FC236}">
                <a16:creationId xmlns:a16="http://schemas.microsoft.com/office/drawing/2014/main" id="{8556D698-F065-356A-8D20-B5C9046AAF0E}"/>
              </a:ext>
            </a:extLst>
          </p:cNvPr>
          <p:cNvCxnSpPr>
            <a:cxnSpLocks/>
          </p:cNvCxnSpPr>
          <p:nvPr/>
        </p:nvCxnSpPr>
        <p:spPr>
          <a:xfrm>
            <a:off x="271604" y="3651423"/>
            <a:ext cx="5194771" cy="0"/>
          </a:xfrm>
          <a:prstGeom prst="line">
            <a:avLst/>
          </a:prstGeom>
          <a:ln>
            <a:solidFill>
              <a:srgbClr val="0000FF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7169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自訂 1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</TotalTime>
  <Words>3703</Words>
  <Application>Microsoft Office PowerPoint</Application>
  <PresentationFormat>寬螢幕</PresentationFormat>
  <Paragraphs>939</Paragraphs>
  <Slides>39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39</vt:i4>
      </vt:variant>
    </vt:vector>
  </HeadingPairs>
  <TitlesOfParts>
    <vt:vector size="46" baseType="lpstr">
      <vt:lpstr>標楷體</vt:lpstr>
      <vt:lpstr>Aptos</vt:lpstr>
      <vt:lpstr>Arial</vt:lpstr>
      <vt:lpstr>Cambria Math</vt:lpstr>
      <vt:lpstr>Times New Roman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蕭兆翔</dc:creator>
  <cp:lastModifiedBy>蕭兆翔</cp:lastModifiedBy>
  <cp:revision>1</cp:revision>
  <cp:lastPrinted>2024-11-11T15:27:01Z</cp:lastPrinted>
  <dcterms:created xsi:type="dcterms:W3CDTF">2024-09-17T11:26:55Z</dcterms:created>
  <dcterms:modified xsi:type="dcterms:W3CDTF">2025-11-25T05:33:19Z</dcterms:modified>
</cp:coreProperties>
</file>